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2433"/>
                </a:solidFill>
                <a:latin typeface="Calibri"/>
              </a:defRPr>
            </a:pPr>
            <a:r>
              <a:rPr sz="1100" b="0" i="0" u="none" strike="noStrike">
                <a:solidFill>
                  <a:srgbClr val="1B2433"/>
                </a:solidFill>
                <a:latin typeface="Calibri"/>
              </a:rPr>
              <a:t>Recall (%) as the strongest signals are hidden</a:t>
            </a:r>
          </a:p>
        </c:rich>
      </c:tx>
      <c:layout/>
      <c:overlay val="0"/>
    </c:title>
    <c:autoTitleDeleted val="0"/>
    <c:plotArea>
      <c:layout/>
      <c:lineChart>
        <c:varyColors val="0"/>
        <c:ser>
          <c:idx val="0"/>
          <c:order val="0"/>
          <c:tx>
            <c:strRef>
              <c:f>Sheet1!$B$1</c:f>
              <c:strCache>
                <c:ptCount val="1"/>
                <c:pt idx="0">
                  <c:v>Recall</c:v>
                </c:pt>
              </c:strCache>
            </c:strRef>
          </c:tx>
          <c:spPr>
            <a:solidFill>
              <a:srgbClr val="D9480F"/>
            </a:solidFill>
            <a:ln w="25400" cap="flat">
              <a:solidFill>
                <a:srgbClr val="D9480F"/>
              </a:solidFill>
              <a:prstDash val="solid"/>
              <a:round/>
            </a:ln>
            <a:effectLst/>
          </c:spPr>
          <c:invertIfNegative val="0"/>
          <c:dLbls>
            <c:numFmt formatCode="#,##0" sourceLinked="0"/>
            <c:txPr>
              <a:bodyPr/>
              <a:lstStyle/>
              <a:p>
                <a:pPr>
                  <a:defRPr b="0" i="0" strike="noStrike" sz="1000" u="none">
                    <a:solidFill>
                      <a:srgbClr val="1B2433"/>
                    </a:solidFill>
                    <a:latin typeface="Arial"/>
                  </a:defRPr>
                </a:pPr>
              </a:p>
            </c:txPr>
            <c:dLblPos val="t"/>
            <c:showLegendKey val="0"/>
            <c:showVal val="1"/>
            <c:showCatName val="0"/>
            <c:showSerName val="0"/>
            <c:showPercent val="0"/>
            <c:showBubbleSize val="0"/>
            <c:showLeaderLines val="0"/>
          </c:dLbls>
          <c:marker>
            <c:symbol val="circle"/>
            <c:size val="6"/>
            <c:spPr>
              <a:solidFill>
                <a:srgbClr val="D9480F"/>
              </a:solidFill>
              <a:ln w="9525" cap="flat">
                <a:solidFill>
                  <a:srgbClr val="D9480F"/>
                </a:solidFill>
                <a:prstDash val="solid"/>
                <a:round/>
              </a:ln>
              <a:effectLst/>
            </c:spPr>
          </c:marker>
          <c:cat>
            <c:multiLvlStrRef>
              <c:f>Sheet1!$A$2:$A$7</c:f>
              <c:multiLvlStrCache>
                <c:ptCount val="6"/>
                <c:lvl>
                  <c:pt idx="0">
                    <c:v>0</c:v>
                  </c:pt>
                  <c:pt idx="1">
                    <c:v>1</c:v>
                  </c:pt>
                  <c:pt idx="2">
                    <c:v>2</c:v>
                  </c:pt>
                  <c:pt idx="3">
                    <c:v>3</c:v>
                  </c:pt>
                  <c:pt idx="4">
                    <c:v>4</c:v>
                  </c:pt>
                  <c:pt idx="5">
                    <c:v>5</c:v>
                  </c:pt>
                </c:lvl>
              </c:multiLvlStrCache>
            </c:multiLvlStrRef>
          </c:cat>
          <c:val>
            <c:numRef>
              <c:f>Sheet1!$B$2:$B$7</c:f>
              <c:numCache>
                <c:formatCode>General</c:formatCode>
                <c:ptCount val="6"/>
                <c:pt idx="0">
                  <c:v>92</c:v>
                </c:pt>
                <c:pt idx="1">
                  <c:v>62</c:v>
                </c:pt>
                <c:pt idx="2">
                  <c:v>44</c:v>
                </c:pt>
                <c:pt idx="3">
                  <c:v>31</c:v>
                </c:pt>
                <c:pt idx="4">
                  <c:v>19</c:v>
                </c:pt>
                <c:pt idx="5">
                  <c:v>9</c:v>
                </c:pt>
              </c:numCache>
            </c:numRef>
          </c:val>
          <c:smooth val="0"/>
        </c:ser>
        <c:dLbls>
          <c:numFmt formatCode="#,##0" sourceLinked="0"/>
          <c:txPr>
            <a:bodyPr/>
            <a:lstStyle/>
            <a:p>
              <a:pPr>
                <a:defRPr b="0" i="0" strike="noStrike" sz="1000" u="none">
                  <a:solidFill>
                    <a:srgbClr val="1B243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E747E"/>
                    </a:solidFill>
                    <a:latin typeface="Arial"/>
                  </a:defRPr>
                </a:pPr>
                <a:r>
                  <a:rPr sz="1000" b="0" i="0" u="none" strike="noStrike">
                    <a:solidFill>
                      <a:srgbClr val="6E747E"/>
                    </a:solidFill>
                    <a:latin typeface="Arial"/>
                  </a:rPr>
                  <a:t>signals hidden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47E"/>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Chakravyuh is a scam-detection engine for UPI payments. The name comes from the layered trap in the Mahabharata, which is how these scams work: the victim is walked through several steps before paying. We look at those steps, not just the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digital-arrest scam, one of the common patterns in India. The victim authorises the payment herself, so the bank sees a valid PIN on her own phone. Rules that only look at the payment either miss it or fire on genuine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Each stage has signals, 20 in total: 9 from the phone, 7 the bank already has, and 4 about the receiving account. We only interrupt when at least two stages are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grows with the evidence. Level 1 is silent. Level 2 warns and asks two questions but never blocks. Level 3 holds the payment for up to 30 minutes and a bank agent reviews it. The rates shown are measured on our synthetic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warning signs appear before the payment. Today a generic rule shows a warning the caller talks her past. With Chakravyuh all four stages are active, so the payment is held and she sees a specific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signal has a weight learned by logistic regression. Weights are summed per stage and capped. The two-stage rule is what stops one odd signal, like a new payee, from interrupting a genuine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92.3% with a 95% interval of [91.7%, 93.0%], at 2.77 interruptions per 1,000. Every model is trained, tuned and tested on the same synthetic data. The standard classifiers catch slightly more scams; the next slide shows what our two-stage rule buys in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obvious question from an ML judge. At the same alert rate, logistic regression catches about 4 points more scams, but half of the genuine payments it interrupts show only one stage of a scam. Our rule never does that. The price is collect-request scams, which we will handle with a targeted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what happens if the fraudster adapts. Hiding the strongest signal hurts, so we report it honestly. Two of these defences are designs we have not tested yet, and they are marked that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the phone signals need access that Google Play restricts, such as the call log and SMS. We removed them and retrained: recall only drops from 92.3 to 91.5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audio, screen content, messages or contacts ever leave the phone. Only nine yes/no values, the amount and a hashed payee ID. Every decision is signed so it can be checked later in a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scoring server, input checks and signed records are built and tested. The phone SDK, payment hold and agent screen are planned. Running cost is small for servers; the main cost is staff reviewing held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finale plan is scoped to what we can show: the five allowed phone signals on one phone, the collect-request warning, and a 100-session end-to-end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to remember: a scam is a sequence, and we wait for the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with every signal and its learned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for security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B"/>
        </a:solidFill>
      </p:bgPr>
    </p:bg>
    <p:spTree>
      <p:nvGrpSpPr>
        <p:cNvPr id="1" name=""/>
        <p:cNvGrpSpPr/>
        <p:nvPr/>
      </p:nvGrpSpPr>
      <p:grpSpPr>
        <a:xfrm>
          <a:off x="0" y="0"/>
          <a:ext cx="0" cy="0"/>
          <a:chOff x="0" y="0"/>
          <a:chExt cx="0" cy="0"/>
        </a:xfrm>
      </p:grpSpPr>
      <p:sp>
        <p:nvSpPr>
          <p:cNvPr id="2" name="Text 0"/>
          <p:cNvSpPr txBox="1"/>
          <p:nvPr/>
        </p:nvSpPr>
        <p:spPr>
          <a:xfrm>
            <a:off x="640080" y="411480"/>
            <a:ext cx="9144000" cy="274320"/>
          </a:xfrm>
          <a:prstGeom prst="rect">
            <a:avLst/>
          </a:prstGeom>
          <a:noFill/>
          <a:ln/>
        </p:spPr>
        <p:txBody>
          <a:bodyPr wrap="square" lIns="0" tIns="0" rIns="0" bIns="0" rtlCol="0" anchor="ctr"/>
          <a:lstStyle/>
          <a:p>
            <a:pPr indent="0" marL="0">
              <a:buNone/>
            </a:pPr>
            <a:r>
              <a:rPr lang="en-US" sz="1200" dirty="0">
                <a:solidFill>
                  <a:srgbClr val="8E97A6"/>
                </a:solidFill>
                <a:latin typeface="Calibri" pitchFamily="34" charset="0"/>
                <a:ea typeface="Calibri" pitchFamily="34" charset="-122"/>
                <a:cs typeface="Calibri" pitchFamily="34" charset="-120"/>
              </a:rPr>
              <a:t>RAKSHAM  ·  Amazon × IIT Delhi  ·  Round 1  ·  Track 2: AI-driven scam pattern recognition</a:t>
            </a:r>
            <a:endParaRPr lang="en-US" sz="1200" dirty="0"/>
          </a:p>
        </p:txBody>
      </p:sp>
      <p:sp>
        <p:nvSpPr>
          <p:cNvPr id="3" name="Text 1"/>
          <p:cNvSpPr txBox="1"/>
          <p:nvPr/>
        </p:nvSpPr>
        <p:spPr>
          <a:xfrm>
            <a:off x="640080" y="1737360"/>
            <a:ext cx="7315200" cy="1097280"/>
          </a:xfrm>
          <a:prstGeom prst="rect">
            <a:avLst/>
          </a:prstGeom>
          <a:noFill/>
          <a:ln/>
        </p:spPr>
        <p:txBody>
          <a:bodyPr wrap="square" lIns="0" tIns="0" rIns="0" bIns="0" rtlCol="0" anchor="ctr"/>
          <a:lstStyle/>
          <a:p>
            <a:pPr indent="0" marL="0">
              <a:buNone/>
            </a:pPr>
            <a:r>
              <a:rPr lang="en-US" sz="6600" b="1" dirty="0">
                <a:solidFill>
                  <a:srgbClr val="ECE8E0"/>
                </a:solidFill>
                <a:latin typeface="Cambria" pitchFamily="34" charset="0"/>
                <a:ea typeface="Cambria" pitchFamily="34" charset="-122"/>
                <a:cs typeface="Cambria" pitchFamily="34" charset="-120"/>
              </a:rPr>
              <a:t>Chakravyuh</a:t>
            </a:r>
            <a:endParaRPr lang="en-US" sz="6600" dirty="0"/>
          </a:p>
        </p:txBody>
      </p:sp>
      <p:sp>
        <p:nvSpPr>
          <p:cNvPr id="4" name="Text 2"/>
          <p:cNvSpPr txBox="1"/>
          <p:nvPr/>
        </p:nvSpPr>
        <p:spPr>
          <a:xfrm>
            <a:off x="640080" y="2880360"/>
            <a:ext cx="7315200" cy="1097280"/>
          </a:xfrm>
          <a:prstGeom prst="rect">
            <a:avLst/>
          </a:prstGeom>
          <a:noFill/>
          <a:ln/>
        </p:spPr>
        <p:txBody>
          <a:bodyPr wrap="square" lIns="0" tIns="0" rIns="0" bIns="0" rtlCol="0" anchor="ctr"/>
          <a:lstStyle/>
          <a:p>
            <a:pPr indent="0" marL="0">
              <a:buNone/>
            </a:pPr>
            <a:r>
              <a:rPr lang="en-US" sz="2800" i="1" dirty="0">
                <a:solidFill>
                  <a:srgbClr val="ECE8E0"/>
                </a:solidFill>
                <a:latin typeface="Cambria" pitchFamily="34" charset="0"/>
                <a:ea typeface="Cambria" pitchFamily="34" charset="-122"/>
                <a:cs typeface="Cambria" pitchFamily="34" charset="-120"/>
              </a:rPr>
              <a:t>Intercept the scam workflow,</a:t>
            </a:r>
            <a:endParaRPr lang="en-US" sz="2800" dirty="0"/>
          </a:p>
          <a:p>
            <a:pPr indent="0" marL="0">
              <a:buNone/>
            </a:pPr>
            <a:r>
              <a:rPr lang="en-US" sz="2800" i="1" dirty="0">
                <a:solidFill>
                  <a:srgbClr val="ECE8E0"/>
                </a:solidFill>
                <a:latin typeface="Cambria" pitchFamily="34" charset="0"/>
                <a:ea typeface="Cambria" pitchFamily="34" charset="-122"/>
                <a:cs typeface="Cambria" pitchFamily="34" charset="-120"/>
              </a:rPr>
              <a:t>not the transaction.</a:t>
            </a:r>
            <a:endParaRPr lang="en-US" sz="2800" dirty="0"/>
          </a:p>
        </p:txBody>
      </p:sp>
      <p:sp>
        <p:nvSpPr>
          <p:cNvPr id="5" name="Text 3"/>
          <p:cNvSpPr txBox="1"/>
          <p:nvPr/>
        </p:nvSpPr>
        <p:spPr>
          <a:xfrm>
            <a:off x="640080" y="4160520"/>
            <a:ext cx="6766560" cy="914400"/>
          </a:xfrm>
          <a:prstGeom prst="rect">
            <a:avLst/>
          </a:prstGeom>
          <a:noFill/>
          <a:ln/>
        </p:spPr>
        <p:txBody>
          <a:bodyPr wrap="square" lIns="0" tIns="0" rIns="0" bIns="0" rtlCol="0" anchor="t"/>
          <a:lstStyle/>
          <a:p>
            <a:pPr indent="0" marL="0">
              <a:spcAft>
                <a:spcPts val="400"/>
              </a:spcAft>
              <a:buNone/>
            </a:pPr>
            <a:r>
              <a:rPr lang="en-US" sz="1500" dirty="0">
                <a:solidFill>
                  <a:srgbClr val="8E97A6"/>
                </a:solidFill>
                <a:latin typeface="Calibri" pitchFamily="34" charset="0"/>
                <a:ea typeface="Calibri" pitchFamily="34" charset="-122"/>
                <a:cs typeface="Calibri" pitchFamily="34" charset="-120"/>
              </a:rPr>
              <a:t>Chakravyuh checks a UPI payment for the steps that usually come before a scam payment. It interrupts only when several of them show up together, tells the customer why, and keeps a signed record for the bank.</a:t>
            </a:r>
            <a:endParaRPr lang="en-US" sz="1500" dirty="0"/>
          </a:p>
        </p:txBody>
      </p:sp>
      <p:sp>
        <p:nvSpPr>
          <p:cNvPr id="6" name="Shape 4"/>
          <p:cNvSpPr/>
          <p:nvPr/>
        </p:nvSpPr>
        <p:spPr>
          <a:xfrm>
            <a:off x="9418320" y="1783080"/>
            <a:ext cx="0" cy="658368"/>
          </a:xfrm>
          <a:prstGeom prst="line">
            <a:avLst/>
          </a:prstGeom>
          <a:noFill/>
          <a:ln w="19050">
            <a:solidFill>
              <a:srgbClr val="8E97A6"/>
            </a:solidFill>
            <a:prstDash val="solid"/>
          </a:ln>
        </p:spPr>
      </p:sp>
      <p:sp>
        <p:nvSpPr>
          <p:cNvPr id="7" name="Shape 5"/>
          <p:cNvSpPr/>
          <p:nvPr/>
        </p:nvSpPr>
        <p:spPr>
          <a:xfrm>
            <a:off x="9326880" y="1691640"/>
            <a:ext cx="182880" cy="182880"/>
          </a:xfrm>
          <a:prstGeom prst="ellipse">
            <a:avLst/>
          </a:prstGeom>
          <a:solidFill>
            <a:srgbClr val="111A2B"/>
          </a:solidFill>
          <a:ln w="19050">
            <a:solidFill>
              <a:srgbClr val="ECE8E0"/>
            </a:solidFill>
            <a:prstDash val="solid"/>
          </a:ln>
        </p:spPr>
      </p:sp>
      <p:sp>
        <p:nvSpPr>
          <p:cNvPr id="8" name="Text 6"/>
          <p:cNvSpPr txBox="1"/>
          <p:nvPr/>
        </p:nvSpPr>
        <p:spPr>
          <a:xfrm>
            <a:off x="9692640" y="1645920"/>
            <a:ext cx="1828800" cy="274320"/>
          </a:xfrm>
          <a:prstGeom prst="rect">
            <a:avLst/>
          </a:prstGeom>
          <a:noFill/>
          <a:ln/>
        </p:spPr>
        <p:txBody>
          <a:bodyPr wrap="square" lIns="0" tIns="0" rIns="0" bIns="0" rtlCol="0" anchor="ctr"/>
          <a:lstStyle/>
          <a:p>
            <a:pPr indent="0" marL="0">
              <a:buNone/>
            </a:pPr>
            <a:r>
              <a:rPr lang="en-US" sz="1400" dirty="0">
                <a:solidFill>
                  <a:srgbClr val="ECE8E0"/>
                </a:solidFill>
                <a:latin typeface="Calibri" pitchFamily="34" charset="0"/>
                <a:ea typeface="Calibri" pitchFamily="34" charset="-122"/>
                <a:cs typeface="Calibri" pitchFamily="34" charset="-120"/>
              </a:rPr>
              <a:t>Contact</a:t>
            </a:r>
            <a:endParaRPr lang="en-US" sz="1400" dirty="0"/>
          </a:p>
        </p:txBody>
      </p:sp>
      <p:sp>
        <p:nvSpPr>
          <p:cNvPr id="9" name="Shape 7"/>
          <p:cNvSpPr/>
          <p:nvPr/>
        </p:nvSpPr>
        <p:spPr>
          <a:xfrm>
            <a:off x="9418320" y="2441448"/>
            <a:ext cx="0" cy="658368"/>
          </a:xfrm>
          <a:prstGeom prst="line">
            <a:avLst/>
          </a:prstGeom>
          <a:noFill/>
          <a:ln w="19050">
            <a:solidFill>
              <a:srgbClr val="8E97A6"/>
            </a:solidFill>
            <a:prstDash val="solid"/>
          </a:ln>
        </p:spPr>
      </p:sp>
      <p:sp>
        <p:nvSpPr>
          <p:cNvPr id="10" name="Shape 8"/>
          <p:cNvSpPr/>
          <p:nvPr/>
        </p:nvSpPr>
        <p:spPr>
          <a:xfrm>
            <a:off x="9326880" y="2350008"/>
            <a:ext cx="182880" cy="182880"/>
          </a:xfrm>
          <a:prstGeom prst="ellipse">
            <a:avLst/>
          </a:prstGeom>
          <a:solidFill>
            <a:srgbClr val="111A2B"/>
          </a:solidFill>
          <a:ln w="19050">
            <a:solidFill>
              <a:srgbClr val="ECE8E0"/>
            </a:solidFill>
            <a:prstDash val="solid"/>
          </a:ln>
        </p:spPr>
      </p:sp>
      <p:sp>
        <p:nvSpPr>
          <p:cNvPr id="11" name="Text 9"/>
          <p:cNvSpPr txBox="1"/>
          <p:nvPr/>
        </p:nvSpPr>
        <p:spPr>
          <a:xfrm>
            <a:off x="9692640" y="2304288"/>
            <a:ext cx="1828800" cy="274320"/>
          </a:xfrm>
          <a:prstGeom prst="rect">
            <a:avLst/>
          </a:prstGeom>
          <a:noFill/>
          <a:ln/>
        </p:spPr>
        <p:txBody>
          <a:bodyPr wrap="square" lIns="0" tIns="0" rIns="0" bIns="0" rtlCol="0" anchor="ctr"/>
          <a:lstStyle/>
          <a:p>
            <a:pPr indent="0" marL="0">
              <a:buNone/>
            </a:pPr>
            <a:r>
              <a:rPr lang="en-US" sz="1400" dirty="0">
                <a:solidFill>
                  <a:srgbClr val="ECE8E0"/>
                </a:solidFill>
                <a:latin typeface="Calibri" pitchFamily="34" charset="0"/>
                <a:ea typeface="Calibri" pitchFamily="34" charset="-122"/>
                <a:cs typeface="Calibri" pitchFamily="34" charset="-120"/>
              </a:rPr>
              <a:t>Control</a:t>
            </a:r>
            <a:endParaRPr lang="en-US" sz="1400" dirty="0"/>
          </a:p>
        </p:txBody>
      </p:sp>
      <p:sp>
        <p:nvSpPr>
          <p:cNvPr id="12" name="Shape 10"/>
          <p:cNvSpPr/>
          <p:nvPr/>
        </p:nvSpPr>
        <p:spPr>
          <a:xfrm>
            <a:off x="9418320" y="3099816"/>
            <a:ext cx="0" cy="658368"/>
          </a:xfrm>
          <a:prstGeom prst="line">
            <a:avLst/>
          </a:prstGeom>
          <a:noFill/>
          <a:ln w="19050">
            <a:solidFill>
              <a:srgbClr val="8E97A6"/>
            </a:solidFill>
            <a:prstDash val="solid"/>
          </a:ln>
        </p:spPr>
      </p:sp>
      <p:sp>
        <p:nvSpPr>
          <p:cNvPr id="13" name="Shape 11"/>
          <p:cNvSpPr/>
          <p:nvPr/>
        </p:nvSpPr>
        <p:spPr>
          <a:xfrm>
            <a:off x="9326880" y="3008376"/>
            <a:ext cx="182880" cy="182880"/>
          </a:xfrm>
          <a:prstGeom prst="ellipse">
            <a:avLst/>
          </a:prstGeom>
          <a:solidFill>
            <a:srgbClr val="111A2B"/>
          </a:solidFill>
          <a:ln w="19050">
            <a:solidFill>
              <a:srgbClr val="ECE8E0"/>
            </a:solidFill>
            <a:prstDash val="solid"/>
          </a:ln>
        </p:spPr>
      </p:sp>
      <p:sp>
        <p:nvSpPr>
          <p:cNvPr id="14" name="Text 12"/>
          <p:cNvSpPr txBox="1"/>
          <p:nvPr/>
        </p:nvSpPr>
        <p:spPr>
          <a:xfrm>
            <a:off x="9692640" y="2962656"/>
            <a:ext cx="1828800" cy="274320"/>
          </a:xfrm>
          <a:prstGeom prst="rect">
            <a:avLst/>
          </a:prstGeom>
          <a:noFill/>
          <a:ln/>
        </p:spPr>
        <p:txBody>
          <a:bodyPr wrap="square" lIns="0" tIns="0" rIns="0" bIns="0" rtlCol="0" anchor="ctr"/>
          <a:lstStyle/>
          <a:p>
            <a:pPr indent="0" marL="0">
              <a:buNone/>
            </a:pPr>
            <a:r>
              <a:rPr lang="en-US" sz="1400" dirty="0">
                <a:solidFill>
                  <a:srgbClr val="ECE8E0"/>
                </a:solidFill>
                <a:latin typeface="Calibri" pitchFamily="34" charset="0"/>
                <a:ea typeface="Calibri" pitchFamily="34" charset="-122"/>
                <a:cs typeface="Calibri" pitchFamily="34" charset="-120"/>
              </a:rPr>
              <a:t>Extraction</a:t>
            </a:r>
            <a:endParaRPr lang="en-US" sz="1400" dirty="0"/>
          </a:p>
        </p:txBody>
      </p:sp>
      <p:sp>
        <p:nvSpPr>
          <p:cNvPr id="15" name="Shape 13"/>
          <p:cNvSpPr/>
          <p:nvPr/>
        </p:nvSpPr>
        <p:spPr>
          <a:xfrm>
            <a:off x="9418320" y="3758184"/>
            <a:ext cx="0" cy="658368"/>
          </a:xfrm>
          <a:prstGeom prst="line">
            <a:avLst/>
          </a:prstGeom>
          <a:noFill/>
          <a:ln w="19050">
            <a:solidFill>
              <a:srgbClr val="D9480F"/>
            </a:solidFill>
            <a:prstDash val="solid"/>
          </a:ln>
        </p:spPr>
      </p:sp>
      <p:sp>
        <p:nvSpPr>
          <p:cNvPr id="16" name="Shape 14"/>
          <p:cNvSpPr/>
          <p:nvPr/>
        </p:nvSpPr>
        <p:spPr>
          <a:xfrm>
            <a:off x="9326880" y="3666744"/>
            <a:ext cx="182880" cy="182880"/>
          </a:xfrm>
          <a:prstGeom prst="ellipse">
            <a:avLst/>
          </a:prstGeom>
          <a:solidFill>
            <a:srgbClr val="111A2B"/>
          </a:solidFill>
          <a:ln w="19050">
            <a:solidFill>
              <a:srgbClr val="ECE8E0"/>
            </a:solidFill>
            <a:prstDash val="solid"/>
          </a:ln>
        </p:spPr>
      </p:sp>
      <p:sp>
        <p:nvSpPr>
          <p:cNvPr id="17" name="Text 15"/>
          <p:cNvSpPr txBox="1"/>
          <p:nvPr/>
        </p:nvSpPr>
        <p:spPr>
          <a:xfrm>
            <a:off x="9692640" y="3621024"/>
            <a:ext cx="1828800" cy="274320"/>
          </a:xfrm>
          <a:prstGeom prst="rect">
            <a:avLst/>
          </a:prstGeom>
          <a:noFill/>
          <a:ln/>
        </p:spPr>
        <p:txBody>
          <a:bodyPr wrap="square" lIns="0" tIns="0" rIns="0" bIns="0" rtlCol="0" anchor="ctr"/>
          <a:lstStyle/>
          <a:p>
            <a:pPr indent="0" marL="0">
              <a:buNone/>
            </a:pPr>
            <a:r>
              <a:rPr lang="en-US" sz="1400" dirty="0">
                <a:solidFill>
                  <a:srgbClr val="ECE8E0"/>
                </a:solidFill>
                <a:latin typeface="Calibri" pitchFamily="34" charset="0"/>
                <a:ea typeface="Calibri" pitchFamily="34" charset="-122"/>
                <a:cs typeface="Calibri" pitchFamily="34" charset="-120"/>
              </a:rPr>
              <a:t>Cash-out</a:t>
            </a:r>
            <a:endParaRPr lang="en-US" sz="1400" dirty="0"/>
          </a:p>
        </p:txBody>
      </p:sp>
      <p:sp>
        <p:nvSpPr>
          <p:cNvPr id="18" name="Shape 16"/>
          <p:cNvSpPr/>
          <p:nvPr/>
        </p:nvSpPr>
        <p:spPr>
          <a:xfrm>
            <a:off x="9326880" y="4325112"/>
            <a:ext cx="182880" cy="182880"/>
          </a:xfrm>
          <a:prstGeom prst="ellipse">
            <a:avLst/>
          </a:prstGeom>
          <a:solidFill>
            <a:srgbClr val="D9480F"/>
          </a:solidFill>
          <a:ln w="19050">
            <a:solidFill>
              <a:srgbClr val="D9480F"/>
            </a:solidFill>
            <a:prstDash val="solid"/>
          </a:ln>
        </p:spPr>
      </p:sp>
      <p:sp>
        <p:nvSpPr>
          <p:cNvPr id="19" name="Text 17"/>
          <p:cNvSpPr txBox="1"/>
          <p:nvPr/>
        </p:nvSpPr>
        <p:spPr>
          <a:xfrm>
            <a:off x="9692640" y="4279392"/>
            <a:ext cx="1828800" cy="274320"/>
          </a:xfrm>
          <a:prstGeom prst="rect">
            <a:avLst/>
          </a:prstGeom>
          <a:noFill/>
          <a:ln/>
        </p:spPr>
        <p:txBody>
          <a:bodyPr wrap="square" lIns="0" tIns="0" rIns="0" bIns="0" rtlCol="0" anchor="ctr"/>
          <a:lstStyle/>
          <a:p>
            <a:pPr indent="0" marL="0">
              <a:buNone/>
            </a:pPr>
            <a:r>
              <a:rPr lang="en-US" sz="1400" dirty="0">
                <a:solidFill>
                  <a:srgbClr val="D9480F"/>
                </a:solidFill>
                <a:latin typeface="Calibri" pitchFamily="34" charset="0"/>
                <a:ea typeface="Calibri" pitchFamily="34" charset="-122"/>
                <a:cs typeface="Calibri" pitchFamily="34" charset="-120"/>
              </a:rPr>
              <a:t>Decision</a:t>
            </a:r>
            <a:endParaRPr lang="en-US" sz="1400" dirty="0"/>
          </a:p>
        </p:txBody>
      </p:sp>
      <p:sp>
        <p:nvSpPr>
          <p:cNvPr id="20" name="Shape 18"/>
          <p:cNvSpPr/>
          <p:nvPr/>
        </p:nvSpPr>
        <p:spPr>
          <a:xfrm>
            <a:off x="640080" y="5806440"/>
            <a:ext cx="10911535" cy="0"/>
          </a:xfrm>
          <a:prstGeom prst="line">
            <a:avLst/>
          </a:prstGeom>
          <a:noFill/>
          <a:ln w="9525">
            <a:solidFill>
              <a:srgbClr val="2C3850"/>
            </a:solidFill>
            <a:prstDash val="solid"/>
          </a:ln>
        </p:spPr>
      </p:sp>
      <p:sp>
        <p:nvSpPr>
          <p:cNvPr id="21" name="Text 19"/>
          <p:cNvSpPr txBox="1"/>
          <p:nvPr/>
        </p:nvSpPr>
        <p:spPr>
          <a:xfrm>
            <a:off x="640080" y="5943600"/>
            <a:ext cx="7772400" cy="320040"/>
          </a:xfrm>
          <a:prstGeom prst="rect">
            <a:avLst/>
          </a:prstGeom>
          <a:noFill/>
          <a:ln/>
        </p:spPr>
        <p:txBody>
          <a:bodyPr wrap="square" lIns="0" tIns="0" rIns="0" bIns="0" rtlCol="0" anchor="ctr"/>
          <a:lstStyle/>
          <a:p>
            <a:pPr indent="0" marL="0">
              <a:buNone/>
            </a:pPr>
            <a:r>
              <a:rPr lang="en-US" sz="1300" b="1" dirty="0">
                <a:solidFill>
                  <a:srgbClr val="ECE8E0"/>
                </a:solidFill>
                <a:latin typeface="Calibri" pitchFamily="34" charset="0"/>
                <a:ea typeface="Calibri" pitchFamily="34" charset="-122"/>
                <a:cs typeface="Calibri" pitchFamily="34" charset="-120"/>
              </a:rPr>
              <a:t>Mathews V Manoj</a:t>
            </a:r>
            <a:pPr indent="0" marL="0">
              <a:buNone/>
            </a:pPr>
            <a:r>
              <a:rPr lang="en-US" sz="1300" dirty="0">
                <a:solidFill>
                  <a:srgbClr val="8E97A6"/>
                </a:solidFill>
                <a:latin typeface="Calibri" pitchFamily="34" charset="0"/>
                <a:ea typeface="Calibri" pitchFamily="34" charset="-122"/>
                <a:cs typeface="Calibri" pitchFamily="34" charset="-120"/>
              </a:rPr>
              <a:t>   B.Tech Electronics &amp; Communication, Muthoot Institute of Technology and Science (KTU)</a:t>
            </a:r>
            <a:endParaRPr lang="en-US" sz="1300" dirty="0"/>
          </a:p>
        </p:txBody>
      </p:sp>
      <p:sp>
        <p:nvSpPr>
          <p:cNvPr id="22" name="Text 20"/>
          <p:cNvSpPr txBox="1"/>
          <p:nvPr/>
        </p:nvSpPr>
        <p:spPr>
          <a:xfrm>
            <a:off x="7802575" y="5916168"/>
            <a:ext cx="3749040" cy="457200"/>
          </a:xfrm>
          <a:prstGeom prst="rect">
            <a:avLst/>
          </a:prstGeom>
          <a:noFill/>
          <a:ln/>
        </p:spPr>
        <p:txBody>
          <a:bodyPr wrap="square" lIns="0" tIns="0" rIns="0" bIns="0" rtlCol="0" anchor="ctr"/>
          <a:lstStyle/>
          <a:p>
            <a:pPr algn="r" indent="0" marL="0">
              <a:buNone/>
            </a:pPr>
            <a:r>
              <a:rPr lang="en-US" sz="1100" dirty="0">
                <a:solidFill>
                  <a:srgbClr val="8E97A6"/>
                </a:solidFill>
                <a:latin typeface="Calibri" pitchFamily="34" charset="0"/>
                <a:ea typeface="Calibri" pitchFamily="34" charset="-122"/>
                <a:cs typeface="Calibri" pitchFamily="34" charset="-120"/>
              </a:rPr>
              <a:t>All results come from synthetic data we generated.</a:t>
            </a:r>
            <a:endParaRPr lang="en-US" sz="1100" dirty="0"/>
          </a:p>
          <a:p>
            <a:pPr algn="r" indent="0" marL="0">
              <a:buNone/>
            </a:pPr>
            <a:r>
              <a:rPr lang="en-US" sz="1100" dirty="0">
                <a:solidFill>
                  <a:srgbClr val="8E97A6"/>
                </a:solidFill>
                <a:latin typeface="Calibri" pitchFamily="34" charset="0"/>
                <a:ea typeface="Calibri" pitchFamily="34" charset="-122"/>
                <a:cs typeface="Calibri" pitchFamily="34" charset="-120"/>
              </a:rPr>
              <a:t>No real customer or bank data was used.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1  ·  Problem</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2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In these scams, the victim makes the payment</a:t>
            </a:r>
            <a:endParaRPr lang="en-US" sz="3400" dirty="0"/>
          </a:p>
        </p:txBody>
      </p:sp>
      <p:sp>
        <p:nvSpPr>
          <p:cNvPr id="6" name="Text 4"/>
          <p:cNvSpPr txBox="1"/>
          <p:nvPr/>
        </p:nvSpPr>
        <p:spPr>
          <a:xfrm>
            <a:off x="548640" y="1325880"/>
            <a:ext cx="7863840" cy="731520"/>
          </a:xfrm>
          <a:prstGeom prst="rect">
            <a:avLst/>
          </a:prstGeom>
          <a:noFill/>
          <a:ln/>
        </p:spPr>
        <p:txBody>
          <a:bodyPr wrap="square" lIns="0" tIns="0" rIns="0" bIns="0" rtlCol="0" anchor="t"/>
          <a:lstStyle/>
          <a:p>
            <a:pPr indent="0" marL="0">
              <a:spcAft>
                <a:spcPts val="400"/>
              </a:spcAft>
              <a:buNone/>
            </a:pPr>
            <a:r>
              <a:rPr lang="en-US" sz="1600" dirty="0">
                <a:solidFill>
                  <a:srgbClr val="3A4353"/>
                </a:solidFill>
                <a:latin typeface="Calibri" pitchFamily="34" charset="0"/>
                <a:ea typeface="Calibri" pitchFamily="34" charset="-122"/>
                <a:cs typeface="Calibri" pitchFamily="34" charset="-120"/>
              </a:rPr>
              <a:t>Most of the scam happens before any money moves. By the time the victim pays, the PIN is correct, the phone is their own and they mean to pay, so a check on the payment alone has little to go on.</a:t>
            </a:r>
            <a:endParaRPr lang="en-US" sz="1600" dirty="0"/>
          </a:p>
        </p:txBody>
      </p:sp>
      <p:sp>
        <p:nvSpPr>
          <p:cNvPr id="7" name="Shape 5"/>
          <p:cNvSpPr/>
          <p:nvPr/>
        </p:nvSpPr>
        <p:spPr>
          <a:xfrm>
            <a:off x="658368" y="2514600"/>
            <a:ext cx="0" cy="2606040"/>
          </a:xfrm>
          <a:prstGeom prst="line">
            <a:avLst/>
          </a:prstGeom>
          <a:noFill/>
          <a:ln w="19050">
            <a:solidFill>
              <a:srgbClr val="3A4353"/>
            </a:solidFill>
            <a:prstDash val="solid"/>
          </a:ln>
        </p:spPr>
      </p:sp>
      <p:sp>
        <p:nvSpPr>
          <p:cNvPr id="8" name="Shape 6"/>
          <p:cNvSpPr/>
          <p:nvPr/>
        </p:nvSpPr>
        <p:spPr>
          <a:xfrm>
            <a:off x="566928" y="2423160"/>
            <a:ext cx="182880" cy="182880"/>
          </a:xfrm>
          <a:prstGeom prst="ellipse">
            <a:avLst/>
          </a:prstGeom>
          <a:solidFill>
            <a:srgbClr val="FFFFFF"/>
          </a:solidFill>
          <a:ln w="19050">
            <a:solidFill>
              <a:srgbClr val="3A4353"/>
            </a:solidFill>
            <a:prstDash val="solid"/>
          </a:ln>
        </p:spPr>
      </p:sp>
      <p:sp>
        <p:nvSpPr>
          <p:cNvPr id="9" name="Text 7"/>
          <p:cNvSpPr txBox="1"/>
          <p:nvPr/>
        </p:nvSpPr>
        <p:spPr>
          <a:xfrm>
            <a:off x="978408" y="2331720"/>
            <a:ext cx="5029200" cy="32004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Contact</a:t>
            </a:r>
            <a:endParaRPr lang="en-US" sz="1800" dirty="0"/>
          </a:p>
        </p:txBody>
      </p:sp>
      <p:sp>
        <p:nvSpPr>
          <p:cNvPr id="10" name="Text 8"/>
          <p:cNvSpPr txBox="1"/>
          <p:nvPr/>
        </p:nvSpPr>
        <p:spPr>
          <a:xfrm>
            <a:off x="978408" y="2651760"/>
            <a:ext cx="5120640" cy="36576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A fake “CBI officer” video-calls about a money-laundering case</a:t>
            </a:r>
            <a:endParaRPr lang="en-US" sz="1400" dirty="0"/>
          </a:p>
        </p:txBody>
      </p:sp>
      <p:sp>
        <p:nvSpPr>
          <p:cNvPr id="11" name="Shape 9"/>
          <p:cNvSpPr/>
          <p:nvPr/>
        </p:nvSpPr>
        <p:spPr>
          <a:xfrm>
            <a:off x="566928" y="3291840"/>
            <a:ext cx="182880" cy="182880"/>
          </a:xfrm>
          <a:prstGeom prst="ellipse">
            <a:avLst/>
          </a:prstGeom>
          <a:solidFill>
            <a:srgbClr val="FFFFFF"/>
          </a:solidFill>
          <a:ln w="19050">
            <a:solidFill>
              <a:srgbClr val="3A4353"/>
            </a:solidFill>
            <a:prstDash val="solid"/>
          </a:ln>
        </p:spPr>
      </p:sp>
      <p:sp>
        <p:nvSpPr>
          <p:cNvPr id="12" name="Text 10"/>
          <p:cNvSpPr txBox="1"/>
          <p:nvPr/>
        </p:nvSpPr>
        <p:spPr>
          <a:xfrm>
            <a:off x="978408" y="3200400"/>
            <a:ext cx="5029200" cy="32004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Control</a:t>
            </a:r>
            <a:endParaRPr lang="en-US" sz="1800" dirty="0"/>
          </a:p>
        </p:txBody>
      </p:sp>
      <p:sp>
        <p:nvSpPr>
          <p:cNvPr id="13" name="Text 11"/>
          <p:cNvSpPr txBox="1"/>
          <p:nvPr/>
        </p:nvSpPr>
        <p:spPr>
          <a:xfrm>
            <a:off x="978408" y="3520440"/>
            <a:ext cx="5120640" cy="36576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She is told to install a screen-sharing app “for verification”</a:t>
            </a:r>
            <a:endParaRPr lang="en-US" sz="1400" dirty="0"/>
          </a:p>
        </p:txBody>
      </p:sp>
      <p:sp>
        <p:nvSpPr>
          <p:cNvPr id="14" name="Shape 12"/>
          <p:cNvSpPr/>
          <p:nvPr/>
        </p:nvSpPr>
        <p:spPr>
          <a:xfrm>
            <a:off x="566928" y="4160520"/>
            <a:ext cx="182880" cy="182880"/>
          </a:xfrm>
          <a:prstGeom prst="ellipse">
            <a:avLst/>
          </a:prstGeom>
          <a:solidFill>
            <a:srgbClr val="FFFFFF"/>
          </a:solidFill>
          <a:ln w="19050">
            <a:solidFill>
              <a:srgbClr val="3A4353"/>
            </a:solidFill>
            <a:prstDash val="solid"/>
          </a:ln>
        </p:spPr>
      </p:sp>
      <p:sp>
        <p:nvSpPr>
          <p:cNvPr id="15" name="Text 13"/>
          <p:cNvSpPr txBox="1"/>
          <p:nvPr/>
        </p:nvSpPr>
        <p:spPr>
          <a:xfrm>
            <a:off x="978408" y="4069080"/>
            <a:ext cx="5029200" cy="32004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Money extraction</a:t>
            </a:r>
            <a:endParaRPr lang="en-US" sz="1800" dirty="0"/>
          </a:p>
        </p:txBody>
      </p:sp>
      <p:sp>
        <p:nvSpPr>
          <p:cNvPr id="16" name="Text 14"/>
          <p:cNvSpPr txBox="1"/>
          <p:nvPr/>
        </p:nvSpPr>
        <p:spPr>
          <a:xfrm>
            <a:off x="978408" y="4389120"/>
            <a:ext cx="5120640" cy="36576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She breaks a fixed deposit and types in a new payee</a:t>
            </a:r>
            <a:endParaRPr lang="en-US" sz="1400" dirty="0"/>
          </a:p>
        </p:txBody>
      </p:sp>
      <p:sp>
        <p:nvSpPr>
          <p:cNvPr id="17" name="Shape 15"/>
          <p:cNvSpPr/>
          <p:nvPr/>
        </p:nvSpPr>
        <p:spPr>
          <a:xfrm>
            <a:off x="566928" y="5029200"/>
            <a:ext cx="182880" cy="182880"/>
          </a:xfrm>
          <a:prstGeom prst="ellipse">
            <a:avLst/>
          </a:prstGeom>
          <a:solidFill>
            <a:srgbClr val="D9480F"/>
          </a:solidFill>
          <a:ln w="19050">
            <a:solidFill>
              <a:srgbClr val="D9480F"/>
            </a:solidFill>
            <a:prstDash val="solid"/>
          </a:ln>
        </p:spPr>
      </p:sp>
      <p:sp>
        <p:nvSpPr>
          <p:cNvPr id="18" name="Text 16"/>
          <p:cNvSpPr txBox="1"/>
          <p:nvPr/>
        </p:nvSpPr>
        <p:spPr>
          <a:xfrm>
            <a:off x="978408" y="4937760"/>
            <a:ext cx="5029200" cy="320040"/>
          </a:xfrm>
          <a:prstGeom prst="rect">
            <a:avLst/>
          </a:prstGeom>
          <a:noFill/>
          <a:ln/>
        </p:spPr>
        <p:txBody>
          <a:bodyPr wrap="square" lIns="0" tIns="0" rIns="0" bIns="0" rtlCol="0" anchor="ctr"/>
          <a:lstStyle/>
          <a:p>
            <a:pPr indent="0" marL="0">
              <a:buNone/>
            </a:pPr>
            <a:r>
              <a:rPr lang="en-US" sz="1800" b="1" dirty="0">
                <a:solidFill>
                  <a:srgbClr val="D9480F"/>
                </a:solidFill>
                <a:latin typeface="Calibri" pitchFamily="34" charset="0"/>
                <a:ea typeface="Calibri" pitchFamily="34" charset="-122"/>
                <a:cs typeface="Calibri" pitchFamily="34" charset="-120"/>
              </a:rPr>
              <a:t>She pays</a:t>
            </a:r>
            <a:endParaRPr lang="en-US" sz="1800" dirty="0"/>
          </a:p>
        </p:txBody>
      </p:sp>
      <p:sp>
        <p:nvSpPr>
          <p:cNvPr id="19" name="Text 17"/>
          <p:cNvSpPr txBox="1"/>
          <p:nvPr/>
        </p:nvSpPr>
        <p:spPr>
          <a:xfrm>
            <a:off x="978408" y="5257800"/>
            <a:ext cx="5120640" cy="36576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₹2,50,000 to a personal UPI ID</a:t>
            </a:r>
            <a:endParaRPr lang="en-US" sz="1400" dirty="0"/>
          </a:p>
        </p:txBody>
      </p:sp>
      <p:sp>
        <p:nvSpPr>
          <p:cNvPr id="20" name="Shape 18"/>
          <p:cNvSpPr/>
          <p:nvPr/>
        </p:nvSpPr>
        <p:spPr>
          <a:xfrm>
            <a:off x="6172200" y="2331720"/>
            <a:ext cx="0" cy="2240280"/>
          </a:xfrm>
          <a:prstGeom prst="line">
            <a:avLst/>
          </a:prstGeom>
          <a:noFill/>
          <a:ln w="15875">
            <a:solidFill>
              <a:srgbClr val="D9DCE1"/>
            </a:solidFill>
            <a:prstDash val="solid"/>
          </a:ln>
        </p:spPr>
      </p:sp>
      <p:sp>
        <p:nvSpPr>
          <p:cNvPr id="21" name="Text 19"/>
          <p:cNvSpPr txBox="1"/>
          <p:nvPr/>
        </p:nvSpPr>
        <p:spPr>
          <a:xfrm>
            <a:off x="6355080" y="3200400"/>
            <a:ext cx="2103120" cy="548640"/>
          </a:xfrm>
          <a:prstGeom prst="rect">
            <a:avLst/>
          </a:prstGeom>
          <a:noFill/>
          <a:ln/>
        </p:spPr>
        <p:txBody>
          <a:bodyPr wrap="square" lIns="0" tIns="0" rIns="0" bIns="0" rtlCol="0" anchor="t"/>
          <a:lstStyle/>
          <a:p>
            <a:pPr indent="0" marL="0">
              <a:spcAft>
                <a:spcPts val="400"/>
              </a:spcAft>
              <a:buNone/>
            </a:pPr>
            <a:r>
              <a:rPr lang="en-US" sz="1300" dirty="0">
                <a:solidFill>
                  <a:srgbClr val="6E747E"/>
                </a:solidFill>
                <a:latin typeface="Calibri" pitchFamily="34" charset="0"/>
                <a:ea typeface="Calibri" pitchFamily="34" charset="-122"/>
                <a:cs typeface="Calibri" pitchFamily="34" charset="-120"/>
              </a:rPr>
              <a:t>A payment-level check</a:t>
            </a:r>
            <a:endParaRPr lang="en-US" sz="1300" dirty="0"/>
          </a:p>
          <a:p>
            <a:pPr indent="0" marL="0">
              <a:spcAft>
                <a:spcPts val="400"/>
              </a:spcAft>
              <a:buNone/>
            </a:pPr>
            <a:r>
              <a:rPr lang="en-US" sz="1300" dirty="0">
                <a:solidFill>
                  <a:srgbClr val="6E747E"/>
                </a:solidFill>
                <a:latin typeface="Calibri" pitchFamily="34" charset="0"/>
                <a:ea typeface="Calibri" pitchFamily="34" charset="-122"/>
                <a:cs typeface="Calibri" pitchFamily="34" charset="-120"/>
              </a:rPr>
              <a:t>does not see these steps</a:t>
            </a:r>
            <a:endParaRPr lang="en-US" sz="1300" dirty="0"/>
          </a:p>
        </p:txBody>
      </p:sp>
      <p:sp>
        <p:nvSpPr>
          <p:cNvPr id="22" name="Shape 20"/>
          <p:cNvSpPr/>
          <p:nvPr/>
        </p:nvSpPr>
        <p:spPr>
          <a:xfrm>
            <a:off x="6172200" y="4892040"/>
            <a:ext cx="0" cy="548640"/>
          </a:xfrm>
          <a:prstGeom prst="line">
            <a:avLst/>
          </a:prstGeom>
          <a:noFill/>
          <a:ln w="19050">
            <a:solidFill>
              <a:srgbClr val="D9480F"/>
            </a:solidFill>
            <a:prstDash val="solid"/>
          </a:ln>
        </p:spPr>
      </p:sp>
      <p:sp>
        <p:nvSpPr>
          <p:cNvPr id="23" name="Text 21"/>
          <p:cNvSpPr txBox="1"/>
          <p:nvPr/>
        </p:nvSpPr>
        <p:spPr>
          <a:xfrm>
            <a:off x="6355080" y="4937760"/>
            <a:ext cx="2103120" cy="548640"/>
          </a:xfrm>
          <a:prstGeom prst="rect">
            <a:avLst/>
          </a:prstGeom>
          <a:noFill/>
          <a:ln/>
        </p:spPr>
        <p:txBody>
          <a:bodyPr wrap="square" lIns="0" tIns="0" rIns="0" bIns="0" rtlCol="0" anchor="t"/>
          <a:lstStyle/>
          <a:p>
            <a:pPr indent="0" marL="0">
              <a:spcAft>
                <a:spcPts val="400"/>
              </a:spcAft>
              <a:buNone/>
            </a:pPr>
            <a:r>
              <a:rPr lang="en-US" sz="1300" dirty="0">
                <a:solidFill>
                  <a:srgbClr val="D9480F"/>
                </a:solidFill>
                <a:latin typeface="Calibri" pitchFamily="34" charset="0"/>
                <a:ea typeface="Calibri" pitchFamily="34" charset="-122"/>
                <a:cs typeface="Calibri" pitchFamily="34" charset="-120"/>
              </a:rPr>
              <a:t>This is the only step</a:t>
            </a:r>
            <a:endParaRPr lang="en-US" sz="1300" dirty="0"/>
          </a:p>
          <a:p>
            <a:pPr indent="0" marL="0">
              <a:spcAft>
                <a:spcPts val="400"/>
              </a:spcAft>
              <a:buNone/>
            </a:pPr>
            <a:r>
              <a:rPr lang="en-US" sz="1300" dirty="0">
                <a:solidFill>
                  <a:srgbClr val="D9480F"/>
                </a:solidFill>
                <a:latin typeface="Calibri" pitchFamily="34" charset="0"/>
                <a:ea typeface="Calibri" pitchFamily="34" charset="-122"/>
                <a:cs typeface="Calibri" pitchFamily="34" charset="-120"/>
              </a:rPr>
              <a:t>it checks</a:t>
            </a:r>
            <a:endParaRPr lang="en-US" sz="1300" dirty="0"/>
          </a:p>
        </p:txBody>
      </p:sp>
      <p:sp>
        <p:nvSpPr>
          <p:cNvPr id="24" name="Text 22"/>
          <p:cNvSpPr txBox="1"/>
          <p:nvPr/>
        </p:nvSpPr>
        <p:spPr>
          <a:xfrm>
            <a:off x="8778240" y="2377440"/>
            <a:ext cx="2926080" cy="731520"/>
          </a:xfrm>
          <a:prstGeom prst="rect">
            <a:avLst/>
          </a:prstGeom>
          <a:noFill/>
          <a:ln/>
        </p:spPr>
        <p:txBody>
          <a:bodyPr wrap="square" lIns="0" tIns="0" rIns="0" bIns="0" rtlCol="0" anchor="ctr"/>
          <a:lstStyle/>
          <a:p>
            <a:pPr indent="0" marL="0">
              <a:buNone/>
            </a:pPr>
            <a:r>
              <a:rPr lang="en-US" sz="4000" b="1" dirty="0">
                <a:solidFill>
                  <a:srgbClr val="1B2433"/>
                </a:solidFill>
                <a:latin typeface="Cambria" pitchFamily="34" charset="0"/>
                <a:ea typeface="Cambria" pitchFamily="34" charset="-122"/>
                <a:cs typeface="Cambria" pitchFamily="34" charset="-120"/>
              </a:rPr>
              <a:t>₹22,845 cr</a:t>
            </a:r>
            <a:endParaRPr lang="en-US" sz="4000" dirty="0"/>
          </a:p>
        </p:txBody>
      </p:sp>
      <p:sp>
        <p:nvSpPr>
          <p:cNvPr id="25" name="Text 23"/>
          <p:cNvSpPr txBox="1"/>
          <p:nvPr/>
        </p:nvSpPr>
        <p:spPr>
          <a:xfrm>
            <a:off x="8778240" y="3108960"/>
            <a:ext cx="2926080" cy="3200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lost to cyber fraud in India in 2024</a:t>
            </a:r>
            <a:endParaRPr lang="en-US" sz="1400" dirty="0"/>
          </a:p>
        </p:txBody>
      </p:sp>
      <p:sp>
        <p:nvSpPr>
          <p:cNvPr id="26" name="Text 24"/>
          <p:cNvSpPr txBox="1"/>
          <p:nvPr/>
        </p:nvSpPr>
        <p:spPr>
          <a:xfrm>
            <a:off x="8778240" y="3657600"/>
            <a:ext cx="2926080" cy="731520"/>
          </a:xfrm>
          <a:prstGeom prst="rect">
            <a:avLst/>
          </a:prstGeom>
          <a:noFill/>
          <a:ln/>
        </p:spPr>
        <p:txBody>
          <a:bodyPr wrap="square" lIns="0" tIns="0" rIns="0" bIns="0" rtlCol="0" anchor="ctr"/>
          <a:lstStyle/>
          <a:p>
            <a:pPr indent="0" marL="0">
              <a:buNone/>
            </a:pPr>
            <a:r>
              <a:rPr lang="en-US" sz="4000" b="1" dirty="0">
                <a:solidFill>
                  <a:srgbClr val="1B2433"/>
                </a:solidFill>
                <a:latin typeface="Cambria" pitchFamily="34" charset="0"/>
                <a:ea typeface="Cambria" pitchFamily="34" charset="-122"/>
                <a:cs typeface="Cambria" pitchFamily="34" charset="-120"/>
              </a:rPr>
              <a:t>36.37 lakh</a:t>
            </a:r>
            <a:endParaRPr lang="en-US" sz="4000" dirty="0"/>
          </a:p>
        </p:txBody>
      </p:sp>
      <p:sp>
        <p:nvSpPr>
          <p:cNvPr id="27" name="Text 25"/>
          <p:cNvSpPr txBox="1"/>
          <p:nvPr/>
        </p:nvSpPr>
        <p:spPr>
          <a:xfrm>
            <a:off x="8778240" y="4389120"/>
            <a:ext cx="2926080" cy="3200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complaints filed in 2024</a:t>
            </a:r>
            <a:endParaRPr lang="en-US" sz="1400" dirty="0"/>
          </a:p>
        </p:txBody>
      </p:sp>
      <p:sp>
        <p:nvSpPr>
          <p:cNvPr id="28" name="Text 26"/>
          <p:cNvSpPr txBox="1"/>
          <p:nvPr/>
        </p:nvSpPr>
        <p:spPr>
          <a:xfrm>
            <a:off x="8778240" y="4892040"/>
            <a:ext cx="2926080" cy="50292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Source: Ministry of Home Affairs, reply in Lok Sabha, July 2025 (NCRP and CFCFRMS data).</a:t>
            </a:r>
            <a:endParaRPr lang="en-US" sz="1100" dirty="0"/>
          </a:p>
        </p:txBody>
      </p:sp>
      <p:sp>
        <p:nvSpPr>
          <p:cNvPr id="29" name="Text 27"/>
          <p:cNvSpPr txBox="1"/>
          <p:nvPr/>
        </p:nvSpPr>
        <p:spPr>
          <a:xfrm>
            <a:off x="548640" y="5897880"/>
            <a:ext cx="9144000" cy="365760"/>
          </a:xfrm>
          <a:prstGeom prst="rect">
            <a:avLst/>
          </a:prstGeom>
          <a:noFill/>
          <a:ln/>
        </p:spPr>
        <p:txBody>
          <a:bodyPr wrap="square" lIns="0" tIns="0" rIns="0" bIns="0" rtlCol="0" anchor="ctr"/>
          <a:lstStyle/>
          <a:p>
            <a:pPr indent="0" marL="0">
              <a:buNone/>
            </a:pPr>
            <a:r>
              <a:rPr lang="en-US" sz="1700" i="1" dirty="0">
                <a:solidFill>
                  <a:srgbClr val="1B2433"/>
                </a:solidFill>
                <a:latin typeface="Cambria" pitchFamily="34" charset="0"/>
                <a:ea typeface="Cambria" pitchFamily="34" charset="-122"/>
                <a:cs typeface="Cambria" pitchFamily="34" charset="-120"/>
              </a:rPr>
              <a:t>Our idea: use the steps before the payment as evidence, not just the payment.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B"/>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8E97A6"/>
                </a:solidFill>
                <a:latin typeface="Calibri" pitchFamily="34" charset="0"/>
                <a:ea typeface="Calibri" pitchFamily="34" charset="-122"/>
                <a:cs typeface="Calibri" pitchFamily="34" charset="-120"/>
              </a:rPr>
              <a:t>2  ·  Idea</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8E97A6"/>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8E97A6"/>
                </a:solidFill>
                <a:latin typeface="Calibri" pitchFamily="34" charset="0"/>
                <a:ea typeface="Calibri" pitchFamily="34" charset="-122"/>
                <a:cs typeface="Calibri" pitchFamily="34" charset="-120"/>
              </a:rPr>
              <a:t>3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ECE8E0"/>
                </a:solidFill>
                <a:latin typeface="Cambria" pitchFamily="34" charset="0"/>
                <a:ea typeface="Cambria" pitchFamily="34" charset="-122"/>
                <a:cs typeface="Cambria" pitchFamily="34" charset="-120"/>
              </a:rPr>
              <a:t>A scam has four stages. We look for all of them.</a:t>
            </a:r>
            <a:endParaRPr lang="en-US" sz="3400" dirty="0"/>
          </a:p>
        </p:txBody>
      </p:sp>
      <p:sp>
        <p:nvSpPr>
          <p:cNvPr id="6" name="Shape 4"/>
          <p:cNvSpPr/>
          <p:nvPr/>
        </p:nvSpPr>
        <p:spPr>
          <a:xfrm>
            <a:off x="548640" y="1965960"/>
            <a:ext cx="11094415" cy="0"/>
          </a:xfrm>
          <a:prstGeom prst="line">
            <a:avLst/>
          </a:prstGeom>
          <a:noFill/>
          <a:ln w="15875">
            <a:solidFill>
              <a:srgbClr val="ECE8E0"/>
            </a:solidFill>
            <a:prstDash val="solid"/>
          </a:ln>
        </p:spPr>
      </p:sp>
      <p:sp>
        <p:nvSpPr>
          <p:cNvPr id="7" name="Shape 5"/>
          <p:cNvSpPr/>
          <p:nvPr/>
        </p:nvSpPr>
        <p:spPr>
          <a:xfrm>
            <a:off x="548640" y="1874520"/>
            <a:ext cx="182880" cy="182880"/>
          </a:xfrm>
          <a:prstGeom prst="ellipse">
            <a:avLst/>
          </a:prstGeom>
          <a:solidFill>
            <a:srgbClr val="111A2B"/>
          </a:solidFill>
          <a:ln w="19050">
            <a:solidFill>
              <a:srgbClr val="ECE8E0"/>
            </a:solidFill>
            <a:prstDash val="solid"/>
          </a:ln>
        </p:spPr>
      </p:sp>
      <p:sp>
        <p:nvSpPr>
          <p:cNvPr id="8" name="Text 6"/>
          <p:cNvSpPr txBox="1"/>
          <p:nvPr/>
        </p:nvSpPr>
        <p:spPr>
          <a:xfrm>
            <a:off x="548640" y="2240280"/>
            <a:ext cx="914400" cy="228600"/>
          </a:xfrm>
          <a:prstGeom prst="rect">
            <a:avLst/>
          </a:prstGeom>
          <a:noFill/>
          <a:ln/>
        </p:spPr>
        <p:txBody>
          <a:bodyPr wrap="square" lIns="0" tIns="0" rIns="0" bIns="0" rtlCol="0" anchor="ctr"/>
          <a:lstStyle/>
          <a:p>
            <a:pPr indent="0" marL="0">
              <a:buNone/>
            </a:pPr>
            <a:r>
              <a:rPr lang="en-US" sz="1100" dirty="0">
                <a:solidFill>
                  <a:srgbClr val="8E97A6"/>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548640" y="2468880"/>
            <a:ext cx="2590724" cy="548640"/>
          </a:xfrm>
          <a:prstGeom prst="rect">
            <a:avLst/>
          </a:prstGeom>
          <a:noFill/>
          <a:ln/>
        </p:spPr>
        <p:txBody>
          <a:bodyPr wrap="square" lIns="0" tIns="0" rIns="0" bIns="0" rtlCol="0" anchor="ctr"/>
          <a:lstStyle/>
          <a:p>
            <a:pPr indent="0" marL="0">
              <a:buNone/>
            </a:pPr>
            <a:r>
              <a:rPr lang="en-US" sz="2800" b="1" dirty="0">
                <a:solidFill>
                  <a:srgbClr val="ECE8E0"/>
                </a:solidFill>
                <a:latin typeface="Cambria" pitchFamily="34" charset="0"/>
                <a:ea typeface="Cambria" pitchFamily="34" charset="-122"/>
                <a:cs typeface="Cambria" pitchFamily="34" charset="-120"/>
              </a:rPr>
              <a:t>Contact</a:t>
            </a:r>
            <a:endParaRPr lang="en-US" sz="2800" dirty="0"/>
          </a:p>
        </p:txBody>
      </p:sp>
      <p:sp>
        <p:nvSpPr>
          <p:cNvPr id="10" name="Text 8"/>
          <p:cNvSpPr txBox="1"/>
          <p:nvPr/>
        </p:nvSpPr>
        <p:spPr>
          <a:xfrm>
            <a:off x="548640" y="3154680"/>
            <a:ext cx="2499284" cy="1188720"/>
          </a:xfrm>
          <a:prstGeom prst="rect">
            <a:avLst/>
          </a:prstGeom>
          <a:noFill/>
          <a:ln/>
        </p:spPr>
        <p:txBody>
          <a:bodyPr wrap="square" lIns="0" tIns="0" rIns="0" bIns="0" rtlCol="0" anchor="t"/>
          <a:lstStyle/>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call with an unknown number</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call longer than 20 min</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scam-lure SMS, checked on the phone</a:t>
            </a:r>
            <a:endParaRPr lang="en-US" sz="1500" dirty="0"/>
          </a:p>
        </p:txBody>
      </p:sp>
      <p:sp>
        <p:nvSpPr>
          <p:cNvPr id="11" name="Text 9"/>
          <p:cNvSpPr txBox="1"/>
          <p:nvPr/>
        </p:nvSpPr>
        <p:spPr>
          <a:xfrm>
            <a:off x="548640" y="4480560"/>
            <a:ext cx="2590724" cy="274320"/>
          </a:xfrm>
          <a:prstGeom prst="rect">
            <a:avLst/>
          </a:prstGeom>
          <a:noFill/>
          <a:ln/>
        </p:spPr>
        <p:txBody>
          <a:bodyPr wrap="square" lIns="0" tIns="0" rIns="0" bIns="0" rtlCol="0" anchor="ctr"/>
          <a:lstStyle/>
          <a:p>
            <a:pPr indent="0" marL="0">
              <a:buNone/>
            </a:pPr>
            <a:r>
              <a:rPr lang="en-US" sz="1200" i="1" dirty="0">
                <a:solidFill>
                  <a:srgbClr val="8E97A6"/>
                </a:solidFill>
                <a:latin typeface="Calibri" pitchFamily="34" charset="0"/>
                <a:ea typeface="Calibri" pitchFamily="34" charset="-122"/>
                <a:cs typeface="Calibri" pitchFamily="34" charset="-120"/>
              </a:rPr>
              <a:t>from the phone</a:t>
            </a:r>
            <a:endParaRPr lang="en-US" sz="1200" dirty="0"/>
          </a:p>
        </p:txBody>
      </p:sp>
      <p:sp>
        <p:nvSpPr>
          <p:cNvPr id="12" name="Shape 10"/>
          <p:cNvSpPr/>
          <p:nvPr/>
        </p:nvSpPr>
        <p:spPr>
          <a:xfrm>
            <a:off x="3322244" y="1874520"/>
            <a:ext cx="182880" cy="182880"/>
          </a:xfrm>
          <a:prstGeom prst="ellipse">
            <a:avLst/>
          </a:prstGeom>
          <a:solidFill>
            <a:srgbClr val="111A2B"/>
          </a:solidFill>
          <a:ln w="19050">
            <a:solidFill>
              <a:srgbClr val="ECE8E0"/>
            </a:solidFill>
            <a:prstDash val="solid"/>
          </a:ln>
        </p:spPr>
      </p:sp>
      <p:sp>
        <p:nvSpPr>
          <p:cNvPr id="13" name="Text 11"/>
          <p:cNvSpPr txBox="1"/>
          <p:nvPr/>
        </p:nvSpPr>
        <p:spPr>
          <a:xfrm>
            <a:off x="3322244" y="2240280"/>
            <a:ext cx="914400" cy="228600"/>
          </a:xfrm>
          <a:prstGeom prst="rect">
            <a:avLst/>
          </a:prstGeom>
          <a:noFill/>
          <a:ln/>
        </p:spPr>
        <p:txBody>
          <a:bodyPr wrap="square" lIns="0" tIns="0" rIns="0" bIns="0" rtlCol="0" anchor="ctr"/>
          <a:lstStyle/>
          <a:p>
            <a:pPr indent="0" marL="0">
              <a:buNone/>
            </a:pPr>
            <a:r>
              <a:rPr lang="en-US" sz="1100" dirty="0">
                <a:solidFill>
                  <a:srgbClr val="8E97A6"/>
                </a:solidFill>
                <a:latin typeface="Calibri" pitchFamily="34" charset="0"/>
                <a:ea typeface="Calibri" pitchFamily="34" charset="-122"/>
                <a:cs typeface="Calibri" pitchFamily="34" charset="-120"/>
              </a:rPr>
              <a:t>02</a:t>
            </a:r>
            <a:endParaRPr lang="en-US" sz="1100" dirty="0"/>
          </a:p>
        </p:txBody>
      </p:sp>
      <p:sp>
        <p:nvSpPr>
          <p:cNvPr id="14" name="Text 12"/>
          <p:cNvSpPr txBox="1"/>
          <p:nvPr/>
        </p:nvSpPr>
        <p:spPr>
          <a:xfrm>
            <a:off x="3322244" y="2468880"/>
            <a:ext cx="2590724" cy="548640"/>
          </a:xfrm>
          <a:prstGeom prst="rect">
            <a:avLst/>
          </a:prstGeom>
          <a:noFill/>
          <a:ln/>
        </p:spPr>
        <p:txBody>
          <a:bodyPr wrap="square" lIns="0" tIns="0" rIns="0" bIns="0" rtlCol="0" anchor="ctr"/>
          <a:lstStyle/>
          <a:p>
            <a:pPr indent="0" marL="0">
              <a:buNone/>
            </a:pPr>
            <a:r>
              <a:rPr lang="en-US" sz="2800" b="1" dirty="0">
                <a:solidFill>
                  <a:srgbClr val="ECE8E0"/>
                </a:solidFill>
                <a:latin typeface="Cambria" pitchFamily="34" charset="0"/>
                <a:ea typeface="Cambria" pitchFamily="34" charset="-122"/>
                <a:cs typeface="Cambria" pitchFamily="34" charset="-120"/>
              </a:rPr>
              <a:t>Control</a:t>
            </a:r>
            <a:endParaRPr lang="en-US" sz="2800" dirty="0"/>
          </a:p>
        </p:txBody>
      </p:sp>
      <p:sp>
        <p:nvSpPr>
          <p:cNvPr id="15" name="Text 13"/>
          <p:cNvSpPr txBox="1"/>
          <p:nvPr/>
        </p:nvSpPr>
        <p:spPr>
          <a:xfrm>
            <a:off x="3322244" y="3154680"/>
            <a:ext cx="2499284" cy="1188720"/>
          </a:xfrm>
          <a:prstGeom prst="rect">
            <a:avLst/>
          </a:prstGeom>
          <a:noFill/>
          <a:ln/>
        </p:spPr>
        <p:txBody>
          <a:bodyPr wrap="square" lIns="0" tIns="0" rIns="0" bIns="0" rtlCol="0" anchor="t"/>
          <a:lstStyle/>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screen-sharing app running</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app sideloaded in last 24 h</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OTP opened during the call</a:t>
            </a:r>
            <a:endParaRPr lang="en-US" sz="1500" dirty="0"/>
          </a:p>
        </p:txBody>
      </p:sp>
      <p:sp>
        <p:nvSpPr>
          <p:cNvPr id="16" name="Text 14"/>
          <p:cNvSpPr txBox="1"/>
          <p:nvPr/>
        </p:nvSpPr>
        <p:spPr>
          <a:xfrm>
            <a:off x="3322244" y="4480560"/>
            <a:ext cx="2590724" cy="274320"/>
          </a:xfrm>
          <a:prstGeom prst="rect">
            <a:avLst/>
          </a:prstGeom>
          <a:noFill/>
          <a:ln/>
        </p:spPr>
        <p:txBody>
          <a:bodyPr wrap="square" lIns="0" tIns="0" rIns="0" bIns="0" rtlCol="0" anchor="ctr"/>
          <a:lstStyle/>
          <a:p>
            <a:pPr indent="0" marL="0">
              <a:buNone/>
            </a:pPr>
            <a:r>
              <a:rPr lang="en-US" sz="1200" i="1" dirty="0">
                <a:solidFill>
                  <a:srgbClr val="8E97A6"/>
                </a:solidFill>
                <a:latin typeface="Calibri" pitchFamily="34" charset="0"/>
                <a:ea typeface="Calibri" pitchFamily="34" charset="-122"/>
                <a:cs typeface="Calibri" pitchFamily="34" charset="-120"/>
              </a:rPr>
              <a:t>from the phone</a:t>
            </a:r>
            <a:endParaRPr lang="en-US" sz="1200" dirty="0"/>
          </a:p>
        </p:txBody>
      </p:sp>
      <p:sp>
        <p:nvSpPr>
          <p:cNvPr id="17" name="Shape 15"/>
          <p:cNvSpPr/>
          <p:nvPr/>
        </p:nvSpPr>
        <p:spPr>
          <a:xfrm>
            <a:off x="6095848" y="1874520"/>
            <a:ext cx="182880" cy="182880"/>
          </a:xfrm>
          <a:prstGeom prst="ellipse">
            <a:avLst/>
          </a:prstGeom>
          <a:solidFill>
            <a:srgbClr val="111A2B"/>
          </a:solidFill>
          <a:ln w="19050">
            <a:solidFill>
              <a:srgbClr val="ECE8E0"/>
            </a:solidFill>
            <a:prstDash val="solid"/>
          </a:ln>
        </p:spPr>
      </p:sp>
      <p:sp>
        <p:nvSpPr>
          <p:cNvPr id="18" name="Text 16"/>
          <p:cNvSpPr txBox="1"/>
          <p:nvPr/>
        </p:nvSpPr>
        <p:spPr>
          <a:xfrm>
            <a:off x="6095848" y="2240280"/>
            <a:ext cx="914400" cy="228600"/>
          </a:xfrm>
          <a:prstGeom prst="rect">
            <a:avLst/>
          </a:prstGeom>
          <a:noFill/>
          <a:ln/>
        </p:spPr>
        <p:txBody>
          <a:bodyPr wrap="square" lIns="0" tIns="0" rIns="0" bIns="0" rtlCol="0" anchor="ctr"/>
          <a:lstStyle/>
          <a:p>
            <a:pPr indent="0" marL="0">
              <a:buNone/>
            </a:pPr>
            <a:r>
              <a:rPr lang="en-US" sz="1100" dirty="0">
                <a:solidFill>
                  <a:srgbClr val="8E97A6"/>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6095848" y="2468880"/>
            <a:ext cx="2590724" cy="548640"/>
          </a:xfrm>
          <a:prstGeom prst="rect">
            <a:avLst/>
          </a:prstGeom>
          <a:noFill/>
          <a:ln/>
        </p:spPr>
        <p:txBody>
          <a:bodyPr wrap="square" lIns="0" tIns="0" rIns="0" bIns="0" rtlCol="0" anchor="ctr"/>
          <a:lstStyle/>
          <a:p>
            <a:pPr indent="0" marL="0">
              <a:buNone/>
            </a:pPr>
            <a:r>
              <a:rPr lang="en-US" sz="2800" b="1" dirty="0">
                <a:solidFill>
                  <a:srgbClr val="ECE8E0"/>
                </a:solidFill>
                <a:latin typeface="Cambria" pitchFamily="34" charset="0"/>
                <a:ea typeface="Cambria" pitchFamily="34" charset="-122"/>
                <a:cs typeface="Cambria" pitchFamily="34" charset="-120"/>
              </a:rPr>
              <a:t>Extraction</a:t>
            </a:r>
            <a:endParaRPr lang="en-US" sz="2800" dirty="0"/>
          </a:p>
        </p:txBody>
      </p:sp>
      <p:sp>
        <p:nvSpPr>
          <p:cNvPr id="20" name="Text 18"/>
          <p:cNvSpPr txBox="1"/>
          <p:nvPr/>
        </p:nvSpPr>
        <p:spPr>
          <a:xfrm>
            <a:off x="6095848" y="3154680"/>
            <a:ext cx="2499284" cy="1188720"/>
          </a:xfrm>
          <a:prstGeom prst="rect">
            <a:avLst/>
          </a:prstGeom>
          <a:noFill/>
          <a:ln/>
        </p:spPr>
        <p:txBody>
          <a:bodyPr wrap="square" lIns="0" tIns="0" rIns="0" bIns="0" rtlCol="0" anchor="t"/>
          <a:lstStyle/>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first-time payee, typed UPI ID</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more than 70% of the balance</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fixed deposit broken in last 24 h</a:t>
            </a:r>
            <a:endParaRPr lang="en-US" sz="1500" dirty="0"/>
          </a:p>
        </p:txBody>
      </p:sp>
      <p:sp>
        <p:nvSpPr>
          <p:cNvPr id="21" name="Text 19"/>
          <p:cNvSpPr txBox="1"/>
          <p:nvPr/>
        </p:nvSpPr>
        <p:spPr>
          <a:xfrm>
            <a:off x="6095848" y="4480560"/>
            <a:ext cx="2590724" cy="274320"/>
          </a:xfrm>
          <a:prstGeom prst="rect">
            <a:avLst/>
          </a:prstGeom>
          <a:noFill/>
          <a:ln/>
        </p:spPr>
        <p:txBody>
          <a:bodyPr wrap="square" lIns="0" tIns="0" rIns="0" bIns="0" rtlCol="0" anchor="ctr"/>
          <a:lstStyle/>
          <a:p>
            <a:pPr indent="0" marL="0">
              <a:buNone/>
            </a:pPr>
            <a:r>
              <a:rPr lang="en-US" sz="1200" i="1" dirty="0">
                <a:solidFill>
                  <a:srgbClr val="8E97A6"/>
                </a:solidFill>
                <a:latin typeface="Calibri" pitchFamily="34" charset="0"/>
                <a:ea typeface="Calibri" pitchFamily="34" charset="-122"/>
                <a:cs typeface="Calibri" pitchFamily="34" charset="-120"/>
              </a:rPr>
              <a:t>from the bank</a:t>
            </a:r>
            <a:endParaRPr lang="en-US" sz="1200" dirty="0"/>
          </a:p>
        </p:txBody>
      </p:sp>
      <p:sp>
        <p:nvSpPr>
          <p:cNvPr id="22" name="Shape 20"/>
          <p:cNvSpPr/>
          <p:nvPr/>
        </p:nvSpPr>
        <p:spPr>
          <a:xfrm>
            <a:off x="8869451" y="1874520"/>
            <a:ext cx="182880" cy="182880"/>
          </a:xfrm>
          <a:prstGeom prst="ellipse">
            <a:avLst/>
          </a:prstGeom>
          <a:solidFill>
            <a:srgbClr val="111A2B"/>
          </a:solidFill>
          <a:ln w="19050">
            <a:solidFill>
              <a:srgbClr val="ECE8E0"/>
            </a:solidFill>
            <a:prstDash val="solid"/>
          </a:ln>
        </p:spPr>
      </p:sp>
      <p:sp>
        <p:nvSpPr>
          <p:cNvPr id="23" name="Text 21"/>
          <p:cNvSpPr txBox="1"/>
          <p:nvPr/>
        </p:nvSpPr>
        <p:spPr>
          <a:xfrm>
            <a:off x="8869451" y="2240280"/>
            <a:ext cx="914400" cy="228600"/>
          </a:xfrm>
          <a:prstGeom prst="rect">
            <a:avLst/>
          </a:prstGeom>
          <a:noFill/>
          <a:ln/>
        </p:spPr>
        <p:txBody>
          <a:bodyPr wrap="square" lIns="0" tIns="0" rIns="0" bIns="0" rtlCol="0" anchor="ctr"/>
          <a:lstStyle/>
          <a:p>
            <a:pPr indent="0" marL="0">
              <a:buNone/>
            </a:pPr>
            <a:r>
              <a:rPr lang="en-US" sz="1100" dirty="0">
                <a:solidFill>
                  <a:srgbClr val="8E97A6"/>
                </a:solidFill>
                <a:latin typeface="Calibri" pitchFamily="34" charset="0"/>
                <a:ea typeface="Calibri" pitchFamily="34" charset="-122"/>
                <a:cs typeface="Calibri" pitchFamily="34" charset="-120"/>
              </a:rPr>
              <a:t>04</a:t>
            </a:r>
            <a:endParaRPr lang="en-US" sz="1100" dirty="0"/>
          </a:p>
        </p:txBody>
      </p:sp>
      <p:sp>
        <p:nvSpPr>
          <p:cNvPr id="24" name="Text 22"/>
          <p:cNvSpPr txBox="1"/>
          <p:nvPr/>
        </p:nvSpPr>
        <p:spPr>
          <a:xfrm>
            <a:off x="8869451" y="2468880"/>
            <a:ext cx="2590724" cy="548640"/>
          </a:xfrm>
          <a:prstGeom prst="rect">
            <a:avLst/>
          </a:prstGeom>
          <a:noFill/>
          <a:ln/>
        </p:spPr>
        <p:txBody>
          <a:bodyPr wrap="square" lIns="0" tIns="0" rIns="0" bIns="0" rtlCol="0" anchor="ctr"/>
          <a:lstStyle/>
          <a:p>
            <a:pPr indent="0" marL="0">
              <a:buNone/>
            </a:pPr>
            <a:r>
              <a:rPr lang="en-US" sz="2800" b="1" dirty="0">
                <a:solidFill>
                  <a:srgbClr val="ECE8E0"/>
                </a:solidFill>
                <a:latin typeface="Cambria" pitchFamily="34" charset="0"/>
                <a:ea typeface="Cambria" pitchFamily="34" charset="-122"/>
                <a:cs typeface="Cambria" pitchFamily="34" charset="-120"/>
              </a:rPr>
              <a:t>Cash-out</a:t>
            </a:r>
            <a:endParaRPr lang="en-US" sz="2800" dirty="0"/>
          </a:p>
        </p:txBody>
      </p:sp>
      <p:sp>
        <p:nvSpPr>
          <p:cNvPr id="25" name="Text 23"/>
          <p:cNvSpPr txBox="1"/>
          <p:nvPr/>
        </p:nvSpPr>
        <p:spPr>
          <a:xfrm>
            <a:off x="8869451" y="3154680"/>
            <a:ext cx="2499284" cy="1188720"/>
          </a:xfrm>
          <a:prstGeom prst="rect">
            <a:avLst/>
          </a:prstGeom>
          <a:noFill/>
          <a:ln/>
        </p:spPr>
        <p:txBody>
          <a:bodyPr wrap="square" lIns="0" tIns="0" rIns="0" bIns="0" rtlCol="0" anchor="t"/>
          <a:lstStyle/>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account behaves like a mule</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account less than 30 days old</a:t>
            </a:r>
            <a:endParaRPr lang="en-US" sz="1500" dirty="0"/>
          </a:p>
          <a:p>
            <a:pPr indent="0" marL="0">
              <a:spcAft>
                <a:spcPts val="900"/>
              </a:spcAft>
              <a:buNone/>
            </a:pPr>
            <a:r>
              <a:rPr lang="en-US" sz="1500" dirty="0">
                <a:solidFill>
                  <a:srgbClr val="ECE8E0"/>
                </a:solidFill>
                <a:latin typeface="Calibri" pitchFamily="34" charset="0"/>
                <a:ea typeface="Calibri" pitchFamily="34" charset="-122"/>
                <a:cs typeface="Calibri" pitchFamily="34" charset="-120"/>
              </a:rPr>
              <a:t>account on a suspect list</a:t>
            </a:r>
            <a:endParaRPr lang="en-US" sz="1500" dirty="0"/>
          </a:p>
        </p:txBody>
      </p:sp>
      <p:sp>
        <p:nvSpPr>
          <p:cNvPr id="26" name="Text 24"/>
          <p:cNvSpPr txBox="1"/>
          <p:nvPr/>
        </p:nvSpPr>
        <p:spPr>
          <a:xfrm>
            <a:off x="8869451" y="4480560"/>
            <a:ext cx="2590724" cy="274320"/>
          </a:xfrm>
          <a:prstGeom prst="rect">
            <a:avLst/>
          </a:prstGeom>
          <a:noFill/>
          <a:ln/>
        </p:spPr>
        <p:txBody>
          <a:bodyPr wrap="square" lIns="0" tIns="0" rIns="0" bIns="0" rtlCol="0" anchor="ctr"/>
          <a:lstStyle/>
          <a:p>
            <a:pPr indent="0" marL="0">
              <a:buNone/>
            </a:pPr>
            <a:r>
              <a:rPr lang="en-US" sz="1200" i="1" dirty="0">
                <a:solidFill>
                  <a:srgbClr val="8E97A6"/>
                </a:solidFill>
                <a:latin typeface="Calibri" pitchFamily="34" charset="0"/>
                <a:ea typeface="Calibri" pitchFamily="34" charset="-122"/>
                <a:cs typeface="Calibri" pitchFamily="34" charset="-120"/>
              </a:rPr>
              <a:t>from the receiving account</a:t>
            </a:r>
            <a:endParaRPr lang="en-US" sz="1200" dirty="0"/>
          </a:p>
        </p:txBody>
      </p:sp>
      <p:sp>
        <p:nvSpPr>
          <p:cNvPr id="27" name="Text 25"/>
          <p:cNvSpPr txBox="1"/>
          <p:nvPr/>
        </p:nvSpPr>
        <p:spPr>
          <a:xfrm>
            <a:off x="548640" y="4846320"/>
            <a:ext cx="11094415" cy="868680"/>
          </a:xfrm>
          <a:prstGeom prst="rect">
            <a:avLst/>
          </a:prstGeom>
          <a:noFill/>
          <a:ln/>
        </p:spPr>
        <p:txBody>
          <a:bodyPr wrap="square" lIns="0" tIns="0" rIns="0" bIns="0" rtlCol="0" anchor="t"/>
          <a:lstStyle/>
          <a:p>
            <a:pPr indent="0" marL="0">
              <a:buNone/>
            </a:pPr>
            <a:r>
              <a:rPr lang="en-US" sz="2300" dirty="0">
                <a:solidFill>
                  <a:srgbClr val="ECE8E0"/>
                </a:solidFill>
                <a:latin typeface="Cambria" pitchFamily="34" charset="0"/>
                <a:ea typeface="Cambria" pitchFamily="34" charset="-122"/>
                <a:cs typeface="Cambria" pitchFamily="34" charset="-120"/>
              </a:rPr>
              <a:t>One odd signal is not enough to stop a payment. </a:t>
            </a:r>
            <a:pPr indent="0" marL="0">
              <a:buNone/>
            </a:pPr>
            <a:r>
              <a:rPr lang="en-US" sz="2300" b="1" dirty="0">
                <a:solidFill>
                  <a:srgbClr val="D9480F"/>
                </a:solidFill>
                <a:latin typeface="Cambria" pitchFamily="34" charset="0"/>
                <a:ea typeface="Cambria" pitchFamily="34" charset="-122"/>
                <a:cs typeface="Cambria" pitchFamily="34" charset="-120"/>
              </a:rPr>
              <a:t>We act when several stages show up together.</a:t>
            </a:r>
            <a:endParaRPr lang="en-US" sz="2300" dirty="0"/>
          </a:p>
        </p:txBody>
      </p:sp>
      <p:sp>
        <p:nvSpPr>
          <p:cNvPr id="28" name="Text 26"/>
          <p:cNvSpPr txBox="1"/>
          <p:nvPr/>
        </p:nvSpPr>
        <p:spPr>
          <a:xfrm>
            <a:off x="548640" y="5806440"/>
            <a:ext cx="9601200" cy="548640"/>
          </a:xfrm>
          <a:prstGeom prst="rect">
            <a:avLst/>
          </a:prstGeom>
          <a:noFill/>
          <a:ln/>
        </p:spPr>
        <p:txBody>
          <a:bodyPr wrap="square" lIns="0" tIns="0" rIns="0" bIns="0" rtlCol="0" anchor="t"/>
          <a:lstStyle/>
          <a:p>
            <a:pPr indent="0" marL="0">
              <a:spcAft>
                <a:spcPts val="400"/>
              </a:spcAft>
              <a:buNone/>
            </a:pPr>
            <a:r>
              <a:rPr lang="en-US" sz="1400" dirty="0">
                <a:solidFill>
                  <a:srgbClr val="8E97A6"/>
                </a:solidFill>
                <a:latin typeface="Calibri" pitchFamily="34" charset="0"/>
                <a:ea typeface="Calibri" pitchFamily="34" charset="-122"/>
                <a:cs typeface="Calibri" pitchFamily="34" charset="-120"/>
              </a:rPr>
              <a:t>A genuine payment can look odd on its own, like a new payee on rent day or a long call with a plumber. A scam is easier to spot from the sequence. All 20 signals are listed in the appendix.</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3  ·  Response</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4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Three levels of response</a:t>
            </a:r>
            <a:endParaRPr lang="en-US" sz="3400" dirty="0"/>
          </a:p>
        </p:txBody>
      </p:sp>
      <p:sp>
        <p:nvSpPr>
          <p:cNvPr id="6" name="Text 4"/>
          <p:cNvSpPr txBox="1"/>
          <p:nvPr/>
        </p:nvSpPr>
        <p:spPr>
          <a:xfrm>
            <a:off x="548640" y="1325880"/>
            <a:ext cx="8686800" cy="731520"/>
          </a:xfrm>
          <a:prstGeom prst="rect">
            <a:avLst/>
          </a:prstGeom>
          <a:noFill/>
          <a:ln/>
        </p:spPr>
        <p:txBody>
          <a:bodyPr wrap="square" lIns="0" tIns="0" rIns="0" bIns="0" rtlCol="0" anchor="t"/>
          <a:lstStyle/>
          <a:p>
            <a:pPr indent="0" marL="0">
              <a:spcAft>
                <a:spcPts val="400"/>
              </a:spcAft>
              <a:buNone/>
            </a:pPr>
            <a:r>
              <a:rPr lang="en-US" sz="1600" dirty="0">
                <a:solidFill>
                  <a:srgbClr val="3A4353"/>
                </a:solidFill>
                <a:latin typeface="Calibri" pitchFamily="34" charset="0"/>
                <a:ea typeface="Calibri" pitchFamily="34" charset="-122"/>
                <a:cs typeface="Calibri" pitchFamily="34" charset="-120"/>
              </a:rPr>
              <a:t>The more stages we see, the stronger the response. The bank chooses how many alerts per 1,000 payments it will accept at each level, and we set the thresholds to match on separate test data.</a:t>
            </a:r>
            <a:endParaRPr lang="en-US" sz="1600" dirty="0"/>
          </a:p>
        </p:txBody>
      </p:sp>
      <p:sp>
        <p:nvSpPr>
          <p:cNvPr id="7" name="Shape 5"/>
          <p:cNvSpPr/>
          <p:nvPr/>
        </p:nvSpPr>
        <p:spPr>
          <a:xfrm>
            <a:off x="548640" y="2441448"/>
            <a:ext cx="502920" cy="502920"/>
          </a:xfrm>
          <a:prstGeom prst="ellipse">
            <a:avLst/>
          </a:prstGeom>
          <a:solidFill>
            <a:srgbClr val="D9DCE1"/>
          </a:solidFill>
          <a:ln w="12700">
            <a:solidFill>
              <a:srgbClr val="D9DCE1"/>
            </a:solidFill>
            <a:prstDash val="solid"/>
          </a:ln>
        </p:spPr>
      </p:sp>
      <p:sp>
        <p:nvSpPr>
          <p:cNvPr id="8" name="Text 6"/>
          <p:cNvSpPr txBox="1"/>
          <p:nvPr/>
        </p:nvSpPr>
        <p:spPr>
          <a:xfrm>
            <a:off x="548640" y="2441448"/>
            <a:ext cx="502920" cy="502920"/>
          </a:xfrm>
          <a:prstGeom prst="rect">
            <a:avLst/>
          </a:prstGeom>
          <a:noFill/>
          <a:ln/>
        </p:spPr>
        <p:txBody>
          <a:bodyPr wrap="square" lIns="0" tIns="0" rIns="0" bIns="0" rtlCol="0" anchor="ctr"/>
          <a:lstStyle/>
          <a:p>
            <a:pPr algn="ctr" indent="0" marL="0">
              <a:buNone/>
            </a:pPr>
            <a:r>
              <a:rPr lang="en-US" sz="1800" b="1" dirty="0">
                <a:solidFill>
                  <a:srgbClr val="1B2433"/>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1417320" y="2441448"/>
            <a:ext cx="2651760" cy="502920"/>
          </a:xfrm>
          <a:prstGeom prst="rect">
            <a:avLst/>
          </a:prstGeom>
          <a:noFill/>
          <a:ln/>
        </p:spPr>
        <p:txBody>
          <a:bodyPr wrap="square" lIns="0" tIns="0" rIns="0" bIns="0" rtlCol="0" anchor="ctr"/>
          <a:lstStyle/>
          <a:p>
            <a:pPr indent="0" marL="0">
              <a:buNone/>
            </a:pPr>
            <a:r>
              <a:rPr lang="en-US" sz="2400" b="1" dirty="0">
                <a:solidFill>
                  <a:srgbClr val="1B2433"/>
                </a:solidFill>
                <a:latin typeface="Cambria" pitchFamily="34" charset="0"/>
                <a:ea typeface="Cambria" pitchFamily="34" charset="-122"/>
                <a:cs typeface="Cambria" pitchFamily="34" charset="-120"/>
              </a:rPr>
              <a:t>Log it</a:t>
            </a:r>
            <a:endParaRPr lang="en-US" sz="2400" dirty="0"/>
          </a:p>
        </p:txBody>
      </p:sp>
      <p:sp>
        <p:nvSpPr>
          <p:cNvPr id="10" name="Text 8"/>
          <p:cNvSpPr txBox="1"/>
          <p:nvPr/>
        </p:nvSpPr>
        <p:spPr>
          <a:xfrm>
            <a:off x="548640" y="329184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When</a:t>
            </a:r>
            <a:endParaRPr lang="en-US" sz="1200" dirty="0"/>
          </a:p>
        </p:txBody>
      </p:sp>
      <p:sp>
        <p:nvSpPr>
          <p:cNvPr id="11" name="Text 9"/>
          <p:cNvSpPr txBox="1"/>
          <p:nvPr/>
        </p:nvSpPr>
        <p:spPr>
          <a:xfrm>
            <a:off x="548640" y="3566160"/>
            <a:ext cx="3520440" cy="5486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Score above threshold 1</a:t>
            </a:r>
            <a:endParaRPr lang="en-US" sz="1400" dirty="0"/>
          </a:p>
        </p:txBody>
      </p:sp>
      <p:sp>
        <p:nvSpPr>
          <p:cNvPr id="12" name="Text 10"/>
          <p:cNvSpPr txBox="1"/>
          <p:nvPr/>
        </p:nvSpPr>
        <p:spPr>
          <a:xfrm>
            <a:off x="548640" y="416052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Customer sees</a:t>
            </a:r>
            <a:endParaRPr lang="en-US" sz="1200" dirty="0"/>
          </a:p>
        </p:txBody>
      </p:sp>
      <p:sp>
        <p:nvSpPr>
          <p:cNvPr id="13" name="Text 11"/>
          <p:cNvSpPr txBox="1"/>
          <p:nvPr/>
        </p:nvSpPr>
        <p:spPr>
          <a:xfrm>
            <a:off x="548640" y="4434840"/>
            <a:ext cx="3520440" cy="7772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Nothing. The session goes to the bank’s fraud team for later review.</a:t>
            </a:r>
            <a:endParaRPr lang="en-US" sz="1400" dirty="0"/>
          </a:p>
        </p:txBody>
      </p:sp>
      <p:sp>
        <p:nvSpPr>
          <p:cNvPr id="14" name="Shape 12"/>
          <p:cNvSpPr/>
          <p:nvPr/>
        </p:nvSpPr>
        <p:spPr>
          <a:xfrm>
            <a:off x="548640" y="5303520"/>
            <a:ext cx="3520440" cy="0"/>
          </a:xfrm>
          <a:prstGeom prst="line">
            <a:avLst/>
          </a:prstGeom>
          <a:noFill/>
          <a:ln w="12700">
            <a:solidFill>
              <a:srgbClr val="D9DCE1"/>
            </a:solidFill>
            <a:prstDash val="solid"/>
          </a:ln>
        </p:spPr>
      </p:sp>
      <p:sp>
        <p:nvSpPr>
          <p:cNvPr id="15" name="Text 13"/>
          <p:cNvSpPr txBox="1"/>
          <p:nvPr/>
        </p:nvSpPr>
        <p:spPr>
          <a:xfrm>
            <a:off x="548640" y="5394960"/>
            <a:ext cx="1097280" cy="502920"/>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20.4</a:t>
            </a:r>
            <a:endParaRPr lang="en-US" sz="2800" dirty="0"/>
          </a:p>
        </p:txBody>
      </p:sp>
      <p:sp>
        <p:nvSpPr>
          <p:cNvPr id="16" name="Text 14"/>
          <p:cNvSpPr txBox="1"/>
          <p:nvPr/>
        </p:nvSpPr>
        <p:spPr>
          <a:xfrm>
            <a:off x="1691640" y="5458968"/>
            <a:ext cx="2377440" cy="5029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genuine sessions per 1,000</a:t>
            </a:r>
            <a:endParaRPr lang="en-US" sz="1200" dirty="0"/>
          </a:p>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measured on synthetic data (target 20)</a:t>
            </a:r>
            <a:endParaRPr lang="en-US" sz="1200" dirty="0"/>
          </a:p>
        </p:txBody>
      </p:sp>
      <p:sp>
        <p:nvSpPr>
          <p:cNvPr id="17" name="Shape 15"/>
          <p:cNvSpPr/>
          <p:nvPr/>
        </p:nvSpPr>
        <p:spPr>
          <a:xfrm>
            <a:off x="4343400" y="2386584"/>
            <a:ext cx="612648" cy="612648"/>
          </a:xfrm>
          <a:prstGeom prst="ellipse">
            <a:avLst/>
          </a:prstGeom>
          <a:solidFill>
            <a:srgbClr val="1B2433"/>
          </a:solidFill>
          <a:ln w="12700">
            <a:solidFill>
              <a:srgbClr val="1B2433"/>
            </a:solidFill>
            <a:prstDash val="solid"/>
          </a:ln>
        </p:spPr>
      </p:sp>
      <p:sp>
        <p:nvSpPr>
          <p:cNvPr id="18" name="Text 16"/>
          <p:cNvSpPr txBox="1"/>
          <p:nvPr/>
        </p:nvSpPr>
        <p:spPr>
          <a:xfrm>
            <a:off x="4343400" y="2386584"/>
            <a:ext cx="612648" cy="61264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2</a:t>
            </a:r>
            <a:endParaRPr lang="en-US" sz="2100" dirty="0"/>
          </a:p>
        </p:txBody>
      </p:sp>
      <p:sp>
        <p:nvSpPr>
          <p:cNvPr id="19" name="Text 17"/>
          <p:cNvSpPr txBox="1"/>
          <p:nvPr/>
        </p:nvSpPr>
        <p:spPr>
          <a:xfrm>
            <a:off x="5212080" y="2441448"/>
            <a:ext cx="2651760" cy="502920"/>
          </a:xfrm>
          <a:prstGeom prst="rect">
            <a:avLst/>
          </a:prstGeom>
          <a:noFill/>
          <a:ln/>
        </p:spPr>
        <p:txBody>
          <a:bodyPr wrap="square" lIns="0" tIns="0" rIns="0" bIns="0" rtlCol="0" anchor="ctr"/>
          <a:lstStyle/>
          <a:p>
            <a:pPr indent="0" marL="0">
              <a:buNone/>
            </a:pPr>
            <a:r>
              <a:rPr lang="en-US" sz="2400" b="1" dirty="0">
                <a:solidFill>
                  <a:srgbClr val="1B2433"/>
                </a:solidFill>
                <a:latin typeface="Cambria" pitchFamily="34" charset="0"/>
                <a:ea typeface="Cambria" pitchFamily="34" charset="-122"/>
                <a:cs typeface="Cambria" pitchFamily="34" charset="-120"/>
              </a:rPr>
              <a:t>Warn and ask</a:t>
            </a:r>
            <a:endParaRPr lang="en-US" sz="2400" dirty="0"/>
          </a:p>
        </p:txBody>
      </p:sp>
      <p:sp>
        <p:nvSpPr>
          <p:cNvPr id="20" name="Text 18"/>
          <p:cNvSpPr txBox="1"/>
          <p:nvPr/>
        </p:nvSpPr>
        <p:spPr>
          <a:xfrm>
            <a:off x="4343400" y="329184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When</a:t>
            </a:r>
            <a:endParaRPr lang="en-US" sz="1200" dirty="0"/>
          </a:p>
        </p:txBody>
      </p:sp>
      <p:sp>
        <p:nvSpPr>
          <p:cNvPr id="21" name="Text 19"/>
          <p:cNvSpPr txBox="1"/>
          <p:nvPr/>
        </p:nvSpPr>
        <p:spPr>
          <a:xfrm>
            <a:off x="4343400" y="3566160"/>
            <a:ext cx="3520440" cy="5486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Score above threshold 2, and at least 2 stages active</a:t>
            </a:r>
            <a:endParaRPr lang="en-US" sz="1400" dirty="0"/>
          </a:p>
        </p:txBody>
      </p:sp>
      <p:sp>
        <p:nvSpPr>
          <p:cNvPr id="22" name="Text 20"/>
          <p:cNvSpPr txBox="1"/>
          <p:nvPr/>
        </p:nvSpPr>
        <p:spPr>
          <a:xfrm>
            <a:off x="4343400" y="416052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Customer sees</a:t>
            </a:r>
            <a:endParaRPr lang="en-US" sz="1200" dirty="0"/>
          </a:p>
        </p:txBody>
      </p:sp>
      <p:sp>
        <p:nvSpPr>
          <p:cNvPr id="23" name="Text 21"/>
          <p:cNvSpPr txBox="1"/>
          <p:nvPr/>
        </p:nvSpPr>
        <p:spPr>
          <a:xfrm>
            <a:off x="4343400" y="4434840"/>
            <a:ext cx="3520440" cy="7772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A warning that names the likely scam, and two questions. The customer can still pay.</a:t>
            </a:r>
            <a:endParaRPr lang="en-US" sz="1400" dirty="0"/>
          </a:p>
        </p:txBody>
      </p:sp>
      <p:sp>
        <p:nvSpPr>
          <p:cNvPr id="24" name="Shape 22"/>
          <p:cNvSpPr/>
          <p:nvPr/>
        </p:nvSpPr>
        <p:spPr>
          <a:xfrm>
            <a:off x="4343400" y="5303520"/>
            <a:ext cx="3520440" cy="0"/>
          </a:xfrm>
          <a:prstGeom prst="line">
            <a:avLst/>
          </a:prstGeom>
          <a:noFill/>
          <a:ln w="12700">
            <a:solidFill>
              <a:srgbClr val="D9DCE1"/>
            </a:solidFill>
            <a:prstDash val="solid"/>
          </a:ln>
        </p:spPr>
      </p:sp>
      <p:sp>
        <p:nvSpPr>
          <p:cNvPr id="25" name="Text 23"/>
          <p:cNvSpPr txBox="1"/>
          <p:nvPr/>
        </p:nvSpPr>
        <p:spPr>
          <a:xfrm>
            <a:off x="4343400" y="5394960"/>
            <a:ext cx="1097280" cy="502920"/>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2.77</a:t>
            </a:r>
            <a:endParaRPr lang="en-US" sz="2800" dirty="0"/>
          </a:p>
        </p:txBody>
      </p:sp>
      <p:sp>
        <p:nvSpPr>
          <p:cNvPr id="26" name="Text 24"/>
          <p:cNvSpPr txBox="1"/>
          <p:nvPr/>
        </p:nvSpPr>
        <p:spPr>
          <a:xfrm>
            <a:off x="5486400" y="5458968"/>
            <a:ext cx="2377440" cy="5029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genuine sessions per 1,000</a:t>
            </a:r>
            <a:endParaRPr lang="en-US" sz="1200" dirty="0"/>
          </a:p>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measured on synthetic data (target 3)</a:t>
            </a:r>
            <a:endParaRPr lang="en-US" sz="1200" dirty="0"/>
          </a:p>
        </p:txBody>
      </p:sp>
      <p:sp>
        <p:nvSpPr>
          <p:cNvPr id="27" name="Shape 25"/>
          <p:cNvSpPr/>
          <p:nvPr/>
        </p:nvSpPr>
        <p:spPr>
          <a:xfrm>
            <a:off x="8138160" y="2331720"/>
            <a:ext cx="722376" cy="722376"/>
          </a:xfrm>
          <a:prstGeom prst="ellipse">
            <a:avLst/>
          </a:prstGeom>
          <a:solidFill>
            <a:srgbClr val="D9480F"/>
          </a:solidFill>
          <a:ln w="12700">
            <a:solidFill>
              <a:srgbClr val="D9480F"/>
            </a:solidFill>
            <a:prstDash val="solid"/>
          </a:ln>
        </p:spPr>
      </p:sp>
      <p:sp>
        <p:nvSpPr>
          <p:cNvPr id="28" name="Text 26"/>
          <p:cNvSpPr txBox="1"/>
          <p:nvPr/>
        </p:nvSpPr>
        <p:spPr>
          <a:xfrm>
            <a:off x="8138160" y="2331720"/>
            <a:ext cx="722376" cy="72237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9" name="Text 27"/>
          <p:cNvSpPr txBox="1"/>
          <p:nvPr/>
        </p:nvSpPr>
        <p:spPr>
          <a:xfrm>
            <a:off x="9006840" y="2441448"/>
            <a:ext cx="2651760" cy="502920"/>
          </a:xfrm>
          <a:prstGeom prst="rect">
            <a:avLst/>
          </a:prstGeom>
          <a:noFill/>
          <a:ln/>
        </p:spPr>
        <p:txBody>
          <a:bodyPr wrap="square" lIns="0" tIns="0" rIns="0" bIns="0" rtlCol="0" anchor="ctr"/>
          <a:lstStyle/>
          <a:p>
            <a:pPr indent="0" marL="0">
              <a:buNone/>
            </a:pPr>
            <a:r>
              <a:rPr lang="en-US" sz="2400" b="1" dirty="0">
                <a:solidFill>
                  <a:srgbClr val="D9480F"/>
                </a:solidFill>
                <a:latin typeface="Cambria" pitchFamily="34" charset="0"/>
                <a:ea typeface="Cambria" pitchFamily="34" charset="-122"/>
                <a:cs typeface="Cambria" pitchFamily="34" charset="-120"/>
              </a:rPr>
              <a:t>Hold and review</a:t>
            </a:r>
            <a:endParaRPr lang="en-US" sz="2400" dirty="0"/>
          </a:p>
        </p:txBody>
      </p:sp>
      <p:sp>
        <p:nvSpPr>
          <p:cNvPr id="30" name="Text 28"/>
          <p:cNvSpPr txBox="1"/>
          <p:nvPr/>
        </p:nvSpPr>
        <p:spPr>
          <a:xfrm>
            <a:off x="8138160" y="329184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When</a:t>
            </a:r>
            <a:endParaRPr lang="en-US" sz="1200" dirty="0"/>
          </a:p>
        </p:txBody>
      </p:sp>
      <p:sp>
        <p:nvSpPr>
          <p:cNvPr id="31" name="Text 29"/>
          <p:cNvSpPr txBox="1"/>
          <p:nvPr/>
        </p:nvSpPr>
        <p:spPr>
          <a:xfrm>
            <a:off x="8138160" y="3566160"/>
            <a:ext cx="3520440" cy="5486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Score above threshold 3, and 3 stages (or 2 plus a suspect-list match)</a:t>
            </a:r>
            <a:endParaRPr lang="en-US" sz="1400" dirty="0"/>
          </a:p>
        </p:txBody>
      </p:sp>
      <p:sp>
        <p:nvSpPr>
          <p:cNvPr id="32" name="Text 30"/>
          <p:cNvSpPr txBox="1"/>
          <p:nvPr/>
        </p:nvSpPr>
        <p:spPr>
          <a:xfrm>
            <a:off x="8138160" y="4160520"/>
            <a:ext cx="3520440" cy="274320"/>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Customer sees</a:t>
            </a:r>
            <a:endParaRPr lang="en-US" sz="1200" dirty="0"/>
          </a:p>
        </p:txBody>
      </p:sp>
      <p:sp>
        <p:nvSpPr>
          <p:cNvPr id="33" name="Text 31"/>
          <p:cNvSpPr txBox="1"/>
          <p:nvPr/>
        </p:nvSpPr>
        <p:spPr>
          <a:xfrm>
            <a:off x="8138160" y="4434840"/>
            <a:ext cx="3520440" cy="7772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The payment is held for up to 30 minutes and a bank agent calls. Two staff must approve a release.</a:t>
            </a:r>
            <a:endParaRPr lang="en-US" sz="1400" dirty="0"/>
          </a:p>
        </p:txBody>
      </p:sp>
      <p:sp>
        <p:nvSpPr>
          <p:cNvPr id="34" name="Shape 32"/>
          <p:cNvSpPr/>
          <p:nvPr/>
        </p:nvSpPr>
        <p:spPr>
          <a:xfrm>
            <a:off x="8138160" y="5303520"/>
            <a:ext cx="3520440" cy="0"/>
          </a:xfrm>
          <a:prstGeom prst="line">
            <a:avLst/>
          </a:prstGeom>
          <a:noFill/>
          <a:ln w="12700">
            <a:solidFill>
              <a:srgbClr val="D9DCE1"/>
            </a:solidFill>
            <a:prstDash val="solid"/>
          </a:ln>
        </p:spPr>
      </p:sp>
      <p:sp>
        <p:nvSpPr>
          <p:cNvPr id="35" name="Text 33"/>
          <p:cNvSpPr txBox="1"/>
          <p:nvPr/>
        </p:nvSpPr>
        <p:spPr>
          <a:xfrm>
            <a:off x="8138160" y="5394960"/>
            <a:ext cx="1097280" cy="502920"/>
          </a:xfrm>
          <a:prstGeom prst="rect">
            <a:avLst/>
          </a:prstGeom>
          <a:noFill/>
          <a:ln/>
        </p:spPr>
        <p:txBody>
          <a:bodyPr wrap="square" lIns="0" tIns="0" rIns="0" bIns="0" rtlCol="0" anchor="ctr"/>
          <a:lstStyle/>
          <a:p>
            <a:pPr indent="0" marL="0">
              <a:buNone/>
            </a:pPr>
            <a:r>
              <a:rPr lang="en-US" sz="2800" b="1" dirty="0">
                <a:solidFill>
                  <a:srgbClr val="1B2433"/>
                </a:solidFill>
                <a:latin typeface="Cambria" pitchFamily="34" charset="0"/>
                <a:ea typeface="Cambria" pitchFamily="34" charset="-122"/>
                <a:cs typeface="Cambria" pitchFamily="34" charset="-120"/>
              </a:rPr>
              <a:t>0.07</a:t>
            </a:r>
            <a:endParaRPr lang="en-US" sz="2800" dirty="0"/>
          </a:p>
        </p:txBody>
      </p:sp>
      <p:sp>
        <p:nvSpPr>
          <p:cNvPr id="36" name="Text 34"/>
          <p:cNvSpPr txBox="1"/>
          <p:nvPr/>
        </p:nvSpPr>
        <p:spPr>
          <a:xfrm>
            <a:off x="9281160" y="5458968"/>
            <a:ext cx="2377440" cy="5029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genuine sessions per 1,000</a:t>
            </a:r>
            <a:endParaRPr lang="en-US" sz="1200" dirty="0"/>
          </a:p>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measured on synthetic data (target 0.5)</a:t>
            </a:r>
            <a:endParaRPr lang="en-US" sz="1200" dirty="0"/>
          </a:p>
        </p:txBody>
      </p:sp>
      <p:sp>
        <p:nvSpPr>
          <p:cNvPr id="37" name="Text 35"/>
          <p:cNvSpPr txBox="1"/>
          <p:nvPr/>
        </p:nvSpPr>
        <p:spPr>
          <a:xfrm>
            <a:off x="548640" y="6217920"/>
            <a:ext cx="8229600" cy="320040"/>
          </a:xfrm>
          <a:prstGeom prst="rect">
            <a:avLst/>
          </a:prstGeom>
          <a:noFill/>
          <a:ln/>
        </p:spPr>
        <p:txBody>
          <a:bodyPr wrap="square" lIns="0" tIns="0" rIns="0" bIns="0" rtlCol="0" anchor="ctr"/>
          <a:lstStyle/>
          <a:p>
            <a:pPr indent="0" marL="0">
              <a:buNone/>
            </a:pPr>
            <a:r>
              <a:rPr lang="en-US" sz="1600" i="1" dirty="0">
                <a:solidFill>
                  <a:srgbClr val="1B2433"/>
                </a:solidFill>
                <a:latin typeface="Cambria" pitchFamily="34" charset="0"/>
                <a:ea typeface="Cambria" pitchFamily="34" charset="-122"/>
                <a:cs typeface="Cambria" pitchFamily="34" charset="-120"/>
              </a:rPr>
              <a:t>Nothing is blocked permanently. A person decides every hold.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4  ·  Example</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5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Example: Mrs R., 68</a:t>
            </a:r>
            <a:endParaRPr lang="en-US" sz="3400" dirty="0"/>
          </a:p>
        </p:txBody>
      </p:sp>
      <p:sp>
        <p:nvSpPr>
          <p:cNvPr id="6" name="Text 4"/>
          <p:cNvSpPr txBox="1"/>
          <p:nvPr/>
        </p:nvSpPr>
        <p:spPr>
          <a:xfrm>
            <a:off x="548640" y="1261872"/>
            <a:ext cx="7315200" cy="320040"/>
          </a:xfrm>
          <a:prstGeom prst="rect">
            <a:avLst/>
          </a:prstGeom>
          <a:noFill/>
          <a:ln/>
        </p:spPr>
        <p:txBody>
          <a:bodyPr wrap="square" lIns="0" tIns="0" rIns="0" bIns="0" rtlCol="0" anchor="ctr"/>
          <a:lstStyle/>
          <a:p>
            <a:pPr indent="0" marL="0">
              <a:buNone/>
            </a:pPr>
            <a:r>
              <a:rPr lang="en-US" sz="1400" i="1" dirty="0">
                <a:solidFill>
                  <a:srgbClr val="6E747E"/>
                </a:solidFill>
                <a:latin typeface="Calibri" pitchFamily="34" charset="0"/>
                <a:ea typeface="Calibri" pitchFamily="34" charset="-122"/>
                <a:cs typeface="Calibri" pitchFamily="34" charset="-120"/>
              </a:rPr>
              <a:t>A made-up case based on reported digital-arrest scams.</a:t>
            </a:r>
            <a:endParaRPr lang="en-US" sz="1400" dirty="0"/>
          </a:p>
        </p:txBody>
      </p:sp>
      <p:sp>
        <p:nvSpPr>
          <p:cNvPr id="7" name="Shape 5"/>
          <p:cNvSpPr/>
          <p:nvPr/>
        </p:nvSpPr>
        <p:spPr>
          <a:xfrm>
            <a:off x="640080" y="2011680"/>
            <a:ext cx="6629400" cy="0"/>
          </a:xfrm>
          <a:prstGeom prst="line">
            <a:avLst/>
          </a:prstGeom>
          <a:noFill/>
          <a:ln w="15875">
            <a:solidFill>
              <a:srgbClr val="3A4353"/>
            </a:solidFill>
            <a:prstDash val="solid"/>
          </a:ln>
        </p:spPr>
      </p:sp>
      <p:sp>
        <p:nvSpPr>
          <p:cNvPr id="8" name="Shape 6"/>
          <p:cNvSpPr/>
          <p:nvPr/>
        </p:nvSpPr>
        <p:spPr>
          <a:xfrm>
            <a:off x="548640" y="1920240"/>
            <a:ext cx="182880" cy="182880"/>
          </a:xfrm>
          <a:prstGeom prst="ellipse">
            <a:avLst/>
          </a:prstGeom>
          <a:solidFill>
            <a:srgbClr val="FFFFFF"/>
          </a:solidFill>
          <a:ln w="19050">
            <a:solidFill>
              <a:srgbClr val="3A4353"/>
            </a:solidFill>
            <a:prstDash val="solid"/>
          </a:ln>
        </p:spPr>
      </p:sp>
      <p:sp>
        <p:nvSpPr>
          <p:cNvPr id="9" name="Text 7"/>
          <p:cNvSpPr txBox="1"/>
          <p:nvPr/>
        </p:nvSpPr>
        <p:spPr>
          <a:xfrm>
            <a:off x="548640" y="2240280"/>
            <a:ext cx="1234440" cy="5486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Fake CBI video call</a:t>
            </a:r>
            <a:endParaRPr lang="en-US" sz="1400" dirty="0"/>
          </a:p>
        </p:txBody>
      </p:sp>
      <p:sp>
        <p:nvSpPr>
          <p:cNvPr id="10" name="Text 8"/>
          <p:cNvSpPr txBox="1"/>
          <p:nvPr/>
        </p:nvSpPr>
        <p:spPr>
          <a:xfrm>
            <a:off x="54864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contact</a:t>
            </a:r>
            <a:endParaRPr lang="en-US" sz="1200" dirty="0"/>
          </a:p>
        </p:txBody>
      </p:sp>
      <p:sp>
        <p:nvSpPr>
          <p:cNvPr id="11" name="Shape 9"/>
          <p:cNvSpPr/>
          <p:nvPr/>
        </p:nvSpPr>
        <p:spPr>
          <a:xfrm>
            <a:off x="1874520" y="1920240"/>
            <a:ext cx="182880" cy="182880"/>
          </a:xfrm>
          <a:prstGeom prst="ellipse">
            <a:avLst/>
          </a:prstGeom>
          <a:solidFill>
            <a:srgbClr val="FFFFFF"/>
          </a:solidFill>
          <a:ln w="19050">
            <a:solidFill>
              <a:srgbClr val="3A4353"/>
            </a:solidFill>
            <a:prstDash val="solid"/>
          </a:ln>
        </p:spPr>
      </p:sp>
      <p:sp>
        <p:nvSpPr>
          <p:cNvPr id="12" name="Text 10"/>
          <p:cNvSpPr txBox="1"/>
          <p:nvPr/>
        </p:nvSpPr>
        <p:spPr>
          <a:xfrm>
            <a:off x="1874520" y="2240280"/>
            <a:ext cx="1234440" cy="5486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Remote-access app</a:t>
            </a:r>
            <a:endParaRPr lang="en-US" sz="1400" dirty="0"/>
          </a:p>
        </p:txBody>
      </p:sp>
      <p:sp>
        <p:nvSpPr>
          <p:cNvPr id="13" name="Text 11"/>
          <p:cNvSpPr txBox="1"/>
          <p:nvPr/>
        </p:nvSpPr>
        <p:spPr>
          <a:xfrm>
            <a:off x="187452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control</a:t>
            </a:r>
            <a:endParaRPr lang="en-US" sz="1200" dirty="0"/>
          </a:p>
        </p:txBody>
      </p:sp>
      <p:sp>
        <p:nvSpPr>
          <p:cNvPr id="14" name="Shape 12"/>
          <p:cNvSpPr/>
          <p:nvPr/>
        </p:nvSpPr>
        <p:spPr>
          <a:xfrm>
            <a:off x="3200400" y="1920240"/>
            <a:ext cx="182880" cy="182880"/>
          </a:xfrm>
          <a:prstGeom prst="ellipse">
            <a:avLst/>
          </a:prstGeom>
          <a:solidFill>
            <a:srgbClr val="FFFFFF"/>
          </a:solidFill>
          <a:ln w="19050">
            <a:solidFill>
              <a:srgbClr val="3A4353"/>
            </a:solidFill>
            <a:prstDash val="solid"/>
          </a:ln>
        </p:spPr>
      </p:sp>
      <p:sp>
        <p:nvSpPr>
          <p:cNvPr id="15" name="Text 13"/>
          <p:cNvSpPr txBox="1"/>
          <p:nvPr/>
        </p:nvSpPr>
        <p:spPr>
          <a:xfrm>
            <a:off x="3200400" y="2240280"/>
            <a:ext cx="1234440" cy="5486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FD broken</a:t>
            </a:r>
            <a:endParaRPr lang="en-US" sz="1400" dirty="0"/>
          </a:p>
        </p:txBody>
      </p:sp>
      <p:sp>
        <p:nvSpPr>
          <p:cNvPr id="16" name="Text 14"/>
          <p:cNvSpPr txBox="1"/>
          <p:nvPr/>
        </p:nvSpPr>
        <p:spPr>
          <a:xfrm>
            <a:off x="320040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extraction</a:t>
            </a:r>
            <a:endParaRPr lang="en-US" sz="1200" dirty="0"/>
          </a:p>
        </p:txBody>
      </p:sp>
      <p:sp>
        <p:nvSpPr>
          <p:cNvPr id="17" name="Shape 15"/>
          <p:cNvSpPr/>
          <p:nvPr/>
        </p:nvSpPr>
        <p:spPr>
          <a:xfrm>
            <a:off x="4526280" y="1920240"/>
            <a:ext cx="182880" cy="182880"/>
          </a:xfrm>
          <a:prstGeom prst="ellipse">
            <a:avLst/>
          </a:prstGeom>
          <a:solidFill>
            <a:srgbClr val="FFFFFF"/>
          </a:solidFill>
          <a:ln w="19050">
            <a:solidFill>
              <a:srgbClr val="3A4353"/>
            </a:solidFill>
            <a:prstDash val="solid"/>
          </a:ln>
        </p:spPr>
      </p:sp>
      <p:sp>
        <p:nvSpPr>
          <p:cNvPr id="18" name="Text 16"/>
          <p:cNvSpPr txBox="1"/>
          <p:nvPr/>
        </p:nvSpPr>
        <p:spPr>
          <a:xfrm>
            <a:off x="4526280" y="2240280"/>
            <a:ext cx="1234440" cy="5486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First-time payee</a:t>
            </a:r>
            <a:endParaRPr lang="en-US" sz="1400" dirty="0"/>
          </a:p>
        </p:txBody>
      </p:sp>
      <p:sp>
        <p:nvSpPr>
          <p:cNvPr id="19" name="Text 17"/>
          <p:cNvSpPr txBox="1"/>
          <p:nvPr/>
        </p:nvSpPr>
        <p:spPr>
          <a:xfrm>
            <a:off x="452628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extraction</a:t>
            </a:r>
            <a:endParaRPr lang="en-US" sz="1200" dirty="0"/>
          </a:p>
        </p:txBody>
      </p:sp>
      <p:sp>
        <p:nvSpPr>
          <p:cNvPr id="20" name="Shape 18"/>
          <p:cNvSpPr/>
          <p:nvPr/>
        </p:nvSpPr>
        <p:spPr>
          <a:xfrm>
            <a:off x="5852160" y="1920240"/>
            <a:ext cx="182880" cy="182880"/>
          </a:xfrm>
          <a:prstGeom prst="ellipse">
            <a:avLst/>
          </a:prstGeom>
          <a:solidFill>
            <a:srgbClr val="FFFFFF"/>
          </a:solidFill>
          <a:ln w="19050">
            <a:solidFill>
              <a:srgbClr val="3A4353"/>
            </a:solidFill>
            <a:prstDash val="solid"/>
          </a:ln>
        </p:spPr>
      </p:sp>
      <p:sp>
        <p:nvSpPr>
          <p:cNvPr id="21" name="Text 19"/>
          <p:cNvSpPr txBox="1"/>
          <p:nvPr/>
        </p:nvSpPr>
        <p:spPr>
          <a:xfrm>
            <a:off x="5852160" y="2240280"/>
            <a:ext cx="1234440" cy="5486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Mule-like account</a:t>
            </a:r>
            <a:endParaRPr lang="en-US" sz="1400" dirty="0"/>
          </a:p>
        </p:txBody>
      </p:sp>
      <p:sp>
        <p:nvSpPr>
          <p:cNvPr id="22" name="Text 20"/>
          <p:cNvSpPr txBox="1"/>
          <p:nvPr/>
        </p:nvSpPr>
        <p:spPr>
          <a:xfrm>
            <a:off x="585216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cash-out</a:t>
            </a:r>
            <a:endParaRPr lang="en-US" sz="1200" dirty="0"/>
          </a:p>
        </p:txBody>
      </p:sp>
      <p:sp>
        <p:nvSpPr>
          <p:cNvPr id="23" name="Shape 21"/>
          <p:cNvSpPr/>
          <p:nvPr/>
        </p:nvSpPr>
        <p:spPr>
          <a:xfrm>
            <a:off x="7178040" y="1920240"/>
            <a:ext cx="182880" cy="182880"/>
          </a:xfrm>
          <a:prstGeom prst="ellipse">
            <a:avLst/>
          </a:prstGeom>
          <a:solidFill>
            <a:srgbClr val="D9480F"/>
          </a:solidFill>
          <a:ln w="19050">
            <a:solidFill>
              <a:srgbClr val="D9480F"/>
            </a:solidFill>
            <a:prstDash val="solid"/>
          </a:ln>
        </p:spPr>
      </p:sp>
      <p:sp>
        <p:nvSpPr>
          <p:cNvPr id="24" name="Text 22"/>
          <p:cNvSpPr txBox="1"/>
          <p:nvPr/>
        </p:nvSpPr>
        <p:spPr>
          <a:xfrm>
            <a:off x="7178040" y="2240280"/>
            <a:ext cx="1234440" cy="54864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₹2,50,000 payment</a:t>
            </a:r>
            <a:endParaRPr lang="en-US" sz="1400" dirty="0"/>
          </a:p>
        </p:txBody>
      </p:sp>
      <p:sp>
        <p:nvSpPr>
          <p:cNvPr id="25" name="Text 23"/>
          <p:cNvSpPr txBox="1"/>
          <p:nvPr/>
        </p:nvSpPr>
        <p:spPr>
          <a:xfrm>
            <a:off x="7178040" y="2788920"/>
            <a:ext cx="1234440" cy="274320"/>
          </a:xfrm>
          <a:prstGeom prst="rect">
            <a:avLst/>
          </a:prstGeom>
          <a:noFill/>
          <a:ln/>
        </p:spPr>
        <p:txBody>
          <a:bodyPr wrap="square" lIns="0" tIns="0" rIns="0" bIns="0" rtlCol="0" anchor="ctr"/>
          <a:lstStyle/>
          <a:p>
            <a:pPr indent="0" marL="0">
              <a:buNone/>
            </a:pPr>
            <a:r>
              <a:rPr lang="en-US" sz="1200" dirty="0">
                <a:solidFill>
                  <a:srgbClr val="6E747E"/>
                </a:solidFill>
                <a:latin typeface="Calibri" pitchFamily="34" charset="0"/>
                <a:ea typeface="Calibri" pitchFamily="34" charset="-122"/>
                <a:cs typeface="Calibri" pitchFamily="34" charset="-120"/>
              </a:rPr>
              <a:t>payment</a:t>
            </a:r>
            <a:endParaRPr lang="en-US" sz="1200" dirty="0"/>
          </a:p>
        </p:txBody>
      </p:sp>
      <p:sp>
        <p:nvSpPr>
          <p:cNvPr id="26" name="Text 24"/>
          <p:cNvSpPr txBox="1"/>
          <p:nvPr/>
        </p:nvSpPr>
        <p:spPr>
          <a:xfrm>
            <a:off x="548640" y="3429000"/>
            <a:ext cx="3566160" cy="274320"/>
          </a:xfrm>
          <a:prstGeom prst="rect">
            <a:avLst/>
          </a:prstGeom>
          <a:noFill/>
          <a:ln/>
        </p:spPr>
        <p:txBody>
          <a:bodyPr wrap="square" lIns="0" tIns="0" rIns="0" bIns="0" rtlCol="0" anchor="ctr"/>
          <a:lstStyle/>
          <a:p>
            <a:pPr indent="0" marL="0">
              <a:buNone/>
            </a:pPr>
            <a:r>
              <a:rPr lang="en-US" sz="1300" b="1" dirty="0">
                <a:solidFill>
                  <a:srgbClr val="6E747E"/>
                </a:solidFill>
                <a:latin typeface="Calibri" pitchFamily="34" charset="0"/>
                <a:ea typeface="Calibri" pitchFamily="34" charset="-122"/>
                <a:cs typeface="Calibri" pitchFamily="34" charset="-120"/>
              </a:rPr>
              <a:t>Today</a:t>
            </a:r>
            <a:endParaRPr lang="en-US" sz="1300" dirty="0"/>
          </a:p>
        </p:txBody>
      </p:sp>
      <p:sp>
        <p:nvSpPr>
          <p:cNvPr id="27" name="Text 25"/>
          <p:cNvSpPr txBox="1"/>
          <p:nvPr/>
        </p:nvSpPr>
        <p:spPr>
          <a:xfrm>
            <a:off x="548640" y="3703320"/>
            <a:ext cx="3566160" cy="502920"/>
          </a:xfrm>
          <a:prstGeom prst="rect">
            <a:avLst/>
          </a:prstGeom>
          <a:noFill/>
          <a:ln/>
        </p:spPr>
        <p:txBody>
          <a:bodyPr wrap="square" lIns="0" tIns="0" rIns="0" bIns="0" rtlCol="0" anchor="ctr"/>
          <a:lstStyle/>
          <a:p>
            <a:pPr indent="0" marL="0">
              <a:buNone/>
            </a:pPr>
            <a:r>
              <a:rPr lang="en-US" sz="2400" b="1" dirty="0">
                <a:solidFill>
                  <a:srgbClr val="1B2433"/>
                </a:solidFill>
                <a:latin typeface="Cambria" pitchFamily="34" charset="0"/>
                <a:ea typeface="Cambria" pitchFamily="34" charset="-122"/>
                <a:cs typeface="Cambria" pitchFamily="34" charset="-120"/>
              </a:rPr>
              <a:t>The money is gone.</a:t>
            </a:r>
            <a:endParaRPr lang="en-US" sz="2400" dirty="0"/>
          </a:p>
        </p:txBody>
      </p:sp>
      <p:sp>
        <p:nvSpPr>
          <p:cNvPr id="28" name="Text 26"/>
          <p:cNvSpPr txBox="1"/>
          <p:nvPr/>
        </p:nvSpPr>
        <p:spPr>
          <a:xfrm>
            <a:off x="548640" y="4297680"/>
            <a:ext cx="3383280" cy="1280160"/>
          </a:xfrm>
          <a:prstGeom prst="rect">
            <a:avLst/>
          </a:prstGeom>
          <a:noFill/>
          <a:ln/>
        </p:spPr>
        <p:txBody>
          <a:bodyPr wrap="square" lIns="0" tIns="0" rIns="0" bIns="0" rtlCol="0" anchor="t"/>
          <a:lstStyle/>
          <a:p>
            <a:pPr indent="0" marL="0">
              <a:spcAft>
                <a:spcPts val="400"/>
              </a:spcAft>
              <a:buNone/>
            </a:pPr>
            <a:r>
              <a:rPr lang="en-US" sz="1500" dirty="0">
                <a:solidFill>
                  <a:srgbClr val="3A4353"/>
                </a:solidFill>
                <a:latin typeface="Calibri" pitchFamily="34" charset="0"/>
                <a:ea typeface="Calibri" pitchFamily="34" charset="-122"/>
                <a:cs typeface="Calibri" pitchFamily="34" charset="-120"/>
              </a:rPr>
              <a:t>A “new payee and high amount” rule shows a general warning. The caller tells her to ignore it and she pays. The money goes to a mule account and moves on within hours.</a:t>
            </a:r>
            <a:endParaRPr lang="en-US" sz="1500" dirty="0"/>
          </a:p>
        </p:txBody>
      </p:sp>
      <p:sp>
        <p:nvSpPr>
          <p:cNvPr id="29" name="Shape 27"/>
          <p:cNvSpPr/>
          <p:nvPr/>
        </p:nvSpPr>
        <p:spPr>
          <a:xfrm>
            <a:off x="4206240" y="3246120"/>
            <a:ext cx="3840480" cy="2514600"/>
          </a:xfrm>
          <a:prstGeom prst="rect">
            <a:avLst/>
          </a:prstGeom>
          <a:solidFill>
            <a:srgbClr val="FDF1EA"/>
          </a:solidFill>
          <a:ln w="12700">
            <a:solidFill>
              <a:srgbClr val="FDF1EA"/>
            </a:solidFill>
            <a:prstDash val="solid"/>
          </a:ln>
        </p:spPr>
      </p:sp>
      <p:sp>
        <p:nvSpPr>
          <p:cNvPr id="30" name="Text 28"/>
          <p:cNvSpPr txBox="1"/>
          <p:nvPr/>
        </p:nvSpPr>
        <p:spPr>
          <a:xfrm>
            <a:off x="4389120" y="3429000"/>
            <a:ext cx="3566160" cy="274320"/>
          </a:xfrm>
          <a:prstGeom prst="rect">
            <a:avLst/>
          </a:prstGeom>
          <a:noFill/>
          <a:ln/>
        </p:spPr>
        <p:txBody>
          <a:bodyPr wrap="square" lIns="0" tIns="0" rIns="0" bIns="0" rtlCol="0" anchor="ctr"/>
          <a:lstStyle/>
          <a:p>
            <a:pPr indent="0" marL="0">
              <a:buNone/>
            </a:pPr>
            <a:r>
              <a:rPr lang="en-US" sz="1300" b="1" dirty="0">
                <a:solidFill>
                  <a:srgbClr val="D9480F"/>
                </a:solidFill>
                <a:latin typeface="Calibri" pitchFamily="34" charset="0"/>
                <a:ea typeface="Calibri" pitchFamily="34" charset="-122"/>
                <a:cs typeface="Calibri" pitchFamily="34" charset="-120"/>
              </a:rPr>
              <a:t>With Chakravyuh</a:t>
            </a:r>
            <a:endParaRPr lang="en-US" sz="1300" dirty="0"/>
          </a:p>
        </p:txBody>
      </p:sp>
      <p:sp>
        <p:nvSpPr>
          <p:cNvPr id="31" name="Text 29"/>
          <p:cNvSpPr txBox="1"/>
          <p:nvPr/>
        </p:nvSpPr>
        <p:spPr>
          <a:xfrm>
            <a:off x="4389120" y="3703320"/>
            <a:ext cx="3566160" cy="502920"/>
          </a:xfrm>
          <a:prstGeom prst="rect">
            <a:avLst/>
          </a:prstGeom>
          <a:noFill/>
          <a:ln/>
        </p:spPr>
        <p:txBody>
          <a:bodyPr wrap="square" lIns="0" tIns="0" rIns="0" bIns="0" rtlCol="0" anchor="ctr"/>
          <a:lstStyle/>
          <a:p>
            <a:pPr indent="0" marL="0">
              <a:buNone/>
            </a:pPr>
            <a:r>
              <a:rPr lang="en-US" sz="2400" b="1" dirty="0">
                <a:solidFill>
                  <a:srgbClr val="D9480F"/>
                </a:solidFill>
                <a:latin typeface="Cambria" pitchFamily="34" charset="0"/>
                <a:ea typeface="Cambria" pitchFamily="34" charset="-122"/>
                <a:cs typeface="Cambria" pitchFamily="34" charset="-120"/>
              </a:rPr>
              <a:t>The payment is held.</a:t>
            </a:r>
            <a:endParaRPr lang="en-US" sz="2400" dirty="0"/>
          </a:p>
        </p:txBody>
      </p:sp>
      <p:sp>
        <p:nvSpPr>
          <p:cNvPr id="32" name="Text 30"/>
          <p:cNvSpPr txBox="1"/>
          <p:nvPr/>
        </p:nvSpPr>
        <p:spPr>
          <a:xfrm>
            <a:off x="4389120" y="4297680"/>
            <a:ext cx="3383280" cy="1280160"/>
          </a:xfrm>
          <a:prstGeom prst="rect">
            <a:avLst/>
          </a:prstGeom>
          <a:noFill/>
          <a:ln/>
        </p:spPr>
        <p:txBody>
          <a:bodyPr wrap="square" lIns="0" tIns="0" rIns="0" bIns="0" rtlCol="0" anchor="t"/>
          <a:lstStyle/>
          <a:p>
            <a:pPr indent="0" marL="0">
              <a:spcAft>
                <a:spcPts val="400"/>
              </a:spcAft>
              <a:buNone/>
            </a:pPr>
            <a:r>
              <a:rPr lang="en-US" sz="1500" dirty="0">
                <a:solidFill>
                  <a:srgbClr val="3A4353"/>
                </a:solidFill>
                <a:latin typeface="Calibri" pitchFamily="34" charset="0"/>
                <a:ea typeface="Calibri" pitchFamily="34" charset="-122"/>
                <a:cs typeface="Calibri" pitchFamily="34" charset="-120"/>
              </a:rPr>
              <a:t>All four stages show up, so it goes to level 3. The screen tells her real officials never ask for money on a call, and a bank agent calls her before anything is released.</a:t>
            </a:r>
            <a:endParaRPr lang="en-US" sz="1500" dirty="0"/>
          </a:p>
        </p:txBody>
      </p:sp>
      <p:pic>
        <p:nvPicPr>
          <p:cNvPr id="33" name="Image 0" descr="Level 2: warn and ask screen mock-up">    </p:cNvPr>
          <p:cNvPicPr>
            <a:picLocks noChangeAspect="1"/>
          </p:cNvPicPr>
          <p:nvPr/>
        </p:nvPicPr>
        <p:blipFill>
          <a:blip r:embed="rId1"/>
          <a:stretch>
            <a:fillRect/>
          </a:stretch>
        </p:blipFill>
        <p:spPr>
          <a:xfrm>
            <a:off x="8229600" y="1188720"/>
            <a:ext cx="1645920" cy="3401568"/>
          </a:xfrm>
          <a:prstGeom prst="rect">
            <a:avLst/>
          </a:prstGeom>
        </p:spPr>
      </p:pic>
      <p:sp>
        <p:nvSpPr>
          <p:cNvPr id="34" name="Text 31"/>
          <p:cNvSpPr txBox="1"/>
          <p:nvPr/>
        </p:nvSpPr>
        <p:spPr>
          <a:xfrm>
            <a:off x="8138160" y="4681728"/>
            <a:ext cx="1828800" cy="274320"/>
          </a:xfrm>
          <a:prstGeom prst="rect">
            <a:avLst/>
          </a:prstGeom>
          <a:noFill/>
          <a:ln/>
        </p:spPr>
        <p:txBody>
          <a:bodyPr wrap="square" lIns="0" tIns="0" rIns="0" bIns="0" rtlCol="0" anchor="ctr"/>
          <a:lstStyle/>
          <a:p>
            <a:pPr algn="ctr" indent="0" marL="0">
              <a:buNone/>
            </a:pPr>
            <a:r>
              <a:rPr lang="en-US" sz="1100" dirty="0">
                <a:solidFill>
                  <a:srgbClr val="6E747E"/>
                </a:solidFill>
                <a:latin typeface="Calibri" pitchFamily="34" charset="0"/>
                <a:ea typeface="Calibri" pitchFamily="34" charset="-122"/>
                <a:cs typeface="Calibri" pitchFamily="34" charset="-120"/>
              </a:rPr>
              <a:t>Level 2: warn and ask</a:t>
            </a:r>
            <a:endParaRPr lang="en-US" sz="1100" dirty="0"/>
          </a:p>
        </p:txBody>
      </p:sp>
      <p:pic>
        <p:nvPicPr>
          <p:cNvPr id="35" name="Image 1" descr="Level 3: hold (her case) screen mock-up">    </p:cNvPr>
          <p:cNvPicPr>
            <a:picLocks noChangeAspect="1"/>
          </p:cNvPicPr>
          <p:nvPr/>
        </p:nvPicPr>
        <p:blipFill>
          <a:blip r:embed="rId2"/>
          <a:stretch>
            <a:fillRect/>
          </a:stretch>
        </p:blipFill>
        <p:spPr>
          <a:xfrm>
            <a:off x="10012680" y="1188720"/>
            <a:ext cx="1645920" cy="3401568"/>
          </a:xfrm>
          <a:prstGeom prst="rect">
            <a:avLst/>
          </a:prstGeom>
        </p:spPr>
      </p:pic>
      <p:sp>
        <p:nvSpPr>
          <p:cNvPr id="36" name="Text 32"/>
          <p:cNvSpPr txBox="1"/>
          <p:nvPr/>
        </p:nvSpPr>
        <p:spPr>
          <a:xfrm>
            <a:off x="9921240" y="4681728"/>
            <a:ext cx="1828800" cy="274320"/>
          </a:xfrm>
          <a:prstGeom prst="rect">
            <a:avLst/>
          </a:prstGeom>
          <a:noFill/>
          <a:ln/>
        </p:spPr>
        <p:txBody>
          <a:bodyPr wrap="square" lIns="0" tIns="0" rIns="0" bIns="0" rtlCol="0" anchor="ctr"/>
          <a:lstStyle/>
          <a:p>
            <a:pPr algn="ctr" indent="0" marL="0">
              <a:buNone/>
            </a:pPr>
            <a:r>
              <a:rPr lang="en-US" sz="1100" dirty="0">
                <a:solidFill>
                  <a:srgbClr val="6E747E"/>
                </a:solidFill>
                <a:latin typeface="Calibri" pitchFamily="34" charset="0"/>
                <a:ea typeface="Calibri" pitchFamily="34" charset="-122"/>
                <a:cs typeface="Calibri" pitchFamily="34" charset="-120"/>
              </a:rPr>
              <a:t>Level 3: hold (her case)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5  ·  Model</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6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How the score works</a:t>
            </a:r>
            <a:endParaRPr lang="en-US" sz="3400" dirty="0"/>
          </a:p>
        </p:txBody>
      </p:sp>
      <p:sp>
        <p:nvSpPr>
          <p:cNvPr id="6" name="Shape 4"/>
          <p:cNvSpPr/>
          <p:nvPr/>
        </p:nvSpPr>
        <p:spPr>
          <a:xfrm>
            <a:off x="548640" y="1463040"/>
            <a:ext cx="2514600" cy="1417320"/>
          </a:xfrm>
          <a:prstGeom prst="rect">
            <a:avLst/>
          </a:prstGeom>
          <a:solidFill>
            <a:srgbClr val="F3F4F6"/>
          </a:solidFill>
          <a:ln w="12700">
            <a:solidFill>
              <a:srgbClr val="F3F4F6"/>
            </a:solidFill>
            <a:prstDash val="solid"/>
          </a:ln>
        </p:spPr>
      </p:sp>
      <p:sp>
        <p:nvSpPr>
          <p:cNvPr id="7" name="Text 5"/>
          <p:cNvSpPr txBox="1"/>
          <p:nvPr/>
        </p:nvSpPr>
        <p:spPr>
          <a:xfrm>
            <a:off x="731520" y="1600200"/>
            <a:ext cx="2148840" cy="594360"/>
          </a:xfrm>
          <a:prstGeom prst="rect">
            <a:avLst/>
          </a:prstGeom>
          <a:noFill/>
          <a:ln/>
        </p:spPr>
        <p:txBody>
          <a:bodyPr wrap="square" lIns="0" tIns="0" rIns="0" bIns="0" rtlCol="0" anchor="ctr"/>
          <a:lstStyle/>
          <a:p>
            <a:pPr indent="0" marL="0">
              <a:buNone/>
            </a:pPr>
            <a:r>
              <a:rPr lang="en-US" sz="3400" b="1" dirty="0">
                <a:solidFill>
                  <a:srgbClr val="1B2433"/>
                </a:solidFill>
                <a:latin typeface="Cambria" pitchFamily="34" charset="0"/>
                <a:ea typeface="Cambria" pitchFamily="34" charset="-122"/>
                <a:cs typeface="Cambria" pitchFamily="34" charset="-120"/>
              </a:rPr>
              <a:t>20</a:t>
            </a:r>
            <a:endParaRPr lang="en-US" sz="3400" dirty="0"/>
          </a:p>
        </p:txBody>
      </p:sp>
      <p:sp>
        <p:nvSpPr>
          <p:cNvPr id="8" name="Text 6"/>
          <p:cNvSpPr txBox="1"/>
          <p:nvPr/>
        </p:nvSpPr>
        <p:spPr>
          <a:xfrm>
            <a:off x="731520" y="2194560"/>
            <a:ext cx="214884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yes/no signals</a:t>
            </a:r>
            <a:endParaRPr lang="en-US" sz="1500" dirty="0"/>
          </a:p>
        </p:txBody>
      </p:sp>
      <p:sp>
        <p:nvSpPr>
          <p:cNvPr id="9" name="Text 7"/>
          <p:cNvSpPr txBox="1"/>
          <p:nvPr/>
        </p:nvSpPr>
        <p:spPr>
          <a:xfrm>
            <a:off x="731520" y="2468880"/>
            <a:ext cx="2148840" cy="32004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9 phone · 7 bank · 4 receiving account</a:t>
            </a:r>
            <a:endParaRPr lang="en-US" sz="1200" dirty="0"/>
          </a:p>
        </p:txBody>
      </p:sp>
      <p:sp>
        <p:nvSpPr>
          <p:cNvPr id="10" name="Text 8"/>
          <p:cNvSpPr txBox="1"/>
          <p:nvPr/>
        </p:nvSpPr>
        <p:spPr>
          <a:xfrm>
            <a:off x="3081528" y="1965960"/>
            <a:ext cx="301752" cy="365760"/>
          </a:xfrm>
          <a:prstGeom prst="rect">
            <a:avLst/>
          </a:prstGeom>
          <a:noFill/>
          <a:ln/>
        </p:spPr>
        <p:txBody>
          <a:bodyPr wrap="square" lIns="0" tIns="0" rIns="0" bIns="0" rtlCol="0" anchor="ctr"/>
          <a:lstStyle/>
          <a:p>
            <a:pPr algn="ctr" indent="0" marL="0">
              <a:buNone/>
            </a:pPr>
            <a:r>
              <a:rPr lang="en-US" sz="2000" dirty="0">
                <a:solidFill>
                  <a:srgbClr val="6E747E"/>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3401568" y="1463040"/>
            <a:ext cx="2514600" cy="1417320"/>
          </a:xfrm>
          <a:prstGeom prst="rect">
            <a:avLst/>
          </a:prstGeom>
          <a:solidFill>
            <a:srgbClr val="F3F4F6"/>
          </a:solidFill>
          <a:ln w="12700">
            <a:solidFill>
              <a:srgbClr val="F3F4F6"/>
            </a:solidFill>
            <a:prstDash val="solid"/>
          </a:ln>
        </p:spPr>
      </p:sp>
      <p:sp>
        <p:nvSpPr>
          <p:cNvPr id="12" name="Text 10"/>
          <p:cNvSpPr txBox="1"/>
          <p:nvPr/>
        </p:nvSpPr>
        <p:spPr>
          <a:xfrm>
            <a:off x="3584448" y="1600200"/>
            <a:ext cx="2148840" cy="594360"/>
          </a:xfrm>
          <a:prstGeom prst="rect">
            <a:avLst/>
          </a:prstGeom>
          <a:noFill/>
          <a:ln/>
        </p:spPr>
        <p:txBody>
          <a:bodyPr wrap="square" lIns="0" tIns="0" rIns="0" bIns="0" rtlCol="0" anchor="ctr"/>
          <a:lstStyle/>
          <a:p>
            <a:pPr indent="0" marL="0">
              <a:buNone/>
            </a:pPr>
            <a:r>
              <a:rPr lang="en-US" sz="3400" b="1" dirty="0">
                <a:solidFill>
                  <a:srgbClr val="1B2433"/>
                </a:solidFill>
                <a:latin typeface="Cambria" pitchFamily="34" charset="0"/>
                <a:ea typeface="Cambria" pitchFamily="34" charset="-122"/>
                <a:cs typeface="Cambria" pitchFamily="34" charset="-120"/>
              </a:rPr>
              <a:t>4</a:t>
            </a:r>
            <a:endParaRPr lang="en-US" sz="3400" dirty="0"/>
          </a:p>
        </p:txBody>
      </p:sp>
      <p:sp>
        <p:nvSpPr>
          <p:cNvPr id="13" name="Text 11"/>
          <p:cNvSpPr txBox="1"/>
          <p:nvPr/>
        </p:nvSpPr>
        <p:spPr>
          <a:xfrm>
            <a:off x="3584448" y="2194560"/>
            <a:ext cx="214884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stage scores</a:t>
            </a:r>
            <a:endParaRPr lang="en-US" sz="1500" dirty="0"/>
          </a:p>
        </p:txBody>
      </p:sp>
      <p:sp>
        <p:nvSpPr>
          <p:cNvPr id="14" name="Text 12"/>
          <p:cNvSpPr txBox="1"/>
          <p:nvPr/>
        </p:nvSpPr>
        <p:spPr>
          <a:xfrm>
            <a:off x="3584448" y="2468880"/>
            <a:ext cx="2148840" cy="32004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weighted sum per stage, with a cap</a:t>
            </a:r>
            <a:endParaRPr lang="en-US" sz="1200" dirty="0"/>
          </a:p>
        </p:txBody>
      </p:sp>
      <p:sp>
        <p:nvSpPr>
          <p:cNvPr id="15" name="Text 13"/>
          <p:cNvSpPr txBox="1"/>
          <p:nvPr/>
        </p:nvSpPr>
        <p:spPr>
          <a:xfrm>
            <a:off x="5934456" y="1965960"/>
            <a:ext cx="301752" cy="365760"/>
          </a:xfrm>
          <a:prstGeom prst="rect">
            <a:avLst/>
          </a:prstGeom>
          <a:noFill/>
          <a:ln/>
        </p:spPr>
        <p:txBody>
          <a:bodyPr wrap="square" lIns="0" tIns="0" rIns="0" bIns="0" rtlCol="0" anchor="ctr"/>
          <a:lstStyle/>
          <a:p>
            <a:pPr algn="ctr" indent="0" marL="0">
              <a:buNone/>
            </a:pPr>
            <a:r>
              <a:rPr lang="en-US" sz="2000" dirty="0">
                <a:solidFill>
                  <a:srgbClr val="6E747E"/>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6254496" y="1463040"/>
            <a:ext cx="2514600" cy="1417320"/>
          </a:xfrm>
          <a:prstGeom prst="rect">
            <a:avLst/>
          </a:prstGeom>
          <a:solidFill>
            <a:srgbClr val="F3F4F6"/>
          </a:solidFill>
          <a:ln w="12700">
            <a:solidFill>
              <a:srgbClr val="F3F4F6"/>
            </a:solidFill>
            <a:prstDash val="solid"/>
          </a:ln>
        </p:spPr>
      </p:sp>
      <p:sp>
        <p:nvSpPr>
          <p:cNvPr id="17" name="Text 15"/>
          <p:cNvSpPr txBox="1"/>
          <p:nvPr/>
        </p:nvSpPr>
        <p:spPr>
          <a:xfrm>
            <a:off x="6437376" y="1600200"/>
            <a:ext cx="2148840" cy="594360"/>
          </a:xfrm>
          <a:prstGeom prst="rect">
            <a:avLst/>
          </a:prstGeom>
          <a:noFill/>
          <a:ln/>
        </p:spPr>
        <p:txBody>
          <a:bodyPr wrap="square" lIns="0" tIns="0" rIns="0" bIns="0" rtlCol="0" anchor="ctr"/>
          <a:lstStyle/>
          <a:p>
            <a:pPr indent="0" marL="0">
              <a:buNone/>
            </a:pPr>
            <a:r>
              <a:rPr lang="en-US" sz="3400" b="1" dirty="0">
                <a:solidFill>
                  <a:srgbClr val="1B2433"/>
                </a:solidFill>
                <a:latin typeface="Cambria" pitchFamily="34" charset="0"/>
                <a:ea typeface="Cambria" pitchFamily="34" charset="-122"/>
                <a:cs typeface="Cambria" pitchFamily="34" charset="-120"/>
              </a:rPr>
              <a:t>≥ 2</a:t>
            </a:r>
            <a:endParaRPr lang="en-US" sz="3400" dirty="0"/>
          </a:p>
        </p:txBody>
      </p:sp>
      <p:sp>
        <p:nvSpPr>
          <p:cNvPr id="18" name="Text 16"/>
          <p:cNvSpPr txBox="1"/>
          <p:nvPr/>
        </p:nvSpPr>
        <p:spPr>
          <a:xfrm>
            <a:off x="6437376" y="2194560"/>
            <a:ext cx="214884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stages needed</a:t>
            </a:r>
            <a:endParaRPr lang="en-US" sz="1500" dirty="0"/>
          </a:p>
        </p:txBody>
      </p:sp>
      <p:sp>
        <p:nvSpPr>
          <p:cNvPr id="19" name="Text 17"/>
          <p:cNvSpPr txBox="1"/>
          <p:nvPr/>
        </p:nvSpPr>
        <p:spPr>
          <a:xfrm>
            <a:off x="6437376" y="2468880"/>
            <a:ext cx="2148840" cy="32004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before we interrupt a payment</a:t>
            </a:r>
            <a:endParaRPr lang="en-US" sz="1200" dirty="0"/>
          </a:p>
        </p:txBody>
      </p:sp>
      <p:sp>
        <p:nvSpPr>
          <p:cNvPr id="20" name="Text 18"/>
          <p:cNvSpPr txBox="1"/>
          <p:nvPr/>
        </p:nvSpPr>
        <p:spPr>
          <a:xfrm>
            <a:off x="8787384" y="1965960"/>
            <a:ext cx="301752" cy="365760"/>
          </a:xfrm>
          <a:prstGeom prst="rect">
            <a:avLst/>
          </a:prstGeom>
          <a:noFill/>
          <a:ln/>
        </p:spPr>
        <p:txBody>
          <a:bodyPr wrap="square" lIns="0" tIns="0" rIns="0" bIns="0" rtlCol="0" anchor="ctr"/>
          <a:lstStyle/>
          <a:p>
            <a:pPr algn="ctr" indent="0" marL="0">
              <a:buNone/>
            </a:pPr>
            <a:r>
              <a:rPr lang="en-US" sz="2000" dirty="0">
                <a:solidFill>
                  <a:srgbClr val="6E747E"/>
                </a:solidFill>
                <a:latin typeface="Calibri" pitchFamily="34" charset="0"/>
                <a:ea typeface="Calibri" pitchFamily="34" charset="-122"/>
                <a:cs typeface="Calibri" pitchFamily="34" charset="-120"/>
              </a:rPr>
              <a:t>→</a:t>
            </a:r>
            <a:endParaRPr lang="en-US" sz="2000" dirty="0"/>
          </a:p>
        </p:txBody>
      </p:sp>
      <p:sp>
        <p:nvSpPr>
          <p:cNvPr id="21" name="Shape 19"/>
          <p:cNvSpPr/>
          <p:nvPr/>
        </p:nvSpPr>
        <p:spPr>
          <a:xfrm>
            <a:off x="9107424" y="1463040"/>
            <a:ext cx="2514600" cy="1417320"/>
          </a:xfrm>
          <a:prstGeom prst="rect">
            <a:avLst/>
          </a:prstGeom>
          <a:solidFill>
            <a:srgbClr val="FDF1EA"/>
          </a:solidFill>
          <a:ln w="12700">
            <a:solidFill>
              <a:srgbClr val="FDF1EA"/>
            </a:solidFill>
            <a:prstDash val="solid"/>
          </a:ln>
        </p:spPr>
      </p:sp>
      <p:sp>
        <p:nvSpPr>
          <p:cNvPr id="22" name="Text 20"/>
          <p:cNvSpPr txBox="1"/>
          <p:nvPr/>
        </p:nvSpPr>
        <p:spPr>
          <a:xfrm>
            <a:off x="9290304" y="1600200"/>
            <a:ext cx="2148840" cy="594360"/>
          </a:xfrm>
          <a:prstGeom prst="rect">
            <a:avLst/>
          </a:prstGeom>
          <a:noFill/>
          <a:ln/>
        </p:spPr>
        <p:txBody>
          <a:bodyPr wrap="square" lIns="0" tIns="0" rIns="0" bIns="0" rtlCol="0" anchor="ctr"/>
          <a:lstStyle/>
          <a:p>
            <a:pPr indent="0" marL="0">
              <a:buNone/>
            </a:pPr>
            <a:r>
              <a:rPr lang="en-US" sz="3400" b="1" dirty="0">
                <a:solidFill>
                  <a:srgbClr val="D9480F"/>
                </a:solidFill>
                <a:latin typeface="Cambria" pitchFamily="34" charset="0"/>
                <a:ea typeface="Cambria" pitchFamily="34" charset="-122"/>
                <a:cs typeface="Cambria" pitchFamily="34" charset="-120"/>
              </a:rPr>
              <a:t>0–3</a:t>
            </a:r>
            <a:endParaRPr lang="en-US" sz="3400" dirty="0"/>
          </a:p>
        </p:txBody>
      </p:sp>
      <p:sp>
        <p:nvSpPr>
          <p:cNvPr id="23" name="Text 21"/>
          <p:cNvSpPr txBox="1"/>
          <p:nvPr/>
        </p:nvSpPr>
        <p:spPr>
          <a:xfrm>
            <a:off x="9290304" y="2194560"/>
            <a:ext cx="214884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response level</a:t>
            </a:r>
            <a:endParaRPr lang="en-US" sz="1500" dirty="0"/>
          </a:p>
        </p:txBody>
      </p:sp>
      <p:sp>
        <p:nvSpPr>
          <p:cNvPr id="24" name="Text 22"/>
          <p:cNvSpPr txBox="1"/>
          <p:nvPr/>
        </p:nvSpPr>
        <p:spPr>
          <a:xfrm>
            <a:off x="9290304" y="2468880"/>
            <a:ext cx="2148840" cy="32004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plus the reasons and a signed record</a:t>
            </a:r>
            <a:endParaRPr lang="en-US" sz="1200" dirty="0"/>
          </a:p>
        </p:txBody>
      </p:sp>
      <p:sp>
        <p:nvSpPr>
          <p:cNvPr id="25" name="Text 23"/>
          <p:cNvSpPr txBox="1"/>
          <p:nvPr/>
        </p:nvSpPr>
        <p:spPr>
          <a:xfrm>
            <a:off x="548640" y="3246120"/>
            <a:ext cx="4572000"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Score</a:t>
            </a:r>
            <a:endParaRPr lang="en-US" sz="1300" dirty="0"/>
          </a:p>
        </p:txBody>
      </p:sp>
      <p:sp>
        <p:nvSpPr>
          <p:cNvPr id="26" name="Text 24"/>
          <p:cNvSpPr txBox="1"/>
          <p:nvPr/>
        </p:nvSpPr>
        <p:spPr>
          <a:xfrm>
            <a:off x="548640" y="3566160"/>
            <a:ext cx="5486400" cy="548640"/>
          </a:xfrm>
          <a:prstGeom prst="rect">
            <a:avLst/>
          </a:prstGeom>
          <a:noFill/>
          <a:ln/>
        </p:spPr>
        <p:txBody>
          <a:bodyPr wrap="square" lIns="0" tIns="0" rIns="0" bIns="0" rtlCol="0" anchor="ctr"/>
          <a:lstStyle/>
          <a:p>
            <a:pPr indent="0" marL="0">
              <a:buNone/>
            </a:pPr>
            <a:r>
              <a:rPr lang="en-US" sz="2400" dirty="0">
                <a:solidFill>
                  <a:srgbClr val="1B2433"/>
                </a:solidFill>
                <a:latin typeface="Cambria" pitchFamily="34" charset="0"/>
                <a:ea typeface="Cambria" pitchFamily="34" charset="-122"/>
                <a:cs typeface="Cambria" pitchFamily="34" charset="-120"/>
              </a:rPr>
              <a:t>s(x) = b + Σ</a:t>
            </a:r>
            <a:pPr indent="0" marL="0">
              <a:buNone/>
            </a:pPr>
            <a:r>
              <a:rPr lang="en-US" sz="2400" baseline="-40000" dirty="0">
                <a:solidFill>
                  <a:srgbClr val="1B2433"/>
                </a:solidFill>
                <a:latin typeface="Cambria" pitchFamily="34" charset="0"/>
                <a:ea typeface="Cambria" pitchFamily="34" charset="-122"/>
                <a:cs typeface="Cambria" pitchFamily="34" charset="-120"/>
              </a:rPr>
              <a:t>g</a:t>
            </a:r>
            <a:pPr indent="0" marL="0">
              <a:buNone/>
            </a:pPr>
            <a:r>
              <a:rPr lang="en-US" sz="2400" dirty="0">
                <a:solidFill>
                  <a:srgbClr val="1B2433"/>
                </a:solidFill>
                <a:latin typeface="Cambria" pitchFamily="34" charset="0"/>
                <a:ea typeface="Cambria" pitchFamily="34" charset="-122"/>
                <a:cs typeface="Cambria" pitchFamily="34" charset="-120"/>
              </a:rPr>
              <a:t> min( C</a:t>
            </a:r>
            <a:pPr indent="0" marL="0">
              <a:buNone/>
            </a:pPr>
            <a:r>
              <a:rPr lang="en-US" sz="2400" baseline="-40000" dirty="0">
                <a:solidFill>
                  <a:srgbClr val="1B2433"/>
                </a:solidFill>
                <a:latin typeface="Cambria" pitchFamily="34" charset="0"/>
                <a:ea typeface="Cambria" pitchFamily="34" charset="-122"/>
                <a:cs typeface="Cambria" pitchFamily="34" charset="-120"/>
              </a:rPr>
              <a:t>g</a:t>
            </a:r>
            <a:pPr indent="0" marL="0">
              <a:buNone/>
            </a:pPr>
            <a:r>
              <a:rPr lang="en-US" sz="2400" dirty="0">
                <a:solidFill>
                  <a:srgbClr val="1B2433"/>
                </a:solidFill>
                <a:latin typeface="Cambria" pitchFamily="34" charset="0"/>
                <a:ea typeface="Cambria" pitchFamily="34" charset="-122"/>
                <a:cs typeface="Cambria" pitchFamily="34" charset="-120"/>
              </a:rPr>
              <a:t> ,  Σ</a:t>
            </a:r>
            <a:pPr indent="0" marL="0">
              <a:buNone/>
            </a:pPr>
            <a:r>
              <a:rPr lang="en-US" sz="2400" baseline="-40000" dirty="0">
                <a:solidFill>
                  <a:srgbClr val="1B2433"/>
                </a:solidFill>
                <a:latin typeface="Cambria" pitchFamily="34" charset="0"/>
                <a:ea typeface="Cambria" pitchFamily="34" charset="-122"/>
                <a:cs typeface="Cambria" pitchFamily="34" charset="-120"/>
              </a:rPr>
              <a:t>k in g</a:t>
            </a:r>
            <a:pPr indent="0" marL="0">
              <a:buNone/>
            </a:pPr>
            <a:r>
              <a:rPr lang="en-US" sz="2400" dirty="0">
                <a:solidFill>
                  <a:srgbClr val="1B2433"/>
                </a:solidFill>
                <a:latin typeface="Cambria" pitchFamily="34" charset="0"/>
                <a:ea typeface="Cambria" pitchFamily="34" charset="-122"/>
                <a:cs typeface="Cambria" pitchFamily="34" charset="-120"/>
              </a:rPr>
              <a:t> w</a:t>
            </a:r>
            <a:pPr indent="0" marL="0">
              <a:buNone/>
            </a:pPr>
            <a:r>
              <a:rPr lang="en-US" sz="2400" baseline="-40000" dirty="0">
                <a:solidFill>
                  <a:srgbClr val="1B2433"/>
                </a:solidFill>
                <a:latin typeface="Cambria" pitchFamily="34" charset="0"/>
                <a:ea typeface="Cambria" pitchFamily="34" charset="-122"/>
                <a:cs typeface="Cambria" pitchFamily="34" charset="-120"/>
              </a:rPr>
              <a:t>k</a:t>
            </a:r>
            <a:pPr indent="0" marL="0">
              <a:buNone/>
            </a:pPr>
            <a:r>
              <a:rPr lang="en-US" sz="2400" dirty="0">
                <a:solidFill>
                  <a:srgbClr val="1B2433"/>
                </a:solidFill>
                <a:latin typeface="Cambria" pitchFamily="34" charset="0"/>
                <a:ea typeface="Cambria" pitchFamily="34" charset="-122"/>
                <a:cs typeface="Cambria" pitchFamily="34" charset="-120"/>
              </a:rPr>
              <a:t> x</a:t>
            </a:r>
            <a:pPr indent="0" marL="0">
              <a:buNone/>
            </a:pPr>
            <a:r>
              <a:rPr lang="en-US" sz="2400" baseline="-40000" dirty="0">
                <a:solidFill>
                  <a:srgbClr val="1B2433"/>
                </a:solidFill>
                <a:latin typeface="Cambria" pitchFamily="34" charset="0"/>
                <a:ea typeface="Cambria" pitchFamily="34" charset="-122"/>
                <a:cs typeface="Cambria" pitchFamily="34" charset="-120"/>
              </a:rPr>
              <a:t>k</a:t>
            </a:r>
            <a:pPr indent="0" marL="0">
              <a:buNone/>
            </a:pPr>
            <a:r>
              <a:rPr lang="en-US" sz="2400" dirty="0">
                <a:solidFill>
                  <a:srgbClr val="1B2433"/>
                </a:solidFill>
                <a:latin typeface="Cambria" pitchFamily="34" charset="0"/>
                <a:ea typeface="Cambria" pitchFamily="34" charset="-122"/>
                <a:cs typeface="Cambria" pitchFamily="34" charset="-120"/>
              </a:rPr>
              <a:t> )</a:t>
            </a:r>
            <a:endParaRPr lang="en-US" sz="2400" dirty="0"/>
          </a:p>
        </p:txBody>
      </p:sp>
      <p:sp>
        <p:nvSpPr>
          <p:cNvPr id="27" name="Text 25"/>
          <p:cNvSpPr txBox="1"/>
          <p:nvPr/>
        </p:nvSpPr>
        <p:spPr>
          <a:xfrm>
            <a:off x="548640" y="4251960"/>
            <a:ext cx="4572000"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Decision</a:t>
            </a:r>
            <a:endParaRPr lang="en-US" sz="1300" dirty="0"/>
          </a:p>
        </p:txBody>
      </p:sp>
      <p:sp>
        <p:nvSpPr>
          <p:cNvPr id="28" name="Text 26"/>
          <p:cNvSpPr txBox="1"/>
          <p:nvPr/>
        </p:nvSpPr>
        <p:spPr>
          <a:xfrm>
            <a:off x="548640" y="4526280"/>
            <a:ext cx="5486400" cy="731520"/>
          </a:xfrm>
          <a:prstGeom prst="rect">
            <a:avLst/>
          </a:prstGeom>
          <a:noFill/>
          <a:ln/>
        </p:spPr>
        <p:txBody>
          <a:bodyPr wrap="square" lIns="0" tIns="0" rIns="0" bIns="0" rtlCol="0" anchor="t"/>
          <a:lstStyle/>
          <a:p>
            <a:pPr indent="0" marL="0">
              <a:spcAft>
                <a:spcPts val="400"/>
              </a:spcAft>
              <a:buNone/>
            </a:pPr>
            <a:r>
              <a:rPr lang="en-US" sz="1500" b="1" dirty="0">
                <a:solidFill>
                  <a:srgbClr val="1B2433"/>
                </a:solidFill>
                <a:latin typeface="Calibri" pitchFamily="34" charset="0"/>
                <a:ea typeface="Calibri" pitchFamily="34" charset="-122"/>
                <a:cs typeface="Calibri" pitchFamily="34" charset="-120"/>
              </a:rPr>
              <a:t>Level 2</a:t>
            </a:r>
            <a:pPr indent="0" marL="0">
              <a:spcAft>
                <a:spcPts val="400"/>
              </a:spcAft>
              <a:buNone/>
            </a:pPr>
            <a:r>
              <a:rPr lang="en-US" sz="1500" dirty="0">
                <a:solidFill>
                  <a:srgbClr val="3A4353"/>
                </a:solidFill>
                <a:latin typeface="Calibri" pitchFamily="34" charset="0"/>
                <a:ea typeface="Calibri" pitchFamily="34" charset="-122"/>
                <a:cs typeface="Calibri" pitchFamily="34" charset="-120"/>
              </a:rPr>
              <a:t> if s ≥ τ2 and at least 2 stages are active</a:t>
            </a:r>
            <a:endParaRPr lang="en-US" sz="1500" dirty="0"/>
          </a:p>
          <a:p>
            <a:pPr indent="0" marL="0">
              <a:spcAft>
                <a:spcPts val="400"/>
              </a:spcAft>
              <a:buNone/>
            </a:pPr>
            <a:r>
              <a:rPr lang="en-US" sz="1500" b="1" dirty="0">
                <a:solidFill>
                  <a:srgbClr val="1B2433"/>
                </a:solidFill>
                <a:latin typeface="Calibri" pitchFamily="34" charset="0"/>
                <a:ea typeface="Calibri" pitchFamily="34" charset="-122"/>
                <a:cs typeface="Calibri" pitchFamily="34" charset="-120"/>
              </a:rPr>
              <a:t>Level 3</a:t>
            </a:r>
            <a:pPr indent="0" marL="0">
              <a:spcAft>
                <a:spcPts val="400"/>
              </a:spcAft>
              <a:buNone/>
            </a:pPr>
            <a:r>
              <a:rPr lang="en-US" sz="1500" dirty="0">
                <a:solidFill>
                  <a:srgbClr val="3A4353"/>
                </a:solidFill>
                <a:latin typeface="Calibri" pitchFamily="34" charset="0"/>
                <a:ea typeface="Calibri" pitchFamily="34" charset="-122"/>
                <a:cs typeface="Calibri" pitchFamily="34" charset="-120"/>
              </a:rPr>
              <a:t> if s ≥ τ3 and 3 stages are active (or 2 plus a suspect-list match)</a:t>
            </a:r>
            <a:endParaRPr lang="en-US" sz="1500" dirty="0"/>
          </a:p>
        </p:txBody>
      </p:sp>
      <p:sp>
        <p:nvSpPr>
          <p:cNvPr id="29" name="Text 27"/>
          <p:cNvSpPr txBox="1"/>
          <p:nvPr/>
        </p:nvSpPr>
        <p:spPr>
          <a:xfrm>
            <a:off x="548640" y="5394960"/>
            <a:ext cx="5394960" cy="64008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g is one of the four stages; x is 1 when a signal is present and 0 when it is not. Weights come from a logistic regression (L2) on labelled sessions and are kept at zero or above.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3246120"/>
          <a:ext cx="5148072" cy="914400"/>
        </p:xfrm>
        <a:graphic>
          <a:graphicData uri="http://schemas.openxmlformats.org/drawingml/2006/table">
            <a:tbl>
              <a:tblPr/>
              <a:tblGrid>
                <a:gridCol w="1691640"/>
                <a:gridCol w="3456432"/>
              </a:tblGrid>
              <a:tr h="512064">
                <a:tc>
                  <a:txBody>
                    <a:bodyPr/>
                    <a:lstStyle/>
                    <a:p>
                      <a:pPr indent="0" marL="0">
                        <a:buNone/>
                      </a:pPr>
                      <a:r>
                        <a:rPr lang="en-US" sz="1300" b="1" dirty="0">
                          <a:solidFill>
                            <a:srgbClr val="1B2433"/>
                          </a:solidFill>
                          <a:latin typeface="Calibri" pitchFamily="34" charset="0"/>
                          <a:ea typeface="Calibri" pitchFamily="34" charset="-122"/>
                          <a:cs typeface="Calibri" pitchFamily="34" charset="-120"/>
                        </a:rPr>
                        <a:t>Non-negative weights</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A missing signal does not change the score, because a fraudster can always hide one.</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12064">
                <a:tc>
                  <a:txBody>
                    <a:bodyPr/>
                    <a:lstStyle/>
                    <a:p>
                      <a:pPr indent="0" marL="0">
                        <a:buNone/>
                      </a:pPr>
                      <a:r>
                        <a:rPr lang="en-US" sz="1300" b="1" dirty="0">
                          <a:solidFill>
                            <a:srgbClr val="1B2433"/>
                          </a:solidFill>
                          <a:latin typeface="Calibri" pitchFamily="34" charset="0"/>
                          <a:ea typeface="Calibri" pitchFamily="34" charset="-122"/>
                          <a:cs typeface="Calibri" pitchFamily="34" charset="-120"/>
                        </a:rPr>
                        <a:t>Stage caps</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A safety limit (C = 5, 5, 6, 6). It made no measurable difference on our data.</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12064">
                <a:tc>
                  <a:txBody>
                    <a:bodyPr/>
                    <a:lstStyle/>
                    <a:p>
                      <a:pPr indent="0" marL="0">
                        <a:buNone/>
                      </a:pPr>
                      <a:r>
                        <a:rPr lang="en-US" sz="1300" b="1" dirty="0">
                          <a:solidFill>
                            <a:srgbClr val="1B2433"/>
                          </a:solidFill>
                          <a:latin typeface="Calibri" pitchFamily="34" charset="0"/>
                          <a:ea typeface="Calibri" pitchFamily="34" charset="-122"/>
                          <a:cs typeface="Calibri" pitchFamily="34" charset="-120"/>
                        </a:rPr>
                        <a:t>Two-stage rule</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We only interrupt when at least two stages are active.</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12064">
                <a:tc>
                  <a:txBody>
                    <a:bodyPr/>
                    <a:lstStyle/>
                    <a:p>
                      <a:pPr indent="0" marL="0">
                        <a:buNone/>
                      </a:pPr>
                      <a:r>
                        <a:rPr lang="en-US" sz="1300" b="1" dirty="0">
                          <a:solidFill>
                            <a:srgbClr val="1B2433"/>
                          </a:solidFill>
                          <a:latin typeface="Calibri" pitchFamily="34" charset="0"/>
                          <a:ea typeface="Calibri" pitchFamily="34" charset="-122"/>
                          <a:cs typeface="Calibri" pitchFamily="34" charset="-120"/>
                        </a:rPr>
                        <a:t>Real-world scam rate</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Training data is 3.8% scams; we adjust to an assumed 1 in 5,000.</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12064">
                <a:tc>
                  <a:txBody>
                    <a:bodyPr/>
                    <a:lstStyle/>
                    <a:p>
                      <a:pPr indent="0" marL="0">
                        <a:buNone/>
                      </a:pPr>
                      <a:r>
                        <a:rPr lang="en-US" sz="1300" b="1" dirty="0">
                          <a:solidFill>
                            <a:srgbClr val="1B2433"/>
                          </a:solidFill>
                          <a:latin typeface="Calibri" pitchFamily="34" charset="0"/>
                          <a:ea typeface="Calibri" pitchFamily="34" charset="-122"/>
                          <a:cs typeface="Calibri" pitchFamily="34" charset="-120"/>
                        </a:rPr>
                        <a:t>Fixed thresholds</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Set on a separate dataset to meet the bank’s alert limit, then fixed.</a:t>
                      </a:r>
                      <a:endParaRPr lang="en-US" sz="1300" dirty="0">
                        <a:latin typeface="Calibri" charset="0"/>
                        <a:ea typeface="Calibri" charset="0"/>
                        <a:cs typeface="Calibri" charset="0"/>
                      </a:endParaRPr>
                    </a:p>
                  </a:txBody>
                  <a:tcPr marL="0" marR="73152" marT="64008" marB="64008"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6  ·  Results</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7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Results on synthetic data</a:t>
            </a:r>
            <a:endParaRPr lang="en-US" sz="3400" dirty="0"/>
          </a:p>
        </p:txBody>
      </p:sp>
      <p:sp>
        <p:nvSpPr>
          <p:cNvPr id="6" name="Text 4"/>
          <p:cNvSpPr txBox="1"/>
          <p:nvPr/>
        </p:nvSpPr>
        <p:spPr>
          <a:xfrm>
            <a:off x="548640" y="1261872"/>
            <a:ext cx="10058400" cy="320040"/>
          </a:xfrm>
          <a:prstGeom prst="rect">
            <a:avLst/>
          </a:prstGeom>
          <a:noFill/>
          <a:ln/>
        </p:spPr>
        <p:txBody>
          <a:bodyPr wrap="square" lIns="0" tIns="0" rIns="0" bIns="0" rtlCol="0" anchor="ctr"/>
          <a:lstStyle/>
          <a:p>
            <a:pPr indent="0" marL="0">
              <a:buNone/>
            </a:pPr>
            <a:r>
              <a:rPr lang="en-US" sz="1400" i="1" dirty="0">
                <a:solidFill>
                  <a:srgbClr val="6E747E"/>
                </a:solidFill>
                <a:latin typeface="Calibri" pitchFamily="34" charset="0"/>
                <a:ea typeface="Calibri" pitchFamily="34" charset="-122"/>
                <a:cs typeface="Calibri" pitchFamily="34" charset="-120"/>
              </a:rPr>
              <a:t>These numbers come from 8 synthetic test sets the model never saw. They are not results from a real bank.</a:t>
            </a:r>
            <a:endParaRPr lang="en-US" sz="1400" dirty="0"/>
          </a:p>
        </p:txBody>
      </p:sp>
      <p:sp>
        <p:nvSpPr>
          <p:cNvPr id="7" name="Text 5"/>
          <p:cNvSpPr txBox="1"/>
          <p:nvPr/>
        </p:nvSpPr>
        <p:spPr>
          <a:xfrm>
            <a:off x="548640" y="1828800"/>
            <a:ext cx="3474720" cy="640080"/>
          </a:xfrm>
          <a:prstGeom prst="rect">
            <a:avLst/>
          </a:prstGeom>
          <a:noFill/>
          <a:ln/>
        </p:spPr>
        <p:txBody>
          <a:bodyPr wrap="square" lIns="0" tIns="0" rIns="0" bIns="0" rtlCol="0" anchor="ctr"/>
          <a:lstStyle/>
          <a:p>
            <a:pPr indent="0" marL="0">
              <a:buNone/>
            </a:pPr>
            <a:r>
              <a:rPr lang="en-US" sz="3800" b="1" dirty="0">
                <a:solidFill>
                  <a:srgbClr val="D9480F"/>
                </a:solidFill>
                <a:latin typeface="Cambria" pitchFamily="34" charset="0"/>
                <a:ea typeface="Cambria" pitchFamily="34" charset="-122"/>
                <a:cs typeface="Cambria" pitchFamily="34" charset="-120"/>
              </a:rPr>
              <a:t>92.3%</a:t>
            </a:r>
            <a:endParaRPr lang="en-US" sz="3800" dirty="0"/>
          </a:p>
        </p:txBody>
      </p:sp>
      <p:sp>
        <p:nvSpPr>
          <p:cNvPr id="8" name="Text 6"/>
          <p:cNvSpPr txBox="1"/>
          <p:nvPr/>
        </p:nvSpPr>
        <p:spPr>
          <a:xfrm>
            <a:off x="548640" y="2487168"/>
            <a:ext cx="3474720" cy="274320"/>
          </a:xfrm>
          <a:prstGeom prst="rect">
            <a:avLst/>
          </a:prstGeom>
          <a:noFill/>
          <a:ln/>
        </p:spPr>
        <p:txBody>
          <a:bodyPr wrap="square" lIns="0" tIns="0" rIns="0" bIns="0" rtlCol="0" anchor="t"/>
          <a:lstStyle/>
          <a:p>
            <a:pPr indent="0" marL="0">
              <a:spcAft>
                <a:spcPts val="400"/>
              </a:spcAft>
              <a:buNone/>
            </a:pPr>
            <a:r>
              <a:rPr lang="en-US" sz="1400" dirty="0">
                <a:solidFill>
                  <a:srgbClr val="1B2433"/>
                </a:solidFill>
                <a:latin typeface="Calibri" pitchFamily="34" charset="0"/>
                <a:ea typeface="Calibri" pitchFamily="34" charset="-122"/>
                <a:cs typeface="Calibri" pitchFamily="34" charset="-120"/>
              </a:rPr>
              <a:t>of scam sessions reach level 2 or 3</a:t>
            </a:r>
            <a:endParaRPr lang="en-US" sz="1400" dirty="0"/>
          </a:p>
        </p:txBody>
      </p:sp>
      <p:sp>
        <p:nvSpPr>
          <p:cNvPr id="9" name="Text 7"/>
          <p:cNvSpPr txBox="1"/>
          <p:nvPr/>
        </p:nvSpPr>
        <p:spPr>
          <a:xfrm>
            <a:off x="548640" y="2743200"/>
            <a:ext cx="3474720" cy="2743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95% confidence interval [91.7%, 93.0%]</a:t>
            </a:r>
            <a:endParaRPr lang="en-US" sz="1200" dirty="0"/>
          </a:p>
        </p:txBody>
      </p:sp>
      <p:sp>
        <p:nvSpPr>
          <p:cNvPr id="10" name="Text 8"/>
          <p:cNvSpPr txBox="1"/>
          <p:nvPr/>
        </p:nvSpPr>
        <p:spPr>
          <a:xfrm>
            <a:off x="548640" y="3200400"/>
            <a:ext cx="3474720" cy="640080"/>
          </a:xfrm>
          <a:prstGeom prst="rect">
            <a:avLst/>
          </a:prstGeom>
          <a:noFill/>
          <a:ln/>
        </p:spPr>
        <p:txBody>
          <a:bodyPr wrap="square" lIns="0" tIns="0" rIns="0" bIns="0" rtlCol="0" anchor="ctr"/>
          <a:lstStyle/>
          <a:p>
            <a:pPr indent="0" marL="0">
              <a:buNone/>
            </a:pPr>
            <a:r>
              <a:rPr lang="en-US" sz="3800" b="1" dirty="0">
                <a:solidFill>
                  <a:srgbClr val="1B2433"/>
                </a:solidFill>
                <a:latin typeface="Cambria" pitchFamily="34" charset="0"/>
                <a:ea typeface="Cambria" pitchFamily="34" charset="-122"/>
                <a:cs typeface="Cambria" pitchFamily="34" charset="-120"/>
              </a:rPr>
              <a:t>2.77 / 1,000</a:t>
            </a:r>
            <a:endParaRPr lang="en-US" sz="3800" dirty="0"/>
          </a:p>
        </p:txBody>
      </p:sp>
      <p:sp>
        <p:nvSpPr>
          <p:cNvPr id="11" name="Text 9"/>
          <p:cNvSpPr txBox="1"/>
          <p:nvPr/>
        </p:nvSpPr>
        <p:spPr>
          <a:xfrm>
            <a:off x="548640" y="3858768"/>
            <a:ext cx="3474720" cy="274320"/>
          </a:xfrm>
          <a:prstGeom prst="rect">
            <a:avLst/>
          </a:prstGeom>
          <a:noFill/>
          <a:ln/>
        </p:spPr>
        <p:txBody>
          <a:bodyPr wrap="square" lIns="0" tIns="0" rIns="0" bIns="0" rtlCol="0" anchor="t"/>
          <a:lstStyle/>
          <a:p>
            <a:pPr indent="0" marL="0">
              <a:spcAft>
                <a:spcPts val="400"/>
              </a:spcAft>
              <a:buNone/>
            </a:pPr>
            <a:r>
              <a:rPr lang="en-US" sz="1400" dirty="0">
                <a:solidFill>
                  <a:srgbClr val="1B2433"/>
                </a:solidFill>
                <a:latin typeface="Calibri" pitchFamily="34" charset="0"/>
                <a:ea typeface="Calibri" pitchFamily="34" charset="-122"/>
                <a:cs typeface="Calibri" pitchFamily="34" charset="-120"/>
              </a:rPr>
              <a:t>genuine sessions interrupted</a:t>
            </a:r>
            <a:endParaRPr lang="en-US" sz="1400" dirty="0"/>
          </a:p>
        </p:txBody>
      </p:sp>
      <p:sp>
        <p:nvSpPr>
          <p:cNvPr id="12" name="Text 10"/>
          <p:cNvSpPr txBox="1"/>
          <p:nvPr/>
        </p:nvSpPr>
        <p:spPr>
          <a:xfrm>
            <a:off x="548640" y="4114800"/>
            <a:ext cx="3474720" cy="2743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95% CI [2.64, 2.92] · target 3.0</a:t>
            </a:r>
            <a:endParaRPr lang="en-US" sz="1200" dirty="0"/>
          </a:p>
        </p:txBody>
      </p:sp>
      <p:sp>
        <p:nvSpPr>
          <p:cNvPr id="13" name="Text 11"/>
          <p:cNvSpPr txBox="1"/>
          <p:nvPr/>
        </p:nvSpPr>
        <p:spPr>
          <a:xfrm>
            <a:off x="548640" y="4572000"/>
            <a:ext cx="3474720" cy="640080"/>
          </a:xfrm>
          <a:prstGeom prst="rect">
            <a:avLst/>
          </a:prstGeom>
          <a:noFill/>
          <a:ln/>
        </p:spPr>
        <p:txBody>
          <a:bodyPr wrap="square" lIns="0" tIns="0" rIns="0" bIns="0" rtlCol="0" anchor="ctr"/>
          <a:lstStyle/>
          <a:p>
            <a:pPr indent="0" marL="0">
              <a:buNone/>
            </a:pPr>
            <a:r>
              <a:rPr lang="en-US" sz="3800" b="1" dirty="0">
                <a:solidFill>
                  <a:srgbClr val="1B2433"/>
                </a:solidFill>
                <a:latin typeface="Cambria" pitchFamily="34" charset="0"/>
                <a:ea typeface="Cambria" pitchFamily="34" charset="-122"/>
                <a:cs typeface="Cambria" pitchFamily="34" charset="-120"/>
              </a:rPr>
              <a:t>0.980</a:t>
            </a:r>
            <a:endParaRPr lang="en-US" sz="3800" dirty="0"/>
          </a:p>
        </p:txBody>
      </p:sp>
      <p:sp>
        <p:nvSpPr>
          <p:cNvPr id="14" name="Text 12"/>
          <p:cNvSpPr txBox="1"/>
          <p:nvPr/>
        </p:nvSpPr>
        <p:spPr>
          <a:xfrm>
            <a:off x="548640" y="5230368"/>
            <a:ext cx="3474720" cy="274320"/>
          </a:xfrm>
          <a:prstGeom prst="rect">
            <a:avLst/>
          </a:prstGeom>
          <a:noFill/>
          <a:ln/>
        </p:spPr>
        <p:txBody>
          <a:bodyPr wrap="square" lIns="0" tIns="0" rIns="0" bIns="0" rtlCol="0" anchor="t"/>
          <a:lstStyle/>
          <a:p>
            <a:pPr indent="0" marL="0">
              <a:spcAft>
                <a:spcPts val="400"/>
              </a:spcAft>
              <a:buNone/>
            </a:pPr>
            <a:r>
              <a:rPr lang="en-US" sz="1400" dirty="0">
                <a:solidFill>
                  <a:srgbClr val="1B2433"/>
                </a:solidFill>
                <a:latin typeface="Calibri" pitchFamily="34" charset="0"/>
                <a:ea typeface="Calibri" pitchFamily="34" charset="-122"/>
                <a:cs typeface="Calibri" pitchFamily="34" charset="-120"/>
              </a:rPr>
              <a:t>area under the precision-recall curve</a:t>
            </a:r>
            <a:endParaRPr lang="en-US" sz="1400" dirty="0"/>
          </a:p>
        </p:txBody>
      </p:sp>
      <p:sp>
        <p:nvSpPr>
          <p:cNvPr id="15" name="Text 13"/>
          <p:cNvSpPr txBox="1"/>
          <p:nvPr/>
        </p:nvSpPr>
        <p:spPr>
          <a:xfrm>
            <a:off x="548640" y="5486400"/>
            <a:ext cx="3474720" cy="27432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95% CI [0.978, 0.982]</a:t>
            </a:r>
            <a:endParaRPr lang="en-US" sz="1200" dirty="0"/>
          </a:p>
        </p:txBody>
      </p:sp>
      <p:sp>
        <p:nvSpPr>
          <p:cNvPr id="16" name="Text 14"/>
          <p:cNvSpPr txBox="1"/>
          <p:nvPr/>
        </p:nvSpPr>
        <p:spPr>
          <a:xfrm>
            <a:off x="5120640" y="1572768"/>
            <a:ext cx="6309360"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Scams caught vs genuine payments interrupted</a:t>
            </a:r>
            <a:endParaRPr lang="en-US" sz="1300" dirty="0"/>
          </a:p>
        </p:txBody>
      </p:sp>
      <p:sp>
        <p:nvSpPr>
          <p:cNvPr id="17" name="Shape 15"/>
          <p:cNvSpPr/>
          <p:nvPr/>
        </p:nvSpPr>
        <p:spPr>
          <a:xfrm>
            <a:off x="5120640" y="4552406"/>
            <a:ext cx="6309360" cy="0"/>
          </a:xfrm>
          <a:prstGeom prst="line">
            <a:avLst/>
          </a:prstGeom>
          <a:noFill/>
          <a:ln w="9525">
            <a:solidFill>
              <a:srgbClr val="E8EAED"/>
            </a:solidFill>
            <a:prstDash val="solid"/>
          </a:ln>
        </p:spPr>
      </p:sp>
      <p:sp>
        <p:nvSpPr>
          <p:cNvPr id="18" name="Text 16"/>
          <p:cNvSpPr txBox="1"/>
          <p:nvPr/>
        </p:nvSpPr>
        <p:spPr>
          <a:xfrm>
            <a:off x="4572000" y="4442678"/>
            <a:ext cx="457200" cy="219456"/>
          </a:xfrm>
          <a:prstGeom prst="rect">
            <a:avLst/>
          </a:prstGeom>
          <a:noFill/>
          <a:ln/>
        </p:spPr>
        <p:txBody>
          <a:bodyPr wrap="square" lIns="0" tIns="0" rIns="0" bIns="0" rtlCol="0" anchor="ctr"/>
          <a:lstStyle/>
          <a:p>
            <a:pPr algn="r" indent="0" marL="0">
              <a:buNone/>
            </a:pPr>
            <a:r>
              <a:rPr lang="en-US" sz="1050" dirty="0">
                <a:solidFill>
                  <a:srgbClr val="6E747E"/>
                </a:solidFill>
                <a:latin typeface="Calibri" pitchFamily="34" charset="0"/>
                <a:ea typeface="Calibri" pitchFamily="34" charset="-122"/>
                <a:cs typeface="Calibri" pitchFamily="34" charset="-120"/>
              </a:rPr>
              <a:t>92%</a:t>
            </a:r>
            <a:endParaRPr lang="en-US" sz="1050" dirty="0"/>
          </a:p>
        </p:txBody>
      </p:sp>
      <p:sp>
        <p:nvSpPr>
          <p:cNvPr id="19" name="Shape 17"/>
          <p:cNvSpPr/>
          <p:nvPr/>
        </p:nvSpPr>
        <p:spPr>
          <a:xfrm>
            <a:off x="5120640" y="3690257"/>
            <a:ext cx="6309360" cy="0"/>
          </a:xfrm>
          <a:prstGeom prst="line">
            <a:avLst/>
          </a:prstGeom>
          <a:noFill/>
          <a:ln w="9525">
            <a:solidFill>
              <a:srgbClr val="E8EAED"/>
            </a:solidFill>
            <a:prstDash val="solid"/>
          </a:ln>
        </p:spPr>
      </p:sp>
      <p:sp>
        <p:nvSpPr>
          <p:cNvPr id="20" name="Text 18"/>
          <p:cNvSpPr txBox="1"/>
          <p:nvPr/>
        </p:nvSpPr>
        <p:spPr>
          <a:xfrm>
            <a:off x="4572000" y="3580529"/>
            <a:ext cx="457200" cy="219456"/>
          </a:xfrm>
          <a:prstGeom prst="rect">
            <a:avLst/>
          </a:prstGeom>
          <a:noFill/>
          <a:ln/>
        </p:spPr>
        <p:txBody>
          <a:bodyPr wrap="square" lIns="0" tIns="0" rIns="0" bIns="0" rtlCol="0" anchor="ctr"/>
          <a:lstStyle/>
          <a:p>
            <a:pPr algn="r" indent="0" marL="0">
              <a:buNone/>
            </a:pPr>
            <a:r>
              <a:rPr lang="en-US" sz="1050" dirty="0">
                <a:solidFill>
                  <a:srgbClr val="6E747E"/>
                </a:solidFill>
                <a:latin typeface="Calibri" pitchFamily="34" charset="0"/>
                <a:ea typeface="Calibri" pitchFamily="34" charset="-122"/>
                <a:cs typeface="Calibri" pitchFamily="34" charset="-120"/>
              </a:rPr>
              <a:t>94%</a:t>
            </a:r>
            <a:endParaRPr lang="en-US" sz="1050" dirty="0"/>
          </a:p>
        </p:txBody>
      </p:sp>
      <p:sp>
        <p:nvSpPr>
          <p:cNvPr id="21" name="Shape 19"/>
          <p:cNvSpPr/>
          <p:nvPr/>
        </p:nvSpPr>
        <p:spPr>
          <a:xfrm>
            <a:off x="5120640" y="2828109"/>
            <a:ext cx="6309360" cy="0"/>
          </a:xfrm>
          <a:prstGeom prst="line">
            <a:avLst/>
          </a:prstGeom>
          <a:noFill/>
          <a:ln w="9525">
            <a:solidFill>
              <a:srgbClr val="E8EAED"/>
            </a:solidFill>
            <a:prstDash val="solid"/>
          </a:ln>
        </p:spPr>
      </p:sp>
      <p:sp>
        <p:nvSpPr>
          <p:cNvPr id="22" name="Text 20"/>
          <p:cNvSpPr txBox="1"/>
          <p:nvPr/>
        </p:nvSpPr>
        <p:spPr>
          <a:xfrm>
            <a:off x="4572000" y="2718381"/>
            <a:ext cx="457200" cy="219456"/>
          </a:xfrm>
          <a:prstGeom prst="rect">
            <a:avLst/>
          </a:prstGeom>
          <a:noFill/>
          <a:ln/>
        </p:spPr>
        <p:txBody>
          <a:bodyPr wrap="square" lIns="0" tIns="0" rIns="0" bIns="0" rtlCol="0" anchor="ctr"/>
          <a:lstStyle/>
          <a:p>
            <a:pPr algn="r" indent="0" marL="0">
              <a:buNone/>
            </a:pPr>
            <a:r>
              <a:rPr lang="en-US" sz="1050" dirty="0">
                <a:solidFill>
                  <a:srgbClr val="6E747E"/>
                </a:solidFill>
                <a:latin typeface="Calibri" pitchFamily="34" charset="0"/>
                <a:ea typeface="Calibri" pitchFamily="34" charset="-122"/>
                <a:cs typeface="Calibri" pitchFamily="34" charset="-120"/>
              </a:rPr>
              <a:t>96%</a:t>
            </a:r>
            <a:endParaRPr lang="en-US" sz="1050" dirty="0"/>
          </a:p>
        </p:txBody>
      </p:sp>
      <p:sp>
        <p:nvSpPr>
          <p:cNvPr id="23" name="Shape 21"/>
          <p:cNvSpPr/>
          <p:nvPr/>
        </p:nvSpPr>
        <p:spPr>
          <a:xfrm>
            <a:off x="5120640" y="1965960"/>
            <a:ext cx="6309360" cy="0"/>
          </a:xfrm>
          <a:prstGeom prst="line">
            <a:avLst/>
          </a:prstGeom>
          <a:noFill/>
          <a:ln w="9525">
            <a:solidFill>
              <a:srgbClr val="E8EAED"/>
            </a:solidFill>
            <a:prstDash val="solid"/>
          </a:ln>
        </p:spPr>
      </p:sp>
      <p:sp>
        <p:nvSpPr>
          <p:cNvPr id="24" name="Text 22"/>
          <p:cNvSpPr txBox="1"/>
          <p:nvPr/>
        </p:nvSpPr>
        <p:spPr>
          <a:xfrm>
            <a:off x="4572000" y="1856232"/>
            <a:ext cx="457200" cy="219456"/>
          </a:xfrm>
          <a:prstGeom prst="rect">
            <a:avLst/>
          </a:prstGeom>
          <a:noFill/>
          <a:ln/>
        </p:spPr>
        <p:txBody>
          <a:bodyPr wrap="square" lIns="0" tIns="0" rIns="0" bIns="0" rtlCol="0" anchor="ctr"/>
          <a:lstStyle/>
          <a:p>
            <a:pPr algn="r" indent="0" marL="0">
              <a:buNone/>
            </a:pPr>
            <a:r>
              <a:rPr lang="en-US" sz="1050" dirty="0">
                <a:solidFill>
                  <a:srgbClr val="6E747E"/>
                </a:solidFill>
                <a:latin typeface="Calibri" pitchFamily="34" charset="0"/>
                <a:ea typeface="Calibri" pitchFamily="34" charset="-122"/>
                <a:cs typeface="Calibri" pitchFamily="34" charset="-120"/>
              </a:rPr>
              <a:t>98%</a:t>
            </a:r>
            <a:endParaRPr lang="en-US" sz="1050" dirty="0"/>
          </a:p>
        </p:txBody>
      </p:sp>
      <p:sp>
        <p:nvSpPr>
          <p:cNvPr id="25" name="Shape 23"/>
          <p:cNvSpPr/>
          <p:nvPr/>
        </p:nvSpPr>
        <p:spPr>
          <a:xfrm>
            <a:off x="5120640" y="4983480"/>
            <a:ext cx="6309360" cy="0"/>
          </a:xfrm>
          <a:prstGeom prst="line">
            <a:avLst/>
          </a:prstGeom>
          <a:noFill/>
          <a:ln w="9525">
            <a:solidFill>
              <a:srgbClr val="9AA3AE"/>
            </a:solidFill>
            <a:prstDash val="solid"/>
          </a:ln>
        </p:spPr>
      </p:sp>
      <p:sp>
        <p:nvSpPr>
          <p:cNvPr id="26" name="Text 24"/>
          <p:cNvSpPr txBox="1"/>
          <p:nvPr/>
        </p:nvSpPr>
        <p:spPr>
          <a:xfrm>
            <a:off x="4846320" y="5029200"/>
            <a:ext cx="548640" cy="219456"/>
          </a:xfrm>
          <a:prstGeom prst="rect">
            <a:avLst/>
          </a:prstGeom>
          <a:noFill/>
          <a:ln/>
        </p:spPr>
        <p:txBody>
          <a:bodyPr wrap="square" lIns="0" tIns="0" rIns="0" bIns="0" rtlCol="0" anchor="ctr"/>
          <a:lstStyle/>
          <a:p>
            <a:pPr algn="ctr" indent="0" marL="0">
              <a:buNone/>
            </a:pPr>
            <a:r>
              <a:rPr lang="en-US" sz="1050" dirty="0">
                <a:solidFill>
                  <a:srgbClr val="6E747E"/>
                </a:solidFill>
                <a:latin typeface="Calibri" pitchFamily="34" charset="0"/>
                <a:ea typeface="Calibri" pitchFamily="34" charset="-122"/>
                <a:cs typeface="Calibri" pitchFamily="34" charset="-120"/>
              </a:rPr>
              <a:t>2.4</a:t>
            </a:r>
            <a:endParaRPr lang="en-US" sz="1050" dirty="0"/>
          </a:p>
        </p:txBody>
      </p:sp>
      <p:sp>
        <p:nvSpPr>
          <p:cNvPr id="27" name="Text 25"/>
          <p:cNvSpPr txBox="1"/>
          <p:nvPr/>
        </p:nvSpPr>
        <p:spPr>
          <a:xfrm>
            <a:off x="6648994" y="5029200"/>
            <a:ext cx="548640" cy="219456"/>
          </a:xfrm>
          <a:prstGeom prst="rect">
            <a:avLst/>
          </a:prstGeom>
          <a:noFill/>
          <a:ln/>
        </p:spPr>
        <p:txBody>
          <a:bodyPr wrap="square" lIns="0" tIns="0" rIns="0" bIns="0" rtlCol="0" anchor="ctr"/>
          <a:lstStyle/>
          <a:p>
            <a:pPr algn="ctr" indent="0" marL="0">
              <a:buNone/>
            </a:pPr>
            <a:r>
              <a:rPr lang="en-US" sz="1050" dirty="0">
                <a:solidFill>
                  <a:srgbClr val="6E747E"/>
                </a:solidFill>
                <a:latin typeface="Calibri" pitchFamily="34" charset="0"/>
                <a:ea typeface="Calibri" pitchFamily="34" charset="-122"/>
                <a:cs typeface="Calibri" pitchFamily="34" charset="-120"/>
              </a:rPr>
              <a:t>2.6</a:t>
            </a:r>
            <a:endParaRPr lang="en-US" sz="1050" dirty="0"/>
          </a:p>
        </p:txBody>
      </p:sp>
      <p:sp>
        <p:nvSpPr>
          <p:cNvPr id="28" name="Text 26"/>
          <p:cNvSpPr txBox="1"/>
          <p:nvPr/>
        </p:nvSpPr>
        <p:spPr>
          <a:xfrm>
            <a:off x="8451669" y="5029200"/>
            <a:ext cx="548640" cy="219456"/>
          </a:xfrm>
          <a:prstGeom prst="rect">
            <a:avLst/>
          </a:prstGeom>
          <a:noFill/>
          <a:ln/>
        </p:spPr>
        <p:txBody>
          <a:bodyPr wrap="square" lIns="0" tIns="0" rIns="0" bIns="0" rtlCol="0" anchor="ctr"/>
          <a:lstStyle/>
          <a:p>
            <a:pPr algn="ctr" indent="0" marL="0">
              <a:buNone/>
            </a:pPr>
            <a:r>
              <a:rPr lang="en-US" sz="1050" dirty="0">
                <a:solidFill>
                  <a:srgbClr val="6E747E"/>
                </a:solidFill>
                <a:latin typeface="Calibri" pitchFamily="34" charset="0"/>
                <a:ea typeface="Calibri" pitchFamily="34" charset="-122"/>
                <a:cs typeface="Calibri" pitchFamily="34" charset="-120"/>
              </a:rPr>
              <a:t>2.8</a:t>
            </a:r>
            <a:endParaRPr lang="en-US" sz="1050" dirty="0"/>
          </a:p>
        </p:txBody>
      </p:sp>
      <p:sp>
        <p:nvSpPr>
          <p:cNvPr id="29" name="Text 27"/>
          <p:cNvSpPr txBox="1"/>
          <p:nvPr/>
        </p:nvSpPr>
        <p:spPr>
          <a:xfrm>
            <a:off x="10254343" y="5029200"/>
            <a:ext cx="548640" cy="219456"/>
          </a:xfrm>
          <a:prstGeom prst="rect">
            <a:avLst/>
          </a:prstGeom>
          <a:noFill/>
          <a:ln/>
        </p:spPr>
        <p:txBody>
          <a:bodyPr wrap="square" lIns="0" tIns="0" rIns="0" bIns="0" rtlCol="0" anchor="ctr"/>
          <a:lstStyle/>
          <a:p>
            <a:pPr algn="ctr" indent="0" marL="0">
              <a:buNone/>
            </a:pPr>
            <a:r>
              <a:rPr lang="en-US" sz="1050" dirty="0">
                <a:solidFill>
                  <a:srgbClr val="6E747E"/>
                </a:solidFill>
                <a:latin typeface="Calibri" pitchFamily="34" charset="0"/>
                <a:ea typeface="Calibri" pitchFamily="34" charset="-122"/>
                <a:cs typeface="Calibri" pitchFamily="34" charset="-120"/>
              </a:rPr>
              <a:t>3.0</a:t>
            </a:r>
            <a:endParaRPr lang="en-US" sz="1050" dirty="0"/>
          </a:p>
        </p:txBody>
      </p:sp>
      <p:sp>
        <p:nvSpPr>
          <p:cNvPr id="30" name="Text 28"/>
          <p:cNvSpPr txBox="1"/>
          <p:nvPr/>
        </p:nvSpPr>
        <p:spPr>
          <a:xfrm>
            <a:off x="5120640" y="5257800"/>
            <a:ext cx="6309360" cy="228600"/>
          </a:xfrm>
          <a:prstGeom prst="rect">
            <a:avLst/>
          </a:prstGeom>
          <a:noFill/>
          <a:ln/>
        </p:spPr>
        <p:txBody>
          <a:bodyPr wrap="square" lIns="0" tIns="0" rIns="0" bIns="0" rtlCol="0" anchor="ctr"/>
          <a:lstStyle/>
          <a:p>
            <a:pPr algn="ctr" indent="0" marL="0">
              <a:buNone/>
            </a:pPr>
            <a:r>
              <a:rPr lang="en-US" sz="1100" dirty="0">
                <a:solidFill>
                  <a:srgbClr val="3A4353"/>
                </a:solidFill>
                <a:latin typeface="Calibri" pitchFamily="34" charset="0"/>
                <a:ea typeface="Calibri" pitchFamily="34" charset="-122"/>
                <a:cs typeface="Calibri" pitchFamily="34" charset="-120"/>
              </a:rPr>
              <a:t>genuine payments interrupted per 1,000  →  fewer is better</a:t>
            </a:r>
            <a:endParaRPr lang="en-US" sz="1100" dirty="0"/>
          </a:p>
        </p:txBody>
      </p:sp>
      <p:sp>
        <p:nvSpPr>
          <p:cNvPr id="31" name="Shape 29"/>
          <p:cNvSpPr/>
          <p:nvPr/>
        </p:nvSpPr>
        <p:spPr>
          <a:xfrm>
            <a:off x="8399580" y="4353360"/>
            <a:ext cx="164592" cy="164592"/>
          </a:xfrm>
          <a:prstGeom prst="ellipse">
            <a:avLst/>
          </a:prstGeom>
          <a:solidFill>
            <a:srgbClr val="D9480F"/>
          </a:solidFill>
          <a:ln w="12700">
            <a:solidFill>
              <a:srgbClr val="D9480F"/>
            </a:solidFill>
            <a:prstDash val="solid"/>
          </a:ln>
        </p:spPr>
      </p:sp>
      <p:sp>
        <p:nvSpPr>
          <p:cNvPr id="32" name="Text 30"/>
          <p:cNvSpPr txBox="1"/>
          <p:nvPr/>
        </p:nvSpPr>
        <p:spPr>
          <a:xfrm>
            <a:off x="8619036" y="4325928"/>
            <a:ext cx="2194560" cy="219456"/>
          </a:xfrm>
          <a:prstGeom prst="rect">
            <a:avLst/>
          </a:prstGeom>
          <a:noFill/>
          <a:ln/>
        </p:spPr>
        <p:txBody>
          <a:bodyPr wrap="square" lIns="0" tIns="0" rIns="0" bIns="0" rtlCol="0" anchor="ctr"/>
          <a:lstStyle/>
          <a:p>
            <a:pPr indent="0" marL="0">
              <a:buNone/>
            </a:pPr>
            <a:r>
              <a:rPr lang="en-US" sz="1100" b="1" dirty="0">
                <a:solidFill>
                  <a:srgbClr val="D9480F"/>
                </a:solidFill>
                <a:latin typeface="Calibri" pitchFamily="34" charset="0"/>
                <a:ea typeface="Calibri" pitchFamily="34" charset="-122"/>
                <a:cs typeface="Calibri" pitchFamily="34" charset="-120"/>
              </a:rPr>
              <a:t>Chakravyuh  92.3%</a:t>
            </a:r>
            <a:endParaRPr lang="en-US" sz="1100" dirty="0"/>
          </a:p>
        </p:txBody>
      </p:sp>
      <p:sp>
        <p:nvSpPr>
          <p:cNvPr id="33" name="Shape 31"/>
          <p:cNvSpPr/>
          <p:nvPr/>
        </p:nvSpPr>
        <p:spPr>
          <a:xfrm>
            <a:off x="9958143" y="2698664"/>
            <a:ext cx="164592" cy="164592"/>
          </a:xfrm>
          <a:prstGeom prst="ellipse">
            <a:avLst/>
          </a:prstGeom>
          <a:solidFill>
            <a:srgbClr val="4A5568"/>
          </a:solidFill>
          <a:ln w="12700">
            <a:solidFill>
              <a:srgbClr val="4A5568"/>
            </a:solidFill>
            <a:prstDash val="solid"/>
          </a:ln>
        </p:spPr>
      </p:sp>
      <p:sp>
        <p:nvSpPr>
          <p:cNvPr id="34" name="Text 32"/>
          <p:cNvSpPr txBox="1"/>
          <p:nvPr/>
        </p:nvSpPr>
        <p:spPr>
          <a:xfrm>
            <a:off x="10177599" y="2671232"/>
            <a:ext cx="2194560" cy="219456"/>
          </a:xfrm>
          <a:prstGeom prst="rect">
            <a:avLst/>
          </a:prstGeom>
          <a:noFill/>
          <a:ln/>
        </p:spPr>
        <p:txBody>
          <a:bodyPr wrap="square" lIns="0" tIns="0" rIns="0" bIns="0" rtlCol="0" anchor="ctr"/>
          <a:lstStyle/>
          <a:p>
            <a:pPr indent="0" marL="0">
              <a:buNone/>
            </a:pPr>
            <a:r>
              <a:rPr lang="en-US" sz="1100" dirty="0">
                <a:solidFill>
                  <a:srgbClr val="3A4353"/>
                </a:solidFill>
                <a:latin typeface="Calibri" pitchFamily="34" charset="0"/>
                <a:ea typeface="Calibri" pitchFamily="34" charset="-122"/>
                <a:cs typeface="Calibri" pitchFamily="34" charset="-120"/>
              </a:rPr>
              <a:t>Logistic regression  96.1%</a:t>
            </a:r>
            <a:endParaRPr lang="en-US" sz="1100" dirty="0"/>
          </a:p>
        </p:txBody>
      </p:sp>
      <p:sp>
        <p:nvSpPr>
          <p:cNvPr id="35" name="Shape 33"/>
          <p:cNvSpPr/>
          <p:nvPr/>
        </p:nvSpPr>
        <p:spPr>
          <a:xfrm>
            <a:off x="7592133" y="2510069"/>
            <a:ext cx="164592" cy="164592"/>
          </a:xfrm>
          <a:prstGeom prst="ellipse">
            <a:avLst/>
          </a:prstGeom>
          <a:solidFill>
            <a:srgbClr val="4A5568"/>
          </a:solidFill>
          <a:ln w="12700">
            <a:solidFill>
              <a:srgbClr val="4A5568"/>
            </a:solidFill>
            <a:prstDash val="solid"/>
          </a:ln>
        </p:spPr>
      </p:sp>
      <p:sp>
        <p:nvSpPr>
          <p:cNvPr id="36" name="Text 34"/>
          <p:cNvSpPr txBox="1"/>
          <p:nvPr/>
        </p:nvSpPr>
        <p:spPr>
          <a:xfrm>
            <a:off x="6577149" y="2244893"/>
            <a:ext cx="2194560" cy="219456"/>
          </a:xfrm>
          <a:prstGeom prst="rect">
            <a:avLst/>
          </a:prstGeom>
          <a:noFill/>
          <a:ln/>
        </p:spPr>
        <p:txBody>
          <a:bodyPr wrap="square" lIns="0" tIns="0" rIns="0" bIns="0" rtlCol="0" anchor="ctr"/>
          <a:lstStyle/>
          <a:p>
            <a:pPr algn="ctr" indent="0" marL="0">
              <a:buNone/>
            </a:pPr>
            <a:r>
              <a:rPr lang="en-US" sz="1100" dirty="0">
                <a:solidFill>
                  <a:srgbClr val="3A4353"/>
                </a:solidFill>
                <a:latin typeface="Calibri" pitchFamily="34" charset="0"/>
                <a:ea typeface="Calibri" pitchFamily="34" charset="-122"/>
                <a:cs typeface="Calibri" pitchFamily="34" charset="-120"/>
              </a:rPr>
              <a:t>Gradient boosting  96.5%</a:t>
            </a:r>
            <a:endParaRPr lang="en-US" sz="1100" dirty="0"/>
          </a:p>
        </p:txBody>
      </p:sp>
      <p:sp>
        <p:nvSpPr>
          <p:cNvPr id="37" name="Shape 35"/>
          <p:cNvSpPr/>
          <p:nvPr/>
        </p:nvSpPr>
        <p:spPr>
          <a:xfrm>
            <a:off x="6014793" y="2651515"/>
            <a:ext cx="164592" cy="164592"/>
          </a:xfrm>
          <a:prstGeom prst="ellipse">
            <a:avLst/>
          </a:prstGeom>
          <a:solidFill>
            <a:srgbClr val="4A5568"/>
          </a:solidFill>
          <a:ln w="12700">
            <a:solidFill>
              <a:srgbClr val="4A5568"/>
            </a:solidFill>
            <a:prstDash val="solid"/>
          </a:ln>
        </p:spPr>
      </p:sp>
      <p:sp>
        <p:nvSpPr>
          <p:cNvPr id="38" name="Text 36"/>
          <p:cNvSpPr txBox="1"/>
          <p:nvPr/>
        </p:nvSpPr>
        <p:spPr>
          <a:xfrm>
            <a:off x="4999809" y="2852683"/>
            <a:ext cx="2194560" cy="219456"/>
          </a:xfrm>
          <a:prstGeom prst="rect">
            <a:avLst/>
          </a:prstGeom>
          <a:noFill/>
          <a:ln/>
        </p:spPr>
        <p:txBody>
          <a:bodyPr wrap="square" lIns="0" tIns="0" rIns="0" bIns="0" rtlCol="0" anchor="ctr"/>
          <a:lstStyle/>
          <a:p>
            <a:pPr algn="ctr" indent="0" marL="0">
              <a:buNone/>
            </a:pPr>
            <a:r>
              <a:rPr lang="en-US" sz="1100" dirty="0">
                <a:solidFill>
                  <a:srgbClr val="3A4353"/>
                </a:solidFill>
                <a:latin typeface="Calibri" pitchFamily="34" charset="0"/>
                <a:ea typeface="Calibri" pitchFamily="34" charset="-122"/>
                <a:cs typeface="Calibri" pitchFamily="34" charset="-120"/>
              </a:rPr>
              <a:t>XGBoost  96.2%</a:t>
            </a:r>
            <a:endParaRPr lang="en-US" sz="1100" dirty="0"/>
          </a:p>
        </p:txBody>
      </p:sp>
      <p:sp>
        <p:nvSpPr>
          <p:cNvPr id="39" name="Shape 37"/>
          <p:cNvSpPr/>
          <p:nvPr/>
        </p:nvSpPr>
        <p:spPr>
          <a:xfrm>
            <a:off x="9995698" y="2391074"/>
            <a:ext cx="164592" cy="164592"/>
          </a:xfrm>
          <a:prstGeom prst="ellipse">
            <a:avLst/>
          </a:prstGeom>
          <a:solidFill>
            <a:srgbClr val="4A5568"/>
          </a:solidFill>
          <a:ln w="12700">
            <a:solidFill>
              <a:srgbClr val="4A5568"/>
            </a:solidFill>
            <a:prstDash val="solid"/>
          </a:ln>
        </p:spPr>
      </p:sp>
      <p:sp>
        <p:nvSpPr>
          <p:cNvPr id="40" name="Text 38"/>
          <p:cNvSpPr txBox="1"/>
          <p:nvPr/>
        </p:nvSpPr>
        <p:spPr>
          <a:xfrm>
            <a:off x="10215154" y="2363642"/>
            <a:ext cx="2194560" cy="219456"/>
          </a:xfrm>
          <a:prstGeom prst="rect">
            <a:avLst/>
          </a:prstGeom>
          <a:noFill/>
          <a:ln/>
        </p:spPr>
        <p:txBody>
          <a:bodyPr wrap="square" lIns="0" tIns="0" rIns="0" bIns="0" rtlCol="0" anchor="ctr"/>
          <a:lstStyle/>
          <a:p>
            <a:pPr indent="0" marL="0">
              <a:buNone/>
            </a:pPr>
            <a:r>
              <a:rPr lang="en-US" sz="1100" dirty="0">
                <a:solidFill>
                  <a:srgbClr val="3A4353"/>
                </a:solidFill>
                <a:latin typeface="Calibri" pitchFamily="34" charset="0"/>
                <a:ea typeface="Calibri" pitchFamily="34" charset="-122"/>
                <a:cs typeface="Calibri" pitchFamily="34" charset="-120"/>
              </a:rPr>
              <a:t>MLP  96.8%</a:t>
            </a:r>
            <a:endParaRPr lang="en-US" sz="1100" dirty="0"/>
          </a:p>
        </p:txBody>
      </p:sp>
      <p:sp>
        <p:nvSpPr>
          <p:cNvPr id="41" name="Text 39"/>
          <p:cNvSpPr txBox="1"/>
          <p:nvPr/>
        </p:nvSpPr>
        <p:spPr>
          <a:xfrm>
            <a:off x="4206240" y="5669280"/>
            <a:ext cx="7406640" cy="685800"/>
          </a:xfrm>
          <a:prstGeom prst="rect">
            <a:avLst/>
          </a:prstGeom>
          <a:noFill/>
          <a:ln/>
        </p:spPr>
        <p:txBody>
          <a:bodyPr wrap="square" lIns="0" tIns="0" rIns="0" bIns="0" rtlCol="0" anchor="t"/>
          <a:lstStyle/>
          <a:p>
            <a:pPr indent="0" marL="0">
              <a:spcAft>
                <a:spcPts val="400"/>
              </a:spcAft>
              <a:buNone/>
            </a:pPr>
            <a:r>
              <a:rPr lang="en-US" sz="1250" b="1" dirty="0">
                <a:solidFill>
                  <a:srgbClr val="1B2433"/>
                </a:solidFill>
                <a:latin typeface="Calibri" pitchFamily="34" charset="0"/>
                <a:ea typeface="Calibri" pitchFamily="34" charset="-122"/>
                <a:cs typeface="Calibri" pitchFamily="34" charset="-120"/>
              </a:rPr>
              <a:t>What we give up. </a:t>
            </a:r>
            <a:pPr indent="0" marL="0">
              <a:spcAft>
                <a:spcPts val="400"/>
              </a:spcAft>
              <a:buNone/>
            </a:pPr>
            <a:r>
              <a:rPr lang="en-US" sz="1250" dirty="0">
                <a:solidFill>
                  <a:srgbClr val="3A4353"/>
                </a:solidFill>
                <a:latin typeface="Calibri" pitchFamily="34" charset="0"/>
                <a:ea typeface="Calibri" pitchFamily="34" charset="-122"/>
                <a:cs typeface="Calibri" pitchFamily="34" charset="-120"/>
              </a:rPr>
              <a:t>At a similar alert rate (each tuned to ours), standard classifiers catch 96.1%–96.8% of scams, about 4 points more. 47% of that gap is collect-request scams, which only show one stage. The rule-based check (“new payee + high amount”, not shown) catches 48.1% at 9.3 per 1,000.</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7  ·  Why the two-stage rule</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8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Why not just use logistic regression?</a:t>
            </a:r>
            <a:endParaRPr lang="en-US" sz="3400" dirty="0"/>
          </a:p>
        </p:txBody>
      </p:sp>
      <p:sp>
        <p:nvSpPr>
          <p:cNvPr id="6" name="Text 4"/>
          <p:cNvSpPr txBox="1"/>
          <p:nvPr/>
        </p:nvSpPr>
        <p:spPr>
          <a:xfrm>
            <a:off x="548640" y="1325880"/>
            <a:ext cx="10058400" cy="457200"/>
          </a:xfrm>
          <a:prstGeom prst="rect">
            <a:avLst/>
          </a:prstGeom>
          <a:noFill/>
          <a:ln/>
        </p:spPr>
        <p:txBody>
          <a:bodyPr wrap="square" lIns="0" tIns="0" rIns="0" bIns="0" rtlCol="0" anchor="t"/>
          <a:lstStyle/>
          <a:p>
            <a:pPr indent="0" marL="0">
              <a:spcAft>
                <a:spcPts val="400"/>
              </a:spcAft>
              <a:buNone/>
            </a:pPr>
            <a:r>
              <a:rPr lang="en-US" sz="1600" dirty="0">
                <a:solidFill>
                  <a:srgbClr val="3A4353"/>
                </a:solidFill>
                <a:latin typeface="Calibri" pitchFamily="34" charset="0"/>
                <a:ea typeface="Calibri" pitchFamily="34" charset="-122"/>
                <a:cs typeface="Calibri" pitchFamily="34" charset="-120"/>
              </a:rPr>
              <a:t>Logistic regression is also explainable and catches more scams. So we measured what our two-stage rule adds, at the same alert rate.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035040" cy="914400"/>
        </p:xfrm>
        <a:graphic>
          <a:graphicData uri="http://schemas.openxmlformats.org/drawingml/2006/table">
            <a:tbl>
              <a:tblPr/>
              <a:tblGrid>
                <a:gridCol w="3474720"/>
                <a:gridCol w="1371600"/>
                <a:gridCol w="1188720"/>
              </a:tblGrid>
              <a:tr h="411480">
                <a:tc>
                  <a:txBody>
                    <a:bodyPr/>
                    <a:lstStyle/>
                    <a:p>
                      <a:pPr algn="l" indent="0" marL="0">
                        <a:buNone/>
                      </a:pPr>
                      <a:endParaRPr lang="en-US" sz="13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300" b="1" dirty="0">
                          <a:solidFill>
                            <a:srgbClr val="3A4353"/>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300" b="1" dirty="0">
                          <a:solidFill>
                            <a:srgbClr val="3A4353"/>
                          </a:solidFill>
                          <a:latin typeface="Calibri" pitchFamily="34" charset="0"/>
                          <a:ea typeface="Calibri" pitchFamily="34" charset="-122"/>
                          <a:cs typeface="Calibri" pitchFamily="34" charset="-120"/>
                        </a:rPr>
                        <a:t>Chakravyuh</a:t>
                      </a:r>
                      <a:endParaRPr lang="en-US" sz="13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algn="l" indent="0" marL="0">
                        <a:buNone/>
                      </a:pPr>
                      <a:r>
                        <a:rPr lang="en-US" sz="1600" dirty="0">
                          <a:solidFill>
                            <a:srgbClr val="1B2433"/>
                          </a:solidFill>
                          <a:latin typeface="Calibri" pitchFamily="34" charset="0"/>
                          <a:ea typeface="Calibri" pitchFamily="34" charset="-122"/>
                          <a:cs typeface="Calibri" pitchFamily="34" charset="-120"/>
                        </a:rPr>
                        <a:t>Scams caught</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1B2433"/>
                          </a:solidFill>
                          <a:latin typeface="Calibri" pitchFamily="34" charset="0"/>
                          <a:ea typeface="Calibri" pitchFamily="34" charset="-122"/>
                          <a:cs typeface="Calibri" pitchFamily="34" charset="-120"/>
                        </a:rPr>
                        <a:t>96.1%</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1B2433"/>
                          </a:solidFill>
                          <a:latin typeface="Calibri" pitchFamily="34" charset="0"/>
                          <a:ea typeface="Calibri" pitchFamily="34" charset="-122"/>
                          <a:cs typeface="Calibri" pitchFamily="34" charset="-120"/>
                        </a:rPr>
                        <a:t>92.3%</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algn="l" indent="0" marL="0">
                        <a:buNone/>
                      </a:pPr>
                      <a:r>
                        <a:rPr lang="en-US" sz="1600" dirty="0">
                          <a:solidFill>
                            <a:srgbClr val="1B2433"/>
                          </a:solidFill>
                          <a:latin typeface="Calibri" pitchFamily="34" charset="0"/>
                          <a:ea typeface="Calibri" pitchFamily="34" charset="-122"/>
                          <a:cs typeface="Calibri" pitchFamily="34" charset="-120"/>
                        </a:rPr>
                        <a:t>Genuine payments interrupted per 1,000</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1B2433"/>
                          </a:solidFill>
                          <a:latin typeface="Calibri" pitchFamily="34" charset="0"/>
                          <a:ea typeface="Calibri" pitchFamily="34" charset="-122"/>
                          <a:cs typeface="Calibri" pitchFamily="34" charset="-120"/>
                        </a:rPr>
                        <a:t>2.95</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1B2433"/>
                          </a:solidFill>
                          <a:latin typeface="Calibri" pitchFamily="34" charset="0"/>
                          <a:ea typeface="Calibri" pitchFamily="34" charset="-122"/>
                          <a:cs typeface="Calibri" pitchFamily="34" charset="-120"/>
                        </a:rPr>
                        <a:t>2.77</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48640">
                <a:tc>
                  <a:txBody>
                    <a:bodyPr/>
                    <a:lstStyle/>
                    <a:p>
                      <a:pPr algn="l" indent="0" marL="0">
                        <a:buNone/>
                      </a:pPr>
                      <a:r>
                        <a:rPr lang="en-US" sz="1600" dirty="0">
                          <a:solidFill>
                            <a:srgbClr val="1B2433"/>
                          </a:solidFill>
                          <a:latin typeface="Calibri" pitchFamily="34" charset="0"/>
                          <a:ea typeface="Calibri" pitchFamily="34" charset="-122"/>
                          <a:cs typeface="Calibri" pitchFamily="34" charset="-120"/>
                        </a:rPr>
                        <a:t>…of which showed only one stage</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dirty="0">
                          <a:solidFill>
                            <a:srgbClr val="1B2433"/>
                          </a:solidFill>
                          <a:latin typeface="Calibri" pitchFamily="34" charset="0"/>
                          <a:ea typeface="Calibri" pitchFamily="34" charset="-122"/>
                          <a:cs typeface="Calibri" pitchFamily="34" charset="-120"/>
                        </a:rPr>
                        <a:t>49%</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algn="r" indent="0" marL="0">
                        <a:buNone/>
                      </a:pPr>
                      <a:r>
                        <a:rPr lang="en-US" sz="1600" b="1" dirty="0">
                          <a:solidFill>
                            <a:srgbClr val="D9480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8" name="Shape 5"/>
          <p:cNvSpPr/>
          <p:nvPr/>
        </p:nvSpPr>
        <p:spPr>
          <a:xfrm>
            <a:off x="7040880" y="2011680"/>
            <a:ext cx="4599432" cy="2514600"/>
          </a:xfrm>
          <a:prstGeom prst="rect">
            <a:avLst/>
          </a:prstGeom>
          <a:solidFill>
            <a:srgbClr val="F3F4F6"/>
          </a:solidFill>
          <a:ln w="12700">
            <a:solidFill>
              <a:srgbClr val="F3F4F6"/>
            </a:solidFill>
            <a:prstDash val="solid"/>
          </a:ln>
        </p:spPr>
      </p:sp>
      <p:sp>
        <p:nvSpPr>
          <p:cNvPr id="9" name="Text 6"/>
          <p:cNvSpPr txBox="1"/>
          <p:nvPr/>
        </p:nvSpPr>
        <p:spPr>
          <a:xfrm>
            <a:off x="7315200" y="2176272"/>
            <a:ext cx="4114800" cy="27432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A genuine payment the rule spares</a:t>
            </a:r>
            <a:endParaRPr lang="en-US" sz="1400" dirty="0"/>
          </a:p>
        </p:txBody>
      </p:sp>
      <p:sp>
        <p:nvSpPr>
          <p:cNvPr id="10" name="Text 7"/>
          <p:cNvSpPr txBox="1"/>
          <p:nvPr/>
        </p:nvSpPr>
        <p:spPr>
          <a:xfrm>
            <a:off x="7315200" y="2514600"/>
            <a:ext cx="4114800" cy="548640"/>
          </a:xfrm>
          <a:prstGeom prst="rect">
            <a:avLst/>
          </a:prstGeom>
          <a:noFill/>
          <a:ln/>
        </p:spPr>
        <p:txBody>
          <a:bodyPr wrap="square" lIns="0" tIns="0" rIns="0" bIns="0" rtlCol="0" anchor="ctr"/>
          <a:lstStyle/>
          <a:p>
            <a:pPr indent="0" marL="0">
              <a:buNone/>
            </a:pPr>
            <a:r>
              <a:rPr lang="en-US" sz="3000" b="1" dirty="0">
                <a:solidFill>
                  <a:srgbClr val="1B2433"/>
                </a:solidFill>
                <a:latin typeface="Cambria" pitchFamily="34" charset="0"/>
                <a:ea typeface="Cambria" pitchFamily="34" charset="-122"/>
                <a:cs typeface="Cambria" pitchFamily="34" charset="-120"/>
              </a:rPr>
              <a:t>₹6,750</a:t>
            </a:r>
            <a:endParaRPr lang="en-US" sz="3000" dirty="0"/>
          </a:p>
        </p:txBody>
      </p:sp>
      <p:sp>
        <p:nvSpPr>
          <p:cNvPr id="11" name="Text 8"/>
          <p:cNvSpPr txBox="1"/>
          <p:nvPr/>
        </p:nvSpPr>
        <p:spPr>
          <a:xfrm>
            <a:off x="7315200" y="3154680"/>
            <a:ext cx="4069080" cy="118872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A shopkeeper pays on a collect request from a new payee. No call, no screen-sharing, a normal receiving account. Logistic regression interrupts it. Chakravyuh sees one stage, so it only logs it.</a:t>
            </a:r>
            <a:endParaRPr lang="en-US" sz="1400" dirty="0"/>
          </a:p>
        </p:txBody>
      </p:sp>
      <p:sp>
        <p:nvSpPr>
          <p:cNvPr id="12" name="Text 9"/>
          <p:cNvSpPr txBox="1"/>
          <p:nvPr/>
        </p:nvSpPr>
        <p:spPr>
          <a:xfrm>
            <a:off x="7315200" y="4224528"/>
            <a:ext cx="4069080" cy="228600"/>
          </a:xfrm>
          <a:prstGeom prst="rect">
            <a:avLst/>
          </a:prstGeom>
          <a:noFill/>
          <a:ln/>
        </p:spPr>
        <p:txBody>
          <a:bodyPr wrap="square" lIns="0" tIns="0" rIns="0" bIns="0" rtlCol="0" anchor="ctr"/>
          <a:lstStyle/>
          <a:p>
            <a:pPr indent="0" marL="0">
              <a:buNone/>
            </a:pPr>
            <a:r>
              <a:rPr lang="en-US" sz="1100" i="1" dirty="0">
                <a:solidFill>
                  <a:srgbClr val="6E747E"/>
                </a:solidFill>
                <a:latin typeface="Calibri" pitchFamily="34" charset="0"/>
                <a:ea typeface="Calibri" pitchFamily="34" charset="-122"/>
                <a:cs typeface="Calibri" pitchFamily="34" charset="-120"/>
              </a:rPr>
              <a:t>From our synthetic test data.</a:t>
            </a:r>
            <a:endParaRPr lang="en-US" sz="1100" dirty="0"/>
          </a:p>
        </p:txBody>
      </p:sp>
      <p:sp>
        <p:nvSpPr>
          <p:cNvPr id="13" name="Text 10"/>
          <p:cNvSpPr txBox="1"/>
          <p:nvPr/>
        </p:nvSpPr>
        <p:spPr>
          <a:xfrm>
            <a:off x="548640" y="4892040"/>
            <a:ext cx="3657600" cy="32004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The cost</a:t>
            </a:r>
            <a:endParaRPr lang="en-US" sz="1500" dirty="0"/>
          </a:p>
        </p:txBody>
      </p:sp>
      <p:sp>
        <p:nvSpPr>
          <p:cNvPr id="14" name="Text 11"/>
          <p:cNvSpPr txBox="1"/>
          <p:nvPr/>
        </p:nvSpPr>
        <p:spPr>
          <a:xfrm>
            <a:off x="548640" y="5212080"/>
            <a:ext cx="10515600" cy="731520"/>
          </a:xfrm>
          <a:prstGeom prst="rect">
            <a:avLst/>
          </a:prstGeom>
          <a:noFill/>
          <a:ln/>
        </p:spPr>
        <p:txBody>
          <a:bodyPr wrap="square" lIns="0" tIns="0" rIns="0" bIns="0" rtlCol="0" anchor="t"/>
          <a:lstStyle/>
          <a:p>
            <a:pPr indent="0" marL="0">
              <a:spcAft>
                <a:spcPts val="400"/>
              </a:spcAft>
              <a:buNone/>
            </a:pPr>
            <a:r>
              <a:rPr lang="en-US" sz="1500" dirty="0">
                <a:solidFill>
                  <a:srgbClr val="3A4353"/>
                </a:solidFill>
                <a:latin typeface="Calibri" pitchFamily="34" charset="0"/>
                <a:ea typeface="Calibri" pitchFamily="34" charset="-122"/>
                <a:cs typeface="Calibri" pitchFamily="34" charset="-120"/>
              </a:rPr>
              <a:t>Scams that only ever show one stage get through, mostly collect-request scams. We will add a specific warning for collect requests from individuals and test it in the finale.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8  ·  Robustness</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9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What if the fraudster changes tactics?</a:t>
            </a:r>
            <a:endParaRPr lang="en-US" sz="3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863840" cy="914400"/>
        </p:xfrm>
        <a:graphic>
          <a:graphicData uri="http://schemas.openxmlformats.org/drawingml/2006/table">
            <a:tbl>
              <a:tblPr/>
              <a:tblGrid>
                <a:gridCol w="2514600"/>
                <a:gridCol w="2331720"/>
                <a:gridCol w="2240280"/>
                <a:gridCol w="777240"/>
              </a:tblGrid>
              <a:tr h="365760">
                <a:tc>
                  <a:txBody>
                    <a:bodyPr/>
                    <a:lstStyle/>
                    <a:p>
                      <a:pPr indent="0" marL="0">
                        <a:buNone/>
                      </a:pPr>
                      <a:r>
                        <a:rPr lang="en-US" sz="1200" b="1" dirty="0">
                          <a:solidFill>
                            <a:srgbClr val="3A4353"/>
                          </a:solidFill>
                          <a:latin typeface="Calibri" pitchFamily="34" charset="0"/>
                          <a:ea typeface="Calibri" pitchFamily="34" charset="-122"/>
                          <a:cs typeface="Calibri" pitchFamily="34" charset="-120"/>
                        </a:rPr>
                        <a:t>Can they…</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b="1" dirty="0">
                          <a:solidFill>
                            <a:srgbClr val="3A4353"/>
                          </a:solidFill>
                          <a:latin typeface="Calibri" pitchFamily="34" charset="0"/>
                          <a:ea typeface="Calibri" pitchFamily="34" charset="-122"/>
                          <a:cs typeface="Calibri" pitchFamily="34" charset="-120"/>
                        </a:rPr>
                        <a:t>Our answer</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b="1" dirty="0">
                          <a:solidFill>
                            <a:srgbClr val="3A4353"/>
                          </a:solidFill>
                          <a:latin typeface="Calibri" pitchFamily="34" charset="0"/>
                          <a:ea typeface="Calibri" pitchFamily="34" charset="-122"/>
                          <a:cs typeface="Calibri" pitchFamily="34" charset="-120"/>
                        </a:rPr>
                        <a:t>What we found</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b="1" dirty="0">
                          <a:solidFill>
                            <a:srgbClr val="3A4353"/>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11430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Hide their tracks?</a:t>
                      </a:r>
                      <a:endParaRPr lang="en-US" sz="1300" dirty="0">
                        <a:latin typeface="Calibri" charset="0"/>
                        <a:ea typeface="Calibri" charset="0"/>
                        <a:cs typeface="Calibri" charset="0"/>
                      </a:endParaRPr>
                    </a:p>
                    <a:p>
                      <a:pPr indent="0" marL="0">
                        <a:buNone/>
                      </a:pPr>
                      <a:r>
                        <a:rPr lang="en-US" sz="1200" dirty="0">
                          <a:solidFill>
                            <a:srgbClr val="6E747E"/>
                          </a:solidFill>
                          <a:latin typeface="Calibri" pitchFamily="34" charset="0"/>
                          <a:ea typeface="Calibri" pitchFamily="34" charset="-122"/>
                          <a:cs typeface="Calibri" pitchFamily="34" charset="-120"/>
                        </a:rPr>
                        <a:t>Hang up before paying, skip screen-sharing, send less.</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Payment and receiving-account signals come from the bank, which the caller cannot hide.</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86.9% of these sessions still caught. Worst case, hiding the strongest signal: 62%; two: 44%.</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measured</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96012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Split one payment into several?</a:t>
                      </a:r>
                      <a:endParaRPr lang="en-US" sz="1300" dirty="0">
                        <a:latin typeface="Calibri" charset="0"/>
                        <a:ea typeface="Calibri" charset="0"/>
                        <a:cs typeface="Calibri" charset="0"/>
                      </a:endParaRPr>
                    </a:p>
                    <a:p>
                      <a:pPr indent="0" marL="0">
                        <a:buNone/>
                      </a:pPr>
                      <a:r>
                        <a:rPr lang="en-US" sz="1200" dirty="0">
                          <a:solidFill>
                            <a:srgbClr val="6E747E"/>
                          </a:solidFill>
                          <a:latin typeface="Calibri" pitchFamily="34" charset="0"/>
                          <a:ea typeface="Calibri" pitchFamily="34" charset="-122"/>
                          <a:cs typeface="Calibri" pitchFamily="34" charset="-120"/>
                        </a:rPr>
                        <a:t>Four payments of ₹25,000 instead of one ₹1,00,000.</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A signal for two or more payments to new payees within 60 minutes.</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Not separately simulated yet.</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i="1" dirty="0">
                          <a:solidFill>
                            <a:srgbClr val="6E747E"/>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11430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Use older, rented mule accounts?</a:t>
                      </a:r>
                      <a:endParaRPr lang="en-US" sz="1300" dirty="0">
                        <a:latin typeface="Calibri" charset="0"/>
                        <a:ea typeface="Calibri" charset="0"/>
                        <a:cs typeface="Calibri" charset="0"/>
                      </a:endParaRPr>
                    </a:p>
                    <a:p>
                      <a:pPr indent="0" marL="0">
                        <a:buNone/>
                      </a:pPr>
                      <a:r>
                        <a:rPr lang="en-US" sz="1200" dirty="0">
                          <a:solidFill>
                            <a:srgbClr val="6E747E"/>
                          </a:solidFill>
                          <a:latin typeface="Calibri" pitchFamily="34" charset="0"/>
                          <a:ea typeface="Calibri" pitchFamily="34" charset="-122"/>
                          <a:cs typeface="Calibri" pitchFamily="34" charset="-120"/>
                        </a:rPr>
                        <a:t>An old account avoids the ‘new account’ signal.</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The mule score also checks how many new senders an account has and how fast money leaves it.</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Mule score catches only 24% of old mule accounts; payments to them are still caught 73.6% of the time.</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measured</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82296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Poison the training data?</a:t>
                      </a:r>
                      <a:endParaRPr lang="en-US" sz="1300" dirty="0">
                        <a:latin typeface="Calibri" charset="0"/>
                        <a:ea typeface="Calibri" charset="0"/>
                        <a:cs typeface="Calibri" charset="0"/>
                      </a:endParaRPr>
                    </a:p>
                    <a:p>
                      <a:pPr indent="0" marL="0">
                        <a:buNone/>
                      </a:pPr>
                      <a:r>
                        <a:rPr lang="en-US" sz="1200" dirty="0">
                          <a:solidFill>
                            <a:srgbClr val="6E747E"/>
                          </a:solidFill>
                          <a:latin typeface="Calibri" pitchFamily="34" charset="0"/>
                          <a:ea typeface="Calibri" pitchFamily="34" charset="-122"/>
                          <a:cs typeface="Calibri" pitchFamily="34" charset="-120"/>
                        </a:rPr>
                        <a:t>Send lots of false reports.</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Retrain only on cases the bank has confirmed.</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300" dirty="0">
                          <a:solidFill>
                            <a:srgbClr val="3A4353"/>
                          </a:solidFill>
                          <a:latin typeface="Calibri" pitchFamily="34" charset="0"/>
                          <a:ea typeface="Calibri" pitchFamily="34" charset="-122"/>
                          <a:cs typeface="Calibri" pitchFamily="34" charset="-120"/>
                        </a:rPr>
                        <a:t>Not evaluated.</a:t>
                      </a:r>
                      <a:endParaRPr lang="en-US" sz="13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i="1" dirty="0">
                          <a:solidFill>
                            <a:srgbClr val="6E747E"/>
                          </a:solidFill>
                          <a:latin typeface="Calibri" pitchFamily="34" charset="0"/>
                          <a:ea typeface="Calibri" pitchFamily="34" charset="-122"/>
                          <a:cs typeface="Calibri" pitchFamily="34" charset="-120"/>
                        </a:rPr>
                        <a:t>design only</a:t>
                      </a:r>
                      <a:endParaRPr lang="en-US" sz="1200" dirty="0">
                        <a:latin typeface="Calibri" charset="0"/>
                        <a:ea typeface="Calibri" charset="0"/>
                        <a:cs typeface="Calibri" charset="0"/>
                      </a:endParaRPr>
                    </a:p>
                  </a:txBody>
                  <a:tcPr marL="0" marR="109728" marT="73152" marB="73152" anchor="t">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graphicFrame>
        <p:nvGraphicFramePr>
          <p:cNvPr id="7" name="Chart 0" descr=""/>
          <p:cNvGraphicFramePr/>
          <p:nvPr/>
        </p:nvGraphicFramePr>
        <p:xfrm>
          <a:off x="8641080" y="1371600"/>
          <a:ext cx="3017520" cy="246888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686800" y="3886200"/>
            <a:ext cx="2926080" cy="685800"/>
          </a:xfrm>
          <a:prstGeom prst="rect">
            <a:avLst/>
          </a:prstGeom>
          <a:noFill/>
          <a:ln/>
        </p:spPr>
        <p:txBody>
          <a:bodyPr wrap="square" lIns="0" tIns="0" rIns="0" bIns="0" rtlCol="0" anchor="t"/>
          <a:lstStyle/>
          <a:p>
            <a:pPr indent="0" marL="0">
              <a:spcAft>
                <a:spcPts val="400"/>
              </a:spcAft>
              <a:buNone/>
            </a:pPr>
            <a:r>
              <a:rPr lang="en-US" sz="1200" dirty="0">
                <a:solidFill>
                  <a:srgbClr val="6E747E"/>
                </a:solidFill>
                <a:latin typeface="Calibri" pitchFamily="34" charset="0"/>
                <a:ea typeface="Calibri" pitchFamily="34" charset="-122"/>
                <a:cs typeface="Calibri" pitchFamily="34" charset="-120"/>
              </a:rPr>
              <a:t>We assume the fraudster has read our weights and removes the strongest signals first. Thresholds are not changed.</a:t>
            </a:r>
            <a:endParaRPr lang="en-US" sz="1200" dirty="0"/>
          </a:p>
        </p:txBody>
      </p:sp>
      <p:sp>
        <p:nvSpPr>
          <p:cNvPr id="9" name="Text 5"/>
          <p:cNvSpPr txBox="1"/>
          <p:nvPr/>
        </p:nvSpPr>
        <p:spPr>
          <a:xfrm>
            <a:off x="8686800" y="4663440"/>
            <a:ext cx="2926080"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A scam type it has not seen</a:t>
            </a:r>
            <a:endParaRPr lang="en-US" sz="1300" dirty="0"/>
          </a:p>
        </p:txBody>
      </p:sp>
      <p:sp>
        <p:nvSpPr>
          <p:cNvPr id="10" name="Text 6"/>
          <p:cNvSpPr txBox="1"/>
          <p:nvPr/>
        </p:nvSpPr>
        <p:spPr>
          <a:xfrm>
            <a:off x="8686800" y="4937760"/>
            <a:ext cx="2926080" cy="45720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Trained without one type, tested on it: 79–93% recall.</a:t>
            </a:r>
            <a:endParaRPr lang="en-US" sz="1200" dirty="0"/>
          </a:p>
        </p:txBody>
      </p:sp>
      <p:sp>
        <p:nvSpPr>
          <p:cNvPr id="11" name="Text 7"/>
          <p:cNvSpPr txBox="1"/>
          <p:nvPr/>
        </p:nvSpPr>
        <p:spPr>
          <a:xfrm>
            <a:off x="8686800" y="5440680"/>
            <a:ext cx="2926080"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Removing one stage</a:t>
            </a:r>
            <a:endParaRPr lang="en-US" sz="1300" dirty="0"/>
          </a:p>
        </p:txBody>
      </p:sp>
      <p:sp>
        <p:nvSpPr>
          <p:cNvPr id="12" name="Text 8"/>
          <p:cNvSpPr txBox="1"/>
          <p:nvPr/>
        </p:nvSpPr>
        <p:spPr>
          <a:xfrm>
            <a:off x="8686800" y="5715000"/>
            <a:ext cx="2926080" cy="54864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Recall without contact, control, extraction or cash-out signals: 87%, 92%, 67%, 65%.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9  ·  Feasibility</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10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Which phone signals a banking app can actually read</a:t>
            </a:r>
            <a:endParaRPr lang="en-US" sz="3400" dirty="0"/>
          </a:p>
        </p:txBody>
      </p:sp>
      <p:sp>
        <p:nvSpPr>
          <p:cNvPr id="6" name="Text 4"/>
          <p:cNvSpPr txBox="1"/>
          <p:nvPr/>
        </p:nvSpPr>
        <p:spPr>
          <a:xfrm>
            <a:off x="548640" y="1325880"/>
            <a:ext cx="10058400" cy="365760"/>
          </a:xfrm>
          <a:prstGeom prst="rect">
            <a:avLst/>
          </a:prstGeom>
          <a:noFill/>
          <a:ln/>
        </p:spPr>
        <p:txBody>
          <a:bodyPr wrap="square" lIns="0" tIns="0" rIns="0" bIns="0" rtlCol="0" anchor="t"/>
          <a:lstStyle/>
          <a:p>
            <a:pPr indent="0" marL="0">
              <a:spcAft>
                <a:spcPts val="400"/>
              </a:spcAft>
              <a:buNone/>
            </a:pPr>
            <a:r>
              <a:rPr lang="en-US" sz="1600" dirty="0">
                <a:solidFill>
                  <a:srgbClr val="3A4353"/>
                </a:solidFill>
                <a:latin typeface="Calibri" pitchFamily="34" charset="0"/>
                <a:ea typeface="Calibri" pitchFamily="34" charset="-122"/>
                <a:cs typeface="Calibri" pitchFamily="34" charset="-120"/>
              </a:rPr>
              <a:t>Android and Google Play restrict some of what an app can see. We checked each of our 9 phone signals.</a:t>
            </a:r>
            <a:endParaRPr lang="en-US" sz="1600" dirty="0"/>
          </a:p>
        </p:txBody>
      </p:sp>
      <p:sp>
        <p:nvSpPr>
          <p:cNvPr id="7" name="Text 5"/>
          <p:cNvSpPr txBox="1"/>
          <p:nvPr/>
        </p:nvSpPr>
        <p:spPr>
          <a:xfrm>
            <a:off x="548640" y="1920240"/>
            <a:ext cx="4572000" cy="320040"/>
          </a:xfrm>
          <a:prstGeom prst="rect">
            <a:avLst/>
          </a:prstGeom>
          <a:noFill/>
          <a:ln/>
        </p:spPr>
        <p:txBody>
          <a:bodyPr wrap="square" lIns="0" tIns="0" rIns="0" bIns="0" rtlCol="0" anchor="ctr"/>
          <a:lstStyle/>
          <a:p>
            <a:pPr indent="0" marL="0">
              <a:buNone/>
            </a:pPr>
            <a:r>
              <a:rPr lang="en-US" sz="1600" b="1" dirty="0">
                <a:solidFill>
                  <a:srgbClr val="1B2433"/>
                </a:solidFill>
                <a:latin typeface="Calibri" pitchFamily="34" charset="0"/>
                <a:ea typeface="Calibri" pitchFamily="34" charset="-122"/>
                <a:cs typeface="Calibri" pitchFamily="34" charset="-120"/>
              </a:rPr>
              <a:t>Readable (5)</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5303520" cy="914400"/>
        </p:xfrm>
        <a:graphic>
          <a:graphicData uri="http://schemas.openxmlformats.org/drawingml/2006/table">
            <a:tbl>
              <a:tblPr/>
              <a:tblGrid>
                <a:gridCol w="320040"/>
                <a:gridCol w="2606040"/>
                <a:gridCol w="2377440"/>
              </a:tblGrid>
              <a:tr h="4572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Call active and how long</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phone-state permission</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Video or VoIP call</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audio mode, no permission</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Screen-sharing or remote-control app</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known app list + accessibility services</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App drawing over our screen</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obscured-touch flag</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457200">
                <a:tc>
                  <a:txBody>
                    <a:bodyPr/>
                    <a:lstStyle/>
                    <a:p>
                      <a:pPr indent="0" marL="0">
                        <a:buNone/>
                      </a:pPr>
                      <a:r>
                        <a:rPr lang="en-US" sz="1400" b="1" dirty="0">
                          <a:solidFill>
                            <a:srgbClr val="1B24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Payee typed in by hand</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our own payment screen</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9" name="Text 6"/>
          <p:cNvSpPr txBox="1"/>
          <p:nvPr/>
        </p:nvSpPr>
        <p:spPr>
          <a:xfrm>
            <a:off x="6263640" y="1920240"/>
            <a:ext cx="502920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Restricted (4), with fallbacks</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263640" y="2286000"/>
          <a:ext cx="5376672" cy="914400"/>
        </p:xfrm>
        <a:graphic>
          <a:graphicData uri="http://schemas.openxmlformats.org/drawingml/2006/table">
            <a:tbl>
              <a:tblPr/>
              <a:tblGrid>
                <a:gridCol w="2103120"/>
                <a:gridCol w="1737360"/>
                <a:gridCol w="1536192"/>
              </a:tblGrid>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Caller not in contacts</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call log is restricted</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3A4353"/>
                          </a:solidFill>
                          <a:latin typeface="Calibri" pitchFamily="34" charset="0"/>
                          <a:ea typeface="Calibri" pitchFamily="34" charset="-122"/>
                          <a:cs typeface="Calibri" pitchFamily="34" charset="-120"/>
                        </a:rPr>
                        <a:t>use call length only</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Scam SMS received</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SMS access is restricted</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3A4353"/>
                          </a:solidFill>
                          <a:latin typeface="Calibri" pitchFamily="34" charset="0"/>
                          <a:ea typeface="Calibri" pitchFamily="34" charset="-122"/>
                          <a:cs typeface="Calibri" pitchFamily="34" charset="-120"/>
                        </a:rPr>
                        <a:t>drop on the phone</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Any app sideloaded</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all-apps visibility is restricted</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3A4353"/>
                          </a:solidFill>
                          <a:latin typeface="Calibri" pitchFamily="34" charset="0"/>
                          <a:ea typeface="Calibri" pitchFamily="34" charset="-122"/>
                          <a:cs typeface="Calibri" pitchFamily="34" charset="-120"/>
                        </a:rPr>
                        <a:t>check a fixed list of apps</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66928">
                <a:tc>
                  <a:txBody>
                    <a:bodyPr/>
                    <a:lstStyle/>
                    <a:p>
                      <a:pPr indent="0" marL="0">
                        <a:buNone/>
                      </a:pPr>
                      <a:r>
                        <a:rPr lang="en-US" sz="1400" dirty="0">
                          <a:solidFill>
                            <a:srgbClr val="1B2433"/>
                          </a:solidFill>
                          <a:latin typeface="Calibri" pitchFamily="34" charset="0"/>
                          <a:ea typeface="Calibri" pitchFamily="34" charset="-122"/>
                          <a:cs typeface="Calibri" pitchFamily="34" charset="-120"/>
                        </a:rPr>
                        <a:t>OTP opened during a call</a:t>
                      </a:r>
                      <a:endParaRPr lang="en-US" sz="14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6E747E"/>
                          </a:solidFill>
                          <a:latin typeface="Calibri" pitchFamily="34" charset="0"/>
                          <a:ea typeface="Calibri" pitchFamily="34" charset="-122"/>
                          <a:cs typeface="Calibri" pitchFamily="34" charset="-120"/>
                        </a:rPr>
                        <a:t>other apps’ notifications</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200" dirty="0">
                          <a:solidFill>
                            <a:srgbClr val="3A4353"/>
                          </a:solidFill>
                          <a:latin typeface="Calibri" pitchFamily="34" charset="0"/>
                          <a:ea typeface="Calibri" pitchFamily="34" charset="-122"/>
                          <a:cs typeface="Calibri" pitchFamily="34" charset="-120"/>
                        </a:rPr>
                        <a:t>bank checks its own OTP timing</a:t>
                      </a:r>
                      <a:endParaRPr lang="en-US" sz="1200" dirty="0">
                        <a:latin typeface="Calibri" charset="0"/>
                        <a:ea typeface="Calibri" charset="0"/>
                        <a:cs typeface="Calibri" charset="0"/>
                      </a:endParaRPr>
                    </a:p>
                  </a:txBody>
                  <a:tcPr marL="0" marR="54864" marT="27432" marB="27432"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11" name="Shape 7"/>
          <p:cNvSpPr/>
          <p:nvPr/>
        </p:nvSpPr>
        <p:spPr>
          <a:xfrm>
            <a:off x="548640" y="4983480"/>
            <a:ext cx="11094415" cy="1143000"/>
          </a:xfrm>
          <a:prstGeom prst="rect">
            <a:avLst/>
          </a:prstGeom>
          <a:solidFill>
            <a:srgbClr val="FDF1EA"/>
          </a:solidFill>
          <a:ln w="12700">
            <a:solidFill>
              <a:srgbClr val="FDF1EA"/>
            </a:solidFill>
            <a:prstDash val="solid"/>
          </a:ln>
        </p:spPr>
      </p:sp>
      <p:sp>
        <p:nvSpPr>
          <p:cNvPr id="12" name="Text 8"/>
          <p:cNvSpPr txBox="1"/>
          <p:nvPr/>
        </p:nvSpPr>
        <p:spPr>
          <a:xfrm>
            <a:off x="822960" y="5120640"/>
            <a:ext cx="2194560" cy="822960"/>
          </a:xfrm>
          <a:prstGeom prst="rect">
            <a:avLst/>
          </a:prstGeom>
          <a:noFill/>
          <a:ln/>
        </p:spPr>
        <p:txBody>
          <a:bodyPr wrap="square" lIns="0" tIns="0" rIns="0" bIns="0" rtlCol="0" anchor="ctr"/>
          <a:lstStyle/>
          <a:p>
            <a:pPr indent="0" marL="0">
              <a:buNone/>
            </a:pPr>
            <a:r>
              <a:rPr lang="en-US" sz="4000" b="1" dirty="0">
                <a:solidFill>
                  <a:srgbClr val="D9480F"/>
                </a:solidFill>
                <a:latin typeface="Cambria" pitchFamily="34" charset="0"/>
                <a:ea typeface="Cambria" pitchFamily="34" charset="-122"/>
                <a:cs typeface="Cambria" pitchFamily="34" charset="-120"/>
              </a:rPr>
              <a:t>91.5%</a:t>
            </a:r>
            <a:endParaRPr lang="en-US" sz="4000" dirty="0"/>
          </a:p>
        </p:txBody>
      </p:sp>
      <p:sp>
        <p:nvSpPr>
          <p:cNvPr id="13" name="Text 9"/>
          <p:cNvSpPr txBox="1"/>
          <p:nvPr/>
        </p:nvSpPr>
        <p:spPr>
          <a:xfrm>
            <a:off x="3108960" y="5166360"/>
            <a:ext cx="8138160" cy="868680"/>
          </a:xfrm>
          <a:prstGeom prst="rect">
            <a:avLst/>
          </a:prstGeom>
          <a:noFill/>
          <a:ln/>
        </p:spPr>
        <p:txBody>
          <a:bodyPr wrap="square" lIns="0" tIns="0" rIns="0" bIns="0" rtlCol="0" anchor="t"/>
          <a:lstStyle/>
          <a:p>
            <a:pPr indent="0" marL="0">
              <a:spcAft>
                <a:spcPts val="400"/>
              </a:spcAft>
              <a:buNone/>
            </a:pPr>
            <a:r>
              <a:rPr lang="en-US" sz="1500" dirty="0">
                <a:solidFill>
                  <a:srgbClr val="3A4353"/>
                </a:solidFill>
                <a:latin typeface="Calibri" pitchFamily="34" charset="0"/>
                <a:ea typeface="Calibri" pitchFamily="34" charset="-122"/>
                <a:cs typeface="Calibri" pitchFamily="34" charset="-120"/>
              </a:rPr>
              <a:t>Recall when we retrain with only the 5 readable phone signals, at 2.87 interruptions per 1,000 (synthetic data). With all 9 it is 92.3%. Most of the evidence comes from the bank side, so losing the restricted signals costs little.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10  ·  Privacy</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11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What data we use</a:t>
            </a:r>
            <a:endParaRPr lang="en-US" sz="3400" dirty="0"/>
          </a:p>
        </p:txBody>
      </p:sp>
      <p:sp>
        <p:nvSpPr>
          <p:cNvPr id="6" name="Text 4"/>
          <p:cNvSpPr txBox="1"/>
          <p:nvPr/>
        </p:nvSpPr>
        <p:spPr>
          <a:xfrm>
            <a:off x="548640" y="1508760"/>
            <a:ext cx="2743200" cy="32004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Stays on the phone</a:t>
            </a:r>
            <a:endParaRPr lang="en-US" sz="1500" dirty="0"/>
          </a:p>
        </p:txBody>
      </p:sp>
      <p:sp>
        <p:nvSpPr>
          <p:cNvPr id="7" name="Text 5"/>
          <p:cNvSpPr txBox="1"/>
          <p:nvPr/>
        </p:nvSpPr>
        <p:spPr>
          <a:xfrm>
            <a:off x="548640" y="2011680"/>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914400" y="2011680"/>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Call audio</a:t>
            </a:r>
            <a:endParaRPr lang="en-US" sz="1700" dirty="0"/>
          </a:p>
        </p:txBody>
      </p:sp>
      <p:sp>
        <p:nvSpPr>
          <p:cNvPr id="9" name="Shape 7"/>
          <p:cNvSpPr/>
          <p:nvPr/>
        </p:nvSpPr>
        <p:spPr>
          <a:xfrm>
            <a:off x="548640" y="2414016"/>
            <a:ext cx="2651760" cy="0"/>
          </a:xfrm>
          <a:prstGeom prst="line">
            <a:avLst/>
          </a:prstGeom>
          <a:noFill/>
          <a:ln w="9525">
            <a:solidFill>
              <a:srgbClr val="D9DCE1"/>
            </a:solidFill>
            <a:prstDash val="solid"/>
          </a:ln>
        </p:spPr>
      </p:sp>
      <p:sp>
        <p:nvSpPr>
          <p:cNvPr id="10" name="Text 8"/>
          <p:cNvSpPr txBox="1"/>
          <p:nvPr/>
        </p:nvSpPr>
        <p:spPr>
          <a:xfrm>
            <a:off x="548640" y="2487168"/>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11" name="Text 9"/>
          <p:cNvSpPr txBox="1"/>
          <p:nvPr/>
        </p:nvSpPr>
        <p:spPr>
          <a:xfrm>
            <a:off x="914400" y="2487168"/>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Screen frames</a:t>
            </a:r>
            <a:endParaRPr lang="en-US" sz="1700" dirty="0"/>
          </a:p>
        </p:txBody>
      </p:sp>
      <p:sp>
        <p:nvSpPr>
          <p:cNvPr id="12" name="Shape 10"/>
          <p:cNvSpPr/>
          <p:nvPr/>
        </p:nvSpPr>
        <p:spPr>
          <a:xfrm>
            <a:off x="548640" y="2889504"/>
            <a:ext cx="2651760" cy="0"/>
          </a:xfrm>
          <a:prstGeom prst="line">
            <a:avLst/>
          </a:prstGeom>
          <a:noFill/>
          <a:ln w="9525">
            <a:solidFill>
              <a:srgbClr val="D9DCE1"/>
            </a:solidFill>
            <a:prstDash val="solid"/>
          </a:ln>
        </p:spPr>
      </p:sp>
      <p:sp>
        <p:nvSpPr>
          <p:cNvPr id="13" name="Text 11"/>
          <p:cNvSpPr txBox="1"/>
          <p:nvPr/>
        </p:nvSpPr>
        <p:spPr>
          <a:xfrm>
            <a:off x="548640" y="2962656"/>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914400" y="2962656"/>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Message text</a:t>
            </a:r>
            <a:endParaRPr lang="en-US" sz="1700" dirty="0"/>
          </a:p>
        </p:txBody>
      </p:sp>
      <p:sp>
        <p:nvSpPr>
          <p:cNvPr id="15" name="Shape 13"/>
          <p:cNvSpPr/>
          <p:nvPr/>
        </p:nvSpPr>
        <p:spPr>
          <a:xfrm>
            <a:off x="548640" y="3364992"/>
            <a:ext cx="2651760" cy="0"/>
          </a:xfrm>
          <a:prstGeom prst="line">
            <a:avLst/>
          </a:prstGeom>
          <a:noFill/>
          <a:ln w="9525">
            <a:solidFill>
              <a:srgbClr val="D9DCE1"/>
            </a:solidFill>
            <a:prstDash val="solid"/>
          </a:ln>
        </p:spPr>
      </p:sp>
      <p:sp>
        <p:nvSpPr>
          <p:cNvPr id="16" name="Text 14"/>
          <p:cNvSpPr txBox="1"/>
          <p:nvPr/>
        </p:nvSpPr>
        <p:spPr>
          <a:xfrm>
            <a:off x="548640" y="3438144"/>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914400" y="3438144"/>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Contact list</a:t>
            </a:r>
            <a:endParaRPr lang="en-US" sz="1700" dirty="0"/>
          </a:p>
        </p:txBody>
      </p:sp>
      <p:sp>
        <p:nvSpPr>
          <p:cNvPr id="18" name="Shape 16"/>
          <p:cNvSpPr/>
          <p:nvPr/>
        </p:nvSpPr>
        <p:spPr>
          <a:xfrm>
            <a:off x="548640" y="3840480"/>
            <a:ext cx="2651760" cy="0"/>
          </a:xfrm>
          <a:prstGeom prst="line">
            <a:avLst/>
          </a:prstGeom>
          <a:noFill/>
          <a:ln w="9525">
            <a:solidFill>
              <a:srgbClr val="D9DCE1"/>
            </a:solidFill>
            <a:prstDash val="solid"/>
          </a:ln>
        </p:spPr>
      </p:sp>
      <p:sp>
        <p:nvSpPr>
          <p:cNvPr id="19" name="Text 17"/>
          <p:cNvSpPr txBox="1"/>
          <p:nvPr/>
        </p:nvSpPr>
        <p:spPr>
          <a:xfrm>
            <a:off x="548640" y="3913632"/>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20" name="Text 18"/>
          <p:cNvSpPr txBox="1"/>
          <p:nvPr/>
        </p:nvSpPr>
        <p:spPr>
          <a:xfrm>
            <a:off x="914400" y="3913632"/>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OTP values</a:t>
            </a:r>
            <a:endParaRPr lang="en-US" sz="1700" dirty="0"/>
          </a:p>
        </p:txBody>
      </p:sp>
      <p:sp>
        <p:nvSpPr>
          <p:cNvPr id="21" name="Shape 19"/>
          <p:cNvSpPr/>
          <p:nvPr/>
        </p:nvSpPr>
        <p:spPr>
          <a:xfrm>
            <a:off x="548640" y="4315968"/>
            <a:ext cx="2651760" cy="0"/>
          </a:xfrm>
          <a:prstGeom prst="line">
            <a:avLst/>
          </a:prstGeom>
          <a:noFill/>
          <a:ln w="9525">
            <a:solidFill>
              <a:srgbClr val="D9DCE1"/>
            </a:solidFill>
            <a:prstDash val="solid"/>
          </a:ln>
        </p:spPr>
      </p:sp>
      <p:sp>
        <p:nvSpPr>
          <p:cNvPr id="22" name="Text 20"/>
          <p:cNvSpPr txBox="1"/>
          <p:nvPr/>
        </p:nvSpPr>
        <p:spPr>
          <a:xfrm>
            <a:off x="548640" y="4389120"/>
            <a:ext cx="274320" cy="320040"/>
          </a:xfrm>
          <a:prstGeom prst="rect">
            <a:avLst/>
          </a:prstGeom>
          <a:noFill/>
          <a:ln/>
        </p:spPr>
        <p:txBody>
          <a:bodyPr wrap="square" lIns="0" tIns="0" rIns="0" bIns="0" rtlCol="0" anchor="ctr"/>
          <a:lstStyle/>
          <a:p>
            <a:pPr indent="0" marL="0">
              <a:buNone/>
            </a:pPr>
            <a:r>
              <a:rPr lang="en-US" sz="1600" b="1" dirty="0">
                <a:solidFill>
                  <a:srgbClr val="D9480F"/>
                </a:solidFill>
                <a:latin typeface="Calibri" pitchFamily="34" charset="0"/>
                <a:ea typeface="Calibri" pitchFamily="34" charset="-122"/>
                <a:cs typeface="Calibri" pitchFamily="34" charset="-120"/>
              </a:rPr>
              <a:t>✕</a:t>
            </a:r>
            <a:endParaRPr lang="en-US" sz="1600" dirty="0"/>
          </a:p>
        </p:txBody>
      </p:sp>
      <p:sp>
        <p:nvSpPr>
          <p:cNvPr id="23" name="Text 21"/>
          <p:cNvSpPr txBox="1"/>
          <p:nvPr/>
        </p:nvSpPr>
        <p:spPr>
          <a:xfrm>
            <a:off x="914400" y="4389120"/>
            <a:ext cx="2286000" cy="320040"/>
          </a:xfrm>
          <a:prstGeom prst="rect">
            <a:avLst/>
          </a:prstGeom>
          <a:noFill/>
          <a:ln/>
        </p:spPr>
        <p:txBody>
          <a:bodyPr wrap="square" lIns="0" tIns="0" rIns="0" bIns="0" rtlCol="0" anchor="ctr"/>
          <a:lstStyle/>
          <a:p>
            <a:pPr indent="0" marL="0">
              <a:buNone/>
            </a:pPr>
            <a:r>
              <a:rPr lang="en-US" sz="1700" dirty="0">
                <a:solidFill>
                  <a:srgbClr val="1B2433"/>
                </a:solidFill>
                <a:latin typeface="Calibri" pitchFamily="34" charset="0"/>
                <a:ea typeface="Calibri" pitchFamily="34" charset="-122"/>
                <a:cs typeface="Calibri" pitchFamily="34" charset="-120"/>
              </a:rPr>
              <a:t>App list</a:t>
            </a:r>
            <a:endParaRPr lang="en-US" sz="1700" dirty="0"/>
          </a:p>
        </p:txBody>
      </p:sp>
      <p:sp>
        <p:nvSpPr>
          <p:cNvPr id="24" name="Shape 22"/>
          <p:cNvSpPr/>
          <p:nvPr/>
        </p:nvSpPr>
        <p:spPr>
          <a:xfrm>
            <a:off x="548640" y="4791456"/>
            <a:ext cx="2651760" cy="0"/>
          </a:xfrm>
          <a:prstGeom prst="line">
            <a:avLst/>
          </a:prstGeom>
          <a:noFill/>
          <a:ln w="9525">
            <a:solidFill>
              <a:srgbClr val="D9DCE1"/>
            </a:solidFill>
            <a:prstDash val="solid"/>
          </a:ln>
        </p:spPr>
      </p:sp>
      <p:sp>
        <p:nvSpPr>
          <p:cNvPr id="25" name="Shape 23"/>
          <p:cNvSpPr/>
          <p:nvPr/>
        </p:nvSpPr>
        <p:spPr>
          <a:xfrm>
            <a:off x="3520440" y="1508760"/>
            <a:ext cx="0" cy="3291840"/>
          </a:xfrm>
          <a:prstGeom prst="line">
            <a:avLst/>
          </a:prstGeom>
          <a:noFill/>
          <a:ln w="15875">
            <a:solidFill>
              <a:srgbClr val="3A4353"/>
            </a:solidFill>
            <a:prstDash val="dash"/>
          </a:ln>
        </p:spPr>
      </p:sp>
      <p:sp>
        <p:nvSpPr>
          <p:cNvPr id="26" name="Text 24"/>
          <p:cNvSpPr txBox="1"/>
          <p:nvPr/>
        </p:nvSpPr>
        <p:spPr>
          <a:xfrm>
            <a:off x="3886200" y="1508760"/>
            <a:ext cx="4114800" cy="320040"/>
          </a:xfrm>
          <a:prstGeom prst="rect">
            <a:avLst/>
          </a:prstGeom>
          <a:noFill/>
          <a:ln/>
        </p:spPr>
        <p:txBody>
          <a:bodyPr wrap="square" lIns="0" tIns="0" rIns="0" bIns="0" rtlCol="0" anchor="ctr"/>
          <a:lstStyle/>
          <a:p>
            <a:pPr indent="0" marL="0">
              <a:buNone/>
            </a:pPr>
            <a:r>
              <a:rPr lang="en-US" sz="1500" b="1" dirty="0">
                <a:solidFill>
                  <a:srgbClr val="D9480F"/>
                </a:solidFill>
                <a:latin typeface="Calibri" pitchFamily="34" charset="0"/>
                <a:ea typeface="Calibri" pitchFamily="34" charset="-122"/>
                <a:cs typeface="Calibri" pitchFamily="34" charset="-120"/>
              </a:rPr>
              <a:t>Sent to the bank</a:t>
            </a:r>
            <a:endParaRPr lang="en-US" sz="1500" dirty="0"/>
          </a:p>
        </p:txBody>
      </p:sp>
      <p:sp>
        <p:nvSpPr>
          <p:cNvPr id="27" name="Text 25"/>
          <p:cNvSpPr txBox="1"/>
          <p:nvPr/>
        </p:nvSpPr>
        <p:spPr>
          <a:xfrm>
            <a:off x="3886200" y="1874520"/>
            <a:ext cx="4206240" cy="868680"/>
          </a:xfrm>
          <a:prstGeom prst="rect">
            <a:avLst/>
          </a:prstGeom>
          <a:noFill/>
          <a:ln/>
        </p:spPr>
        <p:txBody>
          <a:bodyPr wrap="square" lIns="0" tIns="0" rIns="0" bIns="0" rtlCol="0" anchor="t"/>
          <a:lstStyle/>
          <a:p>
            <a:pPr indent="0" marL="0">
              <a:buNone/>
            </a:pPr>
            <a:r>
              <a:rPr lang="en-US" sz="3000" b="1" dirty="0">
                <a:solidFill>
                  <a:srgbClr val="D9480F"/>
                </a:solidFill>
                <a:latin typeface="Cambria" pitchFamily="34" charset="0"/>
                <a:ea typeface="Cambria" pitchFamily="34" charset="-122"/>
                <a:cs typeface="Cambria" pitchFamily="34" charset="-120"/>
              </a:rPr>
              <a:t>9</a:t>
            </a:r>
            <a:pPr indent="0" marL="0">
              <a:buNone/>
            </a:pPr>
            <a:r>
              <a:rPr lang="en-US" sz="1600" dirty="0">
                <a:solidFill>
                  <a:srgbClr val="1B2433"/>
                </a:solidFill>
                <a:latin typeface="Calibri" pitchFamily="34" charset="0"/>
                <a:ea typeface="Calibri" pitchFamily="34" charset="-122"/>
                <a:cs typeface="Calibri" pitchFamily="34" charset="-120"/>
              </a:rPr>
              <a:t>  yes/no values, plus the amount</a:t>
            </a:r>
            <a:endParaRPr lang="en-US" sz="3000" dirty="0"/>
          </a:p>
          <a:p>
            <a:pPr indent="0" marL="0">
              <a:buNone/>
            </a:pPr>
            <a:r>
              <a:rPr lang="en-US" sz="1600" dirty="0">
                <a:solidFill>
                  <a:srgbClr val="1B2433"/>
                </a:solidFill>
                <a:latin typeface="Calibri" pitchFamily="34" charset="0"/>
                <a:ea typeface="Calibri" pitchFamily="34" charset="-122"/>
                <a:cs typeface="Calibri" pitchFamily="34" charset="-120"/>
              </a:rPr>
              <a:t>and a hashed payee ID</a:t>
            </a:r>
            <a:endParaRPr lang="en-US" sz="3000" dirty="0"/>
          </a:p>
          <a:p>
            <a:pPr indent="0" marL="0">
              <a:buNone/>
            </a:pPr>
            <a:r>
              <a:rPr lang="en-US" sz="1100" dirty="0">
                <a:solidFill>
                  <a:srgbClr val="6E747E"/>
                </a:solidFill>
                <a:latin typeface="Calibri" pitchFamily="34" charset="0"/>
                <a:ea typeface="Calibri" pitchFamily="34" charset="-122"/>
                <a:cs typeface="Calibri" pitchFamily="34" charset="-120"/>
              </a:rPr>
              <a:t>Items 1, 4, 6 and 8 are restricted on Android; see slide 10.</a:t>
            </a:r>
            <a:endParaRPr lang="en-US" sz="3000" dirty="0"/>
          </a:p>
        </p:txBody>
      </p:sp>
      <p:sp>
        <p:nvSpPr>
          <p:cNvPr id="28" name="Text 26"/>
          <p:cNvSpPr txBox="1"/>
          <p:nvPr/>
        </p:nvSpPr>
        <p:spPr>
          <a:xfrm>
            <a:off x="3886200" y="2834640"/>
            <a:ext cx="4023360" cy="2240280"/>
          </a:xfrm>
          <a:prstGeom prst="rect">
            <a:avLst/>
          </a:prstGeom>
          <a:noFill/>
          <a:ln/>
        </p:spPr>
        <p:txBody>
          <a:bodyPr wrap="square" lIns="0" tIns="0" rIns="0" bIns="0" rtlCol="0" anchor="t"/>
          <a:lstStyle/>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on a call with an unknown number</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call longer than 20 minutes</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video call active</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scam-lure SMS in last 24 h</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screen-sharing app running</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app sideloaded in last 24 h</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app drawing over the payment screen</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OTP opened during the call</a:t>
            </a:r>
            <a:endParaRPr lang="en-US" sz="1300" dirty="0"/>
          </a:p>
          <a:p>
            <a:pPr marL="342900" indent="-342900">
              <a:spcAft>
                <a:spcPts val="200"/>
              </a:spcAft>
              <a:buSzPct val="100000"/>
              <a:buFont typeface="+mj-lt"/>
              <a:buAutoNum type="arabicPeriod" startAt="1"/>
            </a:pPr>
            <a:r>
              <a:rPr lang="en-US" sz="1300" dirty="0">
                <a:solidFill>
                  <a:srgbClr val="3A4353"/>
                </a:solidFill>
                <a:latin typeface="Calibri" pitchFamily="34" charset="0"/>
                <a:ea typeface="Calibri" pitchFamily="34" charset="-122"/>
                <a:cs typeface="Calibri" pitchFamily="34" charset="-120"/>
              </a:rPr>
              <a:t>payee typed in by hand</a:t>
            </a:r>
            <a:endParaRPr lang="en-US" sz="1300" dirty="0"/>
          </a:p>
        </p:txBody>
      </p:sp>
      <p:sp>
        <p:nvSpPr>
          <p:cNvPr id="29" name="Text 27"/>
          <p:cNvSpPr txBox="1"/>
          <p:nvPr/>
        </p:nvSpPr>
        <p:spPr>
          <a:xfrm>
            <a:off x="8321040" y="1508760"/>
            <a:ext cx="3291840" cy="32004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Already at the bank</a:t>
            </a:r>
            <a:endParaRPr lang="en-US" sz="1500" dirty="0"/>
          </a:p>
        </p:txBody>
      </p:sp>
      <p:sp>
        <p:nvSpPr>
          <p:cNvPr id="30" name="Text 28"/>
          <p:cNvSpPr txBox="1"/>
          <p:nvPr/>
        </p:nvSpPr>
        <p:spPr>
          <a:xfrm>
            <a:off x="8321040" y="1920240"/>
            <a:ext cx="3337560" cy="1188720"/>
          </a:xfrm>
          <a:prstGeom prst="rect">
            <a:avLst/>
          </a:prstGeom>
          <a:noFill/>
          <a:ln/>
        </p:spPr>
        <p:txBody>
          <a:bodyPr wrap="square" lIns="0" tIns="0" rIns="0" bIns="0" rtlCol="0" anchor="t"/>
          <a:lstStyle/>
          <a:p>
            <a:pPr indent="0" marL="0">
              <a:buNone/>
            </a:pPr>
            <a:r>
              <a:rPr lang="en-US" sz="2600" b="1" dirty="0">
                <a:solidFill>
                  <a:srgbClr val="1B2433"/>
                </a:solidFill>
                <a:latin typeface="Cambria" pitchFamily="34" charset="0"/>
                <a:ea typeface="Cambria" pitchFamily="34" charset="-122"/>
                <a:cs typeface="Cambria" pitchFamily="34" charset="-120"/>
              </a:rPr>
              <a:t>7</a:t>
            </a:r>
            <a:pPr indent="0" marL="0">
              <a:buNone/>
            </a:pPr>
            <a:r>
              <a:rPr lang="en-US" sz="1300" dirty="0">
                <a:solidFill>
                  <a:srgbClr val="3A4353"/>
                </a:solidFill>
                <a:latin typeface="Calibri" pitchFamily="34" charset="0"/>
                <a:ea typeface="Calibri" pitchFamily="34" charset="-122"/>
                <a:cs typeface="Calibri" pitchFamily="34" charset="-120"/>
              </a:rPr>
              <a:t>  from the bank’s own data: first-time payee, amount compared with past payments, share of balance, broken fixed deposit, recent small credits.</a:t>
            </a:r>
            <a:endParaRPr lang="en-US" sz="2600" dirty="0"/>
          </a:p>
        </p:txBody>
      </p:sp>
      <p:sp>
        <p:nvSpPr>
          <p:cNvPr id="31" name="Text 29"/>
          <p:cNvSpPr txBox="1"/>
          <p:nvPr/>
        </p:nvSpPr>
        <p:spPr>
          <a:xfrm>
            <a:off x="8321040" y="3246120"/>
            <a:ext cx="3337560" cy="914400"/>
          </a:xfrm>
          <a:prstGeom prst="rect">
            <a:avLst/>
          </a:prstGeom>
          <a:noFill/>
          <a:ln/>
        </p:spPr>
        <p:txBody>
          <a:bodyPr wrap="square" lIns="0" tIns="0" rIns="0" bIns="0" rtlCol="0" anchor="t"/>
          <a:lstStyle/>
          <a:p>
            <a:pPr indent="0" marL="0">
              <a:buNone/>
            </a:pPr>
            <a:r>
              <a:rPr lang="en-US" sz="2600" b="1" dirty="0">
                <a:solidFill>
                  <a:srgbClr val="1B2433"/>
                </a:solidFill>
                <a:latin typeface="Cambria" pitchFamily="34" charset="0"/>
                <a:ea typeface="Cambria" pitchFamily="34" charset="-122"/>
                <a:cs typeface="Cambria" pitchFamily="34" charset="-120"/>
              </a:rPr>
              <a:t>4</a:t>
            </a:r>
            <a:pPr indent="0" marL="0">
              <a:buNone/>
            </a:pPr>
            <a:r>
              <a:rPr lang="en-US" sz="1300" dirty="0">
                <a:solidFill>
                  <a:srgbClr val="3A4353"/>
                </a:solidFill>
                <a:latin typeface="Calibri" pitchFamily="34" charset="0"/>
                <a:ea typeface="Calibri" pitchFamily="34" charset="-122"/>
                <a:cs typeface="Calibri" pitchFamily="34" charset="-120"/>
              </a:rPr>
              <a:t>  about the receiving account: mule score, account age, suspect-list match, collect request.</a:t>
            </a:r>
            <a:endParaRPr lang="en-US" sz="2600" dirty="0"/>
          </a:p>
        </p:txBody>
      </p:sp>
      <p:sp>
        <p:nvSpPr>
          <p:cNvPr id="32" name="Text 30"/>
          <p:cNvSpPr txBox="1"/>
          <p:nvPr/>
        </p:nvSpPr>
        <p:spPr>
          <a:xfrm>
            <a:off x="8321040" y="4251960"/>
            <a:ext cx="3291840" cy="274320"/>
          </a:xfrm>
          <a:prstGeom prst="rect">
            <a:avLst/>
          </a:prstGeom>
          <a:noFill/>
          <a:ln/>
        </p:spPr>
        <p:txBody>
          <a:bodyPr wrap="square" lIns="0" tIns="0" rIns="0" bIns="0" rtlCol="0" anchor="t"/>
          <a:lstStyle/>
          <a:p>
            <a:pPr indent="0" marL="0">
              <a:spcAft>
                <a:spcPts val="400"/>
              </a:spcAft>
              <a:buNone/>
            </a:pPr>
            <a:r>
              <a:rPr lang="en-US" sz="1300" dirty="0">
                <a:solidFill>
                  <a:srgbClr val="6E747E"/>
                </a:solidFill>
                <a:latin typeface="Calibri" pitchFamily="34" charset="0"/>
                <a:ea typeface="Calibri" pitchFamily="34" charset="-122"/>
                <a:cs typeface="Calibri" pitchFamily="34" charset="-120"/>
              </a:rPr>
              <a:t>9 + 7 + 4 = 20 signals</a:t>
            </a:r>
            <a:endParaRPr lang="en-US" sz="1300" dirty="0"/>
          </a:p>
        </p:txBody>
      </p:sp>
      <p:sp>
        <p:nvSpPr>
          <p:cNvPr id="33" name="Shape 31"/>
          <p:cNvSpPr/>
          <p:nvPr/>
        </p:nvSpPr>
        <p:spPr>
          <a:xfrm>
            <a:off x="548640" y="5029200"/>
            <a:ext cx="11094415" cy="1170432"/>
          </a:xfrm>
          <a:prstGeom prst="rect">
            <a:avLst/>
          </a:prstGeom>
          <a:solidFill>
            <a:srgbClr val="F3F4F6"/>
          </a:solidFill>
          <a:ln w="12700">
            <a:solidFill>
              <a:srgbClr val="F3F4F6"/>
            </a:solidFill>
            <a:prstDash val="solid"/>
          </a:ln>
        </p:spPr>
      </p:sp>
      <p:sp>
        <p:nvSpPr>
          <p:cNvPr id="34" name="Text 32"/>
          <p:cNvSpPr txBox="1"/>
          <p:nvPr/>
        </p:nvSpPr>
        <p:spPr>
          <a:xfrm>
            <a:off x="777240" y="5138928"/>
            <a:ext cx="2743200"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Signed decision record</a:t>
            </a:r>
            <a:endParaRPr lang="en-US" sz="1300" dirty="0"/>
          </a:p>
        </p:txBody>
      </p:sp>
      <p:sp>
        <p:nvSpPr>
          <p:cNvPr id="35" name="Text 33"/>
          <p:cNvSpPr txBox="1"/>
          <p:nvPr/>
        </p:nvSpPr>
        <p:spPr>
          <a:xfrm>
            <a:off x="777240" y="5422392"/>
            <a:ext cx="10607040" cy="274320"/>
          </a:xfrm>
          <a:prstGeom prst="rect">
            <a:avLst/>
          </a:prstGeom>
          <a:noFill/>
          <a:ln/>
        </p:spPr>
        <p:txBody>
          <a:bodyPr wrap="square" lIns="0" tIns="0" rIns="0" bIns="0" rtlCol="0" anchor="ctr"/>
          <a:lstStyle/>
          <a:p>
            <a:pPr indent="0" marL="0">
              <a:buNone/>
            </a:pPr>
            <a:r>
              <a:rPr lang="en-US" sz="1200" dirty="0">
                <a:solidFill>
                  <a:srgbClr val="1B2433"/>
                </a:solidFill>
                <a:latin typeface="Courier New" pitchFamily="34" charset="0"/>
                <a:ea typeface="Courier New" pitchFamily="34" charset="-122"/>
                <a:cs typeface="Courier New" pitchFamily="34" charset="-120"/>
              </a:rPr>
              <a:t>{ log_id, time, session, amount, signals present, score, level, scam type, active stages, action } + HMAC-SHA256</a:t>
            </a:r>
            <a:endParaRPr lang="en-US" sz="1200" dirty="0"/>
          </a:p>
        </p:txBody>
      </p:sp>
      <p:sp>
        <p:nvSpPr>
          <p:cNvPr id="36" name="Text 34"/>
          <p:cNvSpPr txBox="1"/>
          <p:nvPr/>
        </p:nvSpPr>
        <p:spPr>
          <a:xfrm>
            <a:off x="777240" y="5715000"/>
            <a:ext cx="10607040" cy="45720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Each decision gets one ID, so the customer, the bank agent and any complaint point to the same evidence. Already built: the server accepts only the 20 known signals and rejects repeated or old (&gt; 15 s) requests.</a:t>
            </a:r>
            <a:endParaRPr lang="en-US" sz="1200" dirty="0"/>
          </a:p>
        </p:txBody>
      </p:sp>
      <p:sp>
        <p:nvSpPr>
          <p:cNvPr id="37" name="Text 35"/>
          <p:cNvSpPr txBox="1"/>
          <p:nvPr/>
        </p:nvSpPr>
        <p:spPr>
          <a:xfrm>
            <a:off x="548640" y="6309360"/>
            <a:ext cx="9144000" cy="228600"/>
          </a:xfrm>
          <a:prstGeom prst="rect">
            <a:avLst/>
          </a:prstGeom>
          <a:noFill/>
          <a:ln/>
        </p:spPr>
        <p:txBody>
          <a:bodyPr wrap="square" lIns="0" tIns="0" rIns="0" bIns="0" rtlCol="0" anchor="ctr"/>
          <a:lstStyle/>
          <a:p>
            <a:pPr indent="0" marL="0">
              <a:buNone/>
            </a:pPr>
            <a:r>
              <a:rPr lang="en-US" sz="1000" i="1" dirty="0">
                <a:solidFill>
                  <a:srgbClr val="6E747E"/>
                </a:solidFill>
                <a:latin typeface="Calibri" pitchFamily="34" charset="0"/>
                <a:ea typeface="Calibri" pitchFamily="34" charset="-122"/>
                <a:cs typeface="Calibri" pitchFamily="34" charset="-120"/>
              </a:rPr>
              <a:t>Designed around the DPDP Act 2023 idea of collecting only what is needed. This is a design choice, not a legal certification.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11  ·  Deployment</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12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How it would run in a bank</a:t>
            </a:r>
            <a:endParaRPr lang="en-US" sz="3400" dirty="0"/>
          </a:p>
        </p:txBody>
      </p:sp>
      <p:sp>
        <p:nvSpPr>
          <p:cNvPr id="6" name="Shape 4"/>
          <p:cNvSpPr/>
          <p:nvPr/>
        </p:nvSpPr>
        <p:spPr>
          <a:xfrm>
            <a:off x="548640" y="1325880"/>
            <a:ext cx="411480" cy="228600"/>
          </a:xfrm>
          <a:prstGeom prst="rect">
            <a:avLst/>
          </a:prstGeom>
          <a:solidFill>
            <a:srgbClr val="FFFFFF"/>
          </a:solidFill>
          <a:ln w="19050">
            <a:solidFill>
              <a:srgbClr val="1B2433"/>
            </a:solidFill>
            <a:prstDash val="solid"/>
          </a:ln>
        </p:spPr>
      </p:sp>
      <p:sp>
        <p:nvSpPr>
          <p:cNvPr id="7" name="Text 5"/>
          <p:cNvSpPr txBox="1"/>
          <p:nvPr/>
        </p:nvSpPr>
        <p:spPr>
          <a:xfrm>
            <a:off x="1051560" y="1307592"/>
            <a:ext cx="1645920" cy="274320"/>
          </a:xfrm>
          <a:prstGeom prst="rect">
            <a:avLst/>
          </a:prstGeom>
          <a:noFill/>
          <a:ln/>
        </p:spPr>
        <p:txBody>
          <a:bodyPr wrap="square" lIns="0" tIns="0" rIns="0" bIns="0" rtlCol="0" anchor="ctr"/>
          <a:lstStyle/>
          <a:p>
            <a:pPr indent="0" marL="0">
              <a:buNone/>
            </a:pPr>
            <a:r>
              <a:rPr lang="en-US" sz="1300" dirty="0">
                <a:solidFill>
                  <a:srgbClr val="3A4353"/>
                </a:solidFill>
                <a:latin typeface="Calibri" pitchFamily="34" charset="0"/>
                <a:ea typeface="Calibri" pitchFamily="34" charset="-122"/>
                <a:cs typeface="Calibri" pitchFamily="34" charset="-120"/>
              </a:rPr>
              <a:t>built</a:t>
            </a:r>
            <a:endParaRPr lang="en-US" sz="1300" dirty="0"/>
          </a:p>
        </p:txBody>
      </p:sp>
      <p:sp>
        <p:nvSpPr>
          <p:cNvPr id="8" name="Shape 6"/>
          <p:cNvSpPr/>
          <p:nvPr/>
        </p:nvSpPr>
        <p:spPr>
          <a:xfrm>
            <a:off x="1737360" y="1325880"/>
            <a:ext cx="411480" cy="228600"/>
          </a:xfrm>
          <a:prstGeom prst="rect">
            <a:avLst/>
          </a:prstGeom>
          <a:solidFill>
            <a:srgbClr val="FFFFFF"/>
          </a:solidFill>
          <a:ln w="12700">
            <a:solidFill>
              <a:srgbClr val="6E747E"/>
            </a:solidFill>
            <a:prstDash val="dash"/>
          </a:ln>
        </p:spPr>
      </p:sp>
      <p:sp>
        <p:nvSpPr>
          <p:cNvPr id="9" name="Text 7"/>
          <p:cNvSpPr txBox="1"/>
          <p:nvPr/>
        </p:nvSpPr>
        <p:spPr>
          <a:xfrm>
            <a:off x="2240280" y="1307592"/>
            <a:ext cx="1645920" cy="274320"/>
          </a:xfrm>
          <a:prstGeom prst="rect">
            <a:avLst/>
          </a:prstGeom>
          <a:noFill/>
          <a:ln/>
        </p:spPr>
        <p:txBody>
          <a:bodyPr wrap="square" lIns="0" tIns="0" rIns="0" bIns="0" rtlCol="0" anchor="ctr"/>
          <a:lstStyle/>
          <a:p>
            <a:pPr indent="0" marL="0">
              <a:buNone/>
            </a:pPr>
            <a:r>
              <a:rPr lang="en-US" sz="1300" dirty="0">
                <a:solidFill>
                  <a:srgbClr val="3A4353"/>
                </a:solidFill>
                <a:latin typeface="Calibri" pitchFamily="34" charset="0"/>
                <a:ea typeface="Calibri" pitchFamily="34" charset="-122"/>
                <a:cs typeface="Calibri" pitchFamily="34" charset="-120"/>
              </a:rPr>
              <a:t>synthetic data</a:t>
            </a:r>
            <a:endParaRPr lang="en-US" sz="1300" dirty="0"/>
          </a:p>
        </p:txBody>
      </p:sp>
      <p:sp>
        <p:nvSpPr>
          <p:cNvPr id="10" name="Shape 8"/>
          <p:cNvSpPr/>
          <p:nvPr/>
        </p:nvSpPr>
        <p:spPr>
          <a:xfrm>
            <a:off x="3657600" y="1325880"/>
            <a:ext cx="411480" cy="228600"/>
          </a:xfrm>
          <a:prstGeom prst="rect">
            <a:avLst/>
          </a:prstGeom>
          <a:solidFill>
            <a:srgbClr val="FFFFFF"/>
          </a:solidFill>
          <a:ln w="12700">
            <a:solidFill>
              <a:srgbClr val="6E747E"/>
            </a:solidFill>
            <a:prstDash val="sysDot"/>
          </a:ln>
        </p:spPr>
      </p:sp>
      <p:sp>
        <p:nvSpPr>
          <p:cNvPr id="11" name="Text 9"/>
          <p:cNvSpPr txBox="1"/>
          <p:nvPr/>
        </p:nvSpPr>
        <p:spPr>
          <a:xfrm>
            <a:off x="4160520" y="1307592"/>
            <a:ext cx="1645920" cy="274320"/>
          </a:xfrm>
          <a:prstGeom prst="rect">
            <a:avLst/>
          </a:prstGeom>
          <a:noFill/>
          <a:ln/>
        </p:spPr>
        <p:txBody>
          <a:bodyPr wrap="square" lIns="0" tIns="0" rIns="0" bIns="0" rtlCol="0" anchor="ctr"/>
          <a:lstStyle/>
          <a:p>
            <a:pPr indent="0" marL="0">
              <a:buNone/>
            </a:pPr>
            <a:r>
              <a:rPr lang="en-US" sz="1300" dirty="0">
                <a:solidFill>
                  <a:srgbClr val="3A4353"/>
                </a:solidFill>
                <a:latin typeface="Calibri" pitchFamily="34" charset="0"/>
                <a:ea typeface="Calibri" pitchFamily="34" charset="-122"/>
                <a:cs typeface="Calibri" pitchFamily="34" charset="-120"/>
              </a:rPr>
              <a:t>planned</a:t>
            </a:r>
            <a:endParaRPr lang="en-US" sz="1300" dirty="0"/>
          </a:p>
        </p:txBody>
      </p:sp>
      <p:sp>
        <p:nvSpPr>
          <p:cNvPr id="12" name="Text 10"/>
          <p:cNvSpPr txBox="1"/>
          <p:nvPr/>
        </p:nvSpPr>
        <p:spPr>
          <a:xfrm>
            <a:off x="548640" y="1783080"/>
            <a:ext cx="6858000" cy="256032"/>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Phone (inside the bank’s app)</a:t>
            </a:r>
            <a:endParaRPr lang="en-US" sz="1200" dirty="0"/>
          </a:p>
        </p:txBody>
      </p:sp>
      <p:sp>
        <p:nvSpPr>
          <p:cNvPr id="13" name="Shape 11"/>
          <p:cNvSpPr/>
          <p:nvPr/>
        </p:nvSpPr>
        <p:spPr>
          <a:xfrm>
            <a:off x="548640" y="2075688"/>
            <a:ext cx="2148840" cy="868680"/>
          </a:xfrm>
          <a:prstGeom prst="rect">
            <a:avLst/>
          </a:prstGeom>
          <a:solidFill>
            <a:srgbClr val="FFFFFF"/>
          </a:solidFill>
          <a:ln w="12700">
            <a:solidFill>
              <a:srgbClr val="6E747E"/>
            </a:solidFill>
            <a:prstDash val="dash"/>
          </a:ln>
        </p:spPr>
      </p:sp>
      <p:sp>
        <p:nvSpPr>
          <p:cNvPr id="14" name="Text 12"/>
          <p:cNvSpPr txBox="1"/>
          <p:nvPr/>
        </p:nvSpPr>
        <p:spPr>
          <a:xfrm>
            <a:off x="658368" y="2148840"/>
            <a:ext cx="1929384"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Signal readers</a:t>
            </a:r>
            <a:endParaRPr lang="en-US" sz="1300" dirty="0"/>
          </a:p>
        </p:txBody>
      </p:sp>
      <p:sp>
        <p:nvSpPr>
          <p:cNvPr id="15" name="Text 13"/>
          <p:cNvSpPr txBox="1"/>
          <p:nvPr/>
        </p:nvSpPr>
        <p:spPr>
          <a:xfrm>
            <a:off x="658368" y="244144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3A4353"/>
                </a:solidFill>
                <a:latin typeface="Calibri" pitchFamily="34" charset="0"/>
                <a:ea typeface="Calibri" pitchFamily="34" charset="-122"/>
                <a:cs typeface="Calibri" pitchFamily="34" charset="-120"/>
              </a:rPr>
              <a:t>5 readable phone signals.</a:t>
            </a:r>
            <a:endParaRPr lang="en-US" sz="1100" dirty="0"/>
          </a:p>
        </p:txBody>
      </p:sp>
      <p:sp>
        <p:nvSpPr>
          <p:cNvPr id="16" name="Shape 14"/>
          <p:cNvSpPr/>
          <p:nvPr/>
        </p:nvSpPr>
        <p:spPr>
          <a:xfrm>
            <a:off x="2834640" y="2075688"/>
            <a:ext cx="2148840" cy="868680"/>
          </a:xfrm>
          <a:prstGeom prst="rect">
            <a:avLst/>
          </a:prstGeom>
          <a:solidFill>
            <a:srgbClr val="FFFFFF"/>
          </a:solidFill>
          <a:ln w="12700">
            <a:solidFill>
              <a:srgbClr val="6E747E"/>
            </a:solidFill>
            <a:prstDash val="sysDot"/>
          </a:ln>
        </p:spPr>
      </p:sp>
      <p:sp>
        <p:nvSpPr>
          <p:cNvPr id="17" name="Text 15"/>
          <p:cNvSpPr txBox="1"/>
          <p:nvPr/>
        </p:nvSpPr>
        <p:spPr>
          <a:xfrm>
            <a:off x="2944368" y="2148840"/>
            <a:ext cx="1929384"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Request builder</a:t>
            </a:r>
            <a:endParaRPr lang="en-US" sz="1300" dirty="0"/>
          </a:p>
        </p:txBody>
      </p:sp>
      <p:sp>
        <p:nvSpPr>
          <p:cNvPr id="18" name="Text 16"/>
          <p:cNvSpPr txBox="1"/>
          <p:nvPr/>
        </p:nvSpPr>
        <p:spPr>
          <a:xfrm>
            <a:off x="2944368" y="244144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Nonce, timestamp, Play Integrity.</a:t>
            </a:r>
            <a:endParaRPr lang="en-US" sz="1100" dirty="0"/>
          </a:p>
        </p:txBody>
      </p:sp>
      <p:sp>
        <p:nvSpPr>
          <p:cNvPr id="19" name="Shape 17"/>
          <p:cNvSpPr/>
          <p:nvPr/>
        </p:nvSpPr>
        <p:spPr>
          <a:xfrm>
            <a:off x="5120640" y="2075688"/>
            <a:ext cx="2148840" cy="868680"/>
          </a:xfrm>
          <a:prstGeom prst="rect">
            <a:avLst/>
          </a:prstGeom>
          <a:solidFill>
            <a:srgbClr val="FFFFFF"/>
          </a:solidFill>
          <a:ln w="12700">
            <a:solidFill>
              <a:srgbClr val="6E747E"/>
            </a:solidFill>
            <a:prstDash val="dash"/>
          </a:ln>
        </p:spPr>
      </p:sp>
      <p:sp>
        <p:nvSpPr>
          <p:cNvPr id="20" name="Text 18"/>
          <p:cNvSpPr txBox="1"/>
          <p:nvPr/>
        </p:nvSpPr>
        <p:spPr>
          <a:xfrm>
            <a:off x="5230368" y="2148840"/>
            <a:ext cx="1929384"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Warning screens</a:t>
            </a:r>
            <a:endParaRPr lang="en-US" sz="1300" dirty="0"/>
          </a:p>
        </p:txBody>
      </p:sp>
      <p:sp>
        <p:nvSpPr>
          <p:cNvPr id="21" name="Text 19"/>
          <p:cNvSpPr txBox="1"/>
          <p:nvPr/>
        </p:nvSpPr>
        <p:spPr>
          <a:xfrm>
            <a:off x="5230368" y="244144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3A4353"/>
                </a:solidFill>
                <a:latin typeface="Calibri" pitchFamily="34" charset="0"/>
                <a:ea typeface="Calibri" pitchFamily="34" charset="-122"/>
                <a:cs typeface="Calibri" pitchFamily="34" charset="-120"/>
              </a:rPr>
              <a:t>Level 2 and 3 screens.</a:t>
            </a:r>
            <a:endParaRPr lang="en-US" sz="1100" dirty="0"/>
          </a:p>
        </p:txBody>
      </p:sp>
      <p:sp>
        <p:nvSpPr>
          <p:cNvPr id="22" name="Text 20"/>
          <p:cNvSpPr txBox="1"/>
          <p:nvPr/>
        </p:nvSpPr>
        <p:spPr>
          <a:xfrm>
            <a:off x="548640" y="3063240"/>
            <a:ext cx="6858000" cy="256032"/>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Bank fraud servers</a:t>
            </a:r>
            <a:endParaRPr lang="en-US" sz="1200" dirty="0"/>
          </a:p>
        </p:txBody>
      </p:sp>
      <p:sp>
        <p:nvSpPr>
          <p:cNvPr id="23" name="Shape 21"/>
          <p:cNvSpPr/>
          <p:nvPr/>
        </p:nvSpPr>
        <p:spPr>
          <a:xfrm>
            <a:off x="548640" y="3355848"/>
            <a:ext cx="2148840" cy="868680"/>
          </a:xfrm>
          <a:prstGeom prst="rect">
            <a:avLst/>
          </a:prstGeom>
          <a:solidFill>
            <a:srgbClr val="FFFFFF"/>
          </a:solidFill>
          <a:ln w="19050">
            <a:solidFill>
              <a:srgbClr val="1B2433"/>
            </a:solidFill>
            <a:prstDash val="solid"/>
          </a:ln>
        </p:spPr>
      </p:sp>
      <p:sp>
        <p:nvSpPr>
          <p:cNvPr id="24" name="Text 22"/>
          <p:cNvSpPr txBox="1"/>
          <p:nvPr/>
        </p:nvSpPr>
        <p:spPr>
          <a:xfrm>
            <a:off x="658368" y="3429000"/>
            <a:ext cx="1929384"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Scoring server</a:t>
            </a:r>
            <a:endParaRPr lang="en-US" sz="1300" dirty="0"/>
          </a:p>
        </p:txBody>
      </p:sp>
      <p:sp>
        <p:nvSpPr>
          <p:cNvPr id="25" name="Text 23"/>
          <p:cNvSpPr txBox="1"/>
          <p:nvPr/>
        </p:nvSpPr>
        <p:spPr>
          <a:xfrm>
            <a:off x="658368" y="372160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3A4353"/>
                </a:solidFill>
                <a:latin typeface="Calibri" pitchFamily="34" charset="0"/>
                <a:ea typeface="Calibri" pitchFamily="34" charset="-122"/>
                <a:cs typeface="Calibri" pitchFamily="34" charset="-120"/>
              </a:rPr>
              <a:t>Stages, rule, level, reasons.</a:t>
            </a:r>
            <a:endParaRPr lang="en-US" sz="1100" dirty="0"/>
          </a:p>
        </p:txBody>
      </p:sp>
      <p:sp>
        <p:nvSpPr>
          <p:cNvPr id="26" name="Shape 24"/>
          <p:cNvSpPr/>
          <p:nvPr/>
        </p:nvSpPr>
        <p:spPr>
          <a:xfrm>
            <a:off x="2834640" y="3355848"/>
            <a:ext cx="2148840" cy="868680"/>
          </a:xfrm>
          <a:prstGeom prst="rect">
            <a:avLst/>
          </a:prstGeom>
          <a:solidFill>
            <a:srgbClr val="FFFFFF"/>
          </a:solidFill>
          <a:ln w="19050">
            <a:solidFill>
              <a:srgbClr val="1B2433"/>
            </a:solidFill>
            <a:prstDash val="solid"/>
          </a:ln>
        </p:spPr>
      </p:sp>
      <p:sp>
        <p:nvSpPr>
          <p:cNvPr id="27" name="Text 25"/>
          <p:cNvSpPr txBox="1"/>
          <p:nvPr/>
        </p:nvSpPr>
        <p:spPr>
          <a:xfrm>
            <a:off x="2944368" y="3429000"/>
            <a:ext cx="1929384"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Input checks + records</a:t>
            </a:r>
            <a:endParaRPr lang="en-US" sz="1300" dirty="0"/>
          </a:p>
        </p:txBody>
      </p:sp>
      <p:sp>
        <p:nvSpPr>
          <p:cNvPr id="28" name="Text 26"/>
          <p:cNvSpPr txBox="1"/>
          <p:nvPr/>
        </p:nvSpPr>
        <p:spPr>
          <a:xfrm>
            <a:off x="2944368" y="372160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3A4353"/>
                </a:solidFill>
                <a:latin typeface="Calibri" pitchFamily="34" charset="0"/>
                <a:ea typeface="Calibri" pitchFamily="34" charset="-122"/>
                <a:cs typeface="Calibri" pitchFamily="34" charset="-120"/>
              </a:rPr>
              <a:t>Replay checks, HMAC signing.</a:t>
            </a:r>
            <a:endParaRPr lang="en-US" sz="1100" dirty="0"/>
          </a:p>
        </p:txBody>
      </p:sp>
      <p:sp>
        <p:nvSpPr>
          <p:cNvPr id="29" name="Shape 27"/>
          <p:cNvSpPr/>
          <p:nvPr/>
        </p:nvSpPr>
        <p:spPr>
          <a:xfrm>
            <a:off x="5120640" y="3355848"/>
            <a:ext cx="2148840" cy="868680"/>
          </a:xfrm>
          <a:prstGeom prst="rect">
            <a:avLst/>
          </a:prstGeom>
          <a:solidFill>
            <a:srgbClr val="FFFFFF"/>
          </a:solidFill>
          <a:ln w="12700">
            <a:solidFill>
              <a:srgbClr val="6E747E"/>
            </a:solidFill>
            <a:prstDash val="sysDot"/>
          </a:ln>
        </p:spPr>
      </p:sp>
      <p:sp>
        <p:nvSpPr>
          <p:cNvPr id="30" name="Text 28"/>
          <p:cNvSpPr txBox="1"/>
          <p:nvPr/>
        </p:nvSpPr>
        <p:spPr>
          <a:xfrm>
            <a:off x="5230368" y="3429000"/>
            <a:ext cx="1929384"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Agent screen</a:t>
            </a:r>
            <a:endParaRPr lang="en-US" sz="1300" dirty="0"/>
          </a:p>
        </p:txBody>
      </p:sp>
      <p:sp>
        <p:nvSpPr>
          <p:cNvPr id="31" name="Text 29"/>
          <p:cNvSpPr txBox="1"/>
          <p:nvPr/>
        </p:nvSpPr>
        <p:spPr>
          <a:xfrm>
            <a:off x="5230368" y="372160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Held payments, 2-person release.</a:t>
            </a:r>
            <a:endParaRPr lang="en-US" sz="1100" dirty="0"/>
          </a:p>
        </p:txBody>
      </p:sp>
      <p:sp>
        <p:nvSpPr>
          <p:cNvPr id="32" name="Text 30"/>
          <p:cNvSpPr txBox="1"/>
          <p:nvPr/>
        </p:nvSpPr>
        <p:spPr>
          <a:xfrm>
            <a:off x="548640" y="4343400"/>
            <a:ext cx="6858000" cy="256032"/>
          </a:xfrm>
          <a:prstGeom prst="rect">
            <a:avLst/>
          </a:prstGeom>
          <a:noFill/>
          <a:ln/>
        </p:spPr>
        <p:txBody>
          <a:bodyPr wrap="square" lIns="0" tIns="0" rIns="0" bIns="0" rtlCol="0" anchor="ctr"/>
          <a:lstStyle/>
          <a:p>
            <a:pPr indent="0" marL="0">
              <a:buNone/>
            </a:pPr>
            <a:r>
              <a:rPr lang="en-US" sz="1200" b="1" dirty="0">
                <a:solidFill>
                  <a:srgbClr val="3A4353"/>
                </a:solidFill>
                <a:latin typeface="Calibri" pitchFamily="34" charset="0"/>
                <a:ea typeface="Calibri" pitchFamily="34" charset="-122"/>
                <a:cs typeface="Calibri" pitchFamily="34" charset="-120"/>
              </a:rPr>
              <a:t>Bank data and payments</a:t>
            </a:r>
            <a:endParaRPr lang="en-US" sz="1200" dirty="0"/>
          </a:p>
        </p:txBody>
      </p:sp>
      <p:sp>
        <p:nvSpPr>
          <p:cNvPr id="33" name="Shape 31"/>
          <p:cNvSpPr/>
          <p:nvPr/>
        </p:nvSpPr>
        <p:spPr>
          <a:xfrm>
            <a:off x="548640" y="4636008"/>
            <a:ext cx="2148840" cy="868680"/>
          </a:xfrm>
          <a:prstGeom prst="rect">
            <a:avLst/>
          </a:prstGeom>
          <a:solidFill>
            <a:srgbClr val="FFFFFF"/>
          </a:solidFill>
          <a:ln w="12700">
            <a:solidFill>
              <a:srgbClr val="6E747E"/>
            </a:solidFill>
            <a:prstDash val="dash"/>
          </a:ln>
        </p:spPr>
      </p:sp>
      <p:sp>
        <p:nvSpPr>
          <p:cNvPr id="34" name="Text 32"/>
          <p:cNvSpPr txBox="1"/>
          <p:nvPr/>
        </p:nvSpPr>
        <p:spPr>
          <a:xfrm>
            <a:off x="658368" y="4709160"/>
            <a:ext cx="1929384" cy="274320"/>
          </a:xfrm>
          <a:prstGeom prst="rect">
            <a:avLst/>
          </a:prstGeom>
          <a:noFill/>
          <a:ln/>
        </p:spPr>
        <p:txBody>
          <a:bodyPr wrap="square" lIns="0" tIns="0" rIns="0" bIns="0" rtlCol="0" anchor="ctr"/>
          <a:lstStyle/>
          <a:p>
            <a:pPr indent="0" marL="0">
              <a:buNone/>
            </a:pPr>
            <a:r>
              <a:rPr lang="en-US" sz="1300" b="1" dirty="0">
                <a:solidFill>
                  <a:srgbClr val="1B2433"/>
                </a:solidFill>
                <a:latin typeface="Calibri" pitchFamily="34" charset="0"/>
                <a:ea typeface="Calibri" pitchFamily="34" charset="-122"/>
                <a:cs typeface="Calibri" pitchFamily="34" charset="-120"/>
              </a:rPr>
              <a:t>Mule score, suspect list</a:t>
            </a:r>
            <a:endParaRPr lang="en-US" sz="1300" dirty="0"/>
          </a:p>
        </p:txBody>
      </p:sp>
      <p:sp>
        <p:nvSpPr>
          <p:cNvPr id="35" name="Text 33"/>
          <p:cNvSpPr txBox="1"/>
          <p:nvPr/>
        </p:nvSpPr>
        <p:spPr>
          <a:xfrm>
            <a:off x="658368" y="500176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3A4353"/>
                </a:solidFill>
                <a:latin typeface="Calibri" pitchFamily="34" charset="0"/>
                <a:ea typeface="Calibri" pitchFamily="34" charset="-122"/>
                <a:cs typeface="Calibri" pitchFamily="34" charset="-120"/>
              </a:rPr>
              <a:t>From the bank’s own data.</a:t>
            </a:r>
            <a:endParaRPr lang="en-US" sz="1100" dirty="0"/>
          </a:p>
        </p:txBody>
      </p:sp>
      <p:sp>
        <p:nvSpPr>
          <p:cNvPr id="36" name="Shape 34"/>
          <p:cNvSpPr/>
          <p:nvPr/>
        </p:nvSpPr>
        <p:spPr>
          <a:xfrm>
            <a:off x="2834640" y="4636008"/>
            <a:ext cx="2148840" cy="868680"/>
          </a:xfrm>
          <a:prstGeom prst="rect">
            <a:avLst/>
          </a:prstGeom>
          <a:solidFill>
            <a:srgbClr val="FFFFFF"/>
          </a:solidFill>
          <a:ln w="12700">
            <a:solidFill>
              <a:srgbClr val="6E747E"/>
            </a:solidFill>
            <a:prstDash val="sysDot"/>
          </a:ln>
        </p:spPr>
      </p:sp>
      <p:sp>
        <p:nvSpPr>
          <p:cNvPr id="37" name="Text 35"/>
          <p:cNvSpPr txBox="1"/>
          <p:nvPr/>
        </p:nvSpPr>
        <p:spPr>
          <a:xfrm>
            <a:off x="2944368" y="4709160"/>
            <a:ext cx="1929384"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Payment hold</a:t>
            </a:r>
            <a:endParaRPr lang="en-US" sz="1300" dirty="0"/>
          </a:p>
        </p:txBody>
      </p:sp>
      <p:sp>
        <p:nvSpPr>
          <p:cNvPr id="38" name="Text 36"/>
          <p:cNvSpPr txBox="1"/>
          <p:nvPr/>
        </p:nvSpPr>
        <p:spPr>
          <a:xfrm>
            <a:off x="2944368" y="500176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Time-limited, before the PIN.</a:t>
            </a:r>
            <a:endParaRPr lang="en-US" sz="1100" dirty="0"/>
          </a:p>
        </p:txBody>
      </p:sp>
      <p:sp>
        <p:nvSpPr>
          <p:cNvPr id="39" name="Shape 37"/>
          <p:cNvSpPr/>
          <p:nvPr/>
        </p:nvSpPr>
        <p:spPr>
          <a:xfrm>
            <a:off x="5120640" y="4636008"/>
            <a:ext cx="2148840" cy="868680"/>
          </a:xfrm>
          <a:prstGeom prst="rect">
            <a:avLst/>
          </a:prstGeom>
          <a:solidFill>
            <a:srgbClr val="FFFFFF"/>
          </a:solidFill>
          <a:ln w="12700">
            <a:solidFill>
              <a:srgbClr val="6E747E"/>
            </a:solidFill>
            <a:prstDash val="sysDot"/>
          </a:ln>
        </p:spPr>
      </p:sp>
      <p:sp>
        <p:nvSpPr>
          <p:cNvPr id="40" name="Text 38"/>
          <p:cNvSpPr txBox="1"/>
          <p:nvPr/>
        </p:nvSpPr>
        <p:spPr>
          <a:xfrm>
            <a:off x="5230368" y="4709160"/>
            <a:ext cx="1929384" cy="274320"/>
          </a:xfrm>
          <a:prstGeom prst="rect">
            <a:avLst/>
          </a:prstGeom>
          <a:noFill/>
          <a:ln/>
        </p:spPr>
        <p:txBody>
          <a:bodyPr wrap="square" lIns="0" tIns="0" rIns="0" bIns="0" rtlCol="0" anchor="ctr"/>
          <a:lstStyle/>
          <a:p>
            <a:pPr indent="0" marL="0">
              <a:buNone/>
            </a:pPr>
            <a:r>
              <a:rPr lang="en-US" sz="1300" b="1" dirty="0">
                <a:solidFill>
                  <a:srgbClr val="3A4353"/>
                </a:solidFill>
                <a:latin typeface="Calibri" pitchFamily="34" charset="0"/>
                <a:ea typeface="Calibri" pitchFamily="34" charset="-122"/>
                <a:cs typeface="Calibri" pitchFamily="34" charset="-120"/>
              </a:rPr>
              <a:t>Reporting</a:t>
            </a:r>
            <a:endParaRPr lang="en-US" sz="1300" dirty="0"/>
          </a:p>
        </p:txBody>
      </p:sp>
      <p:sp>
        <p:nvSpPr>
          <p:cNvPr id="41" name="Text 39"/>
          <p:cNvSpPr txBox="1"/>
          <p:nvPr/>
        </p:nvSpPr>
        <p:spPr>
          <a:xfrm>
            <a:off x="5230368" y="5001768"/>
            <a:ext cx="1929384" cy="45720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Confirmed scams to I4C / 1930.</a:t>
            </a:r>
            <a:endParaRPr lang="en-US" sz="1100" dirty="0"/>
          </a:p>
        </p:txBody>
      </p:sp>
      <p:sp>
        <p:nvSpPr>
          <p:cNvPr id="42" name="Text 40"/>
          <p:cNvSpPr txBox="1"/>
          <p:nvPr/>
        </p:nvSpPr>
        <p:spPr>
          <a:xfrm>
            <a:off x="548640" y="5669280"/>
            <a:ext cx="6766560" cy="274320"/>
          </a:xfrm>
          <a:prstGeom prst="rect">
            <a:avLst/>
          </a:prstGeom>
          <a:noFill/>
          <a:ln/>
        </p:spPr>
        <p:txBody>
          <a:bodyPr wrap="square" lIns="0" tIns="0" rIns="0" bIns="0" rtlCol="0" anchor="ctr"/>
          <a:lstStyle/>
          <a:p>
            <a:pPr indent="0" marL="0">
              <a:buNone/>
            </a:pPr>
            <a:r>
              <a:rPr lang="en-US" sz="1100" i="1" dirty="0">
                <a:solidFill>
                  <a:srgbClr val="6E747E"/>
                </a:solidFill>
                <a:latin typeface="Calibri" pitchFamily="34" charset="0"/>
                <a:ea typeface="Calibri" pitchFamily="34" charset="-122"/>
                <a:cs typeface="Calibri" pitchFamily="34" charset="-120"/>
              </a:rPr>
              <a:t>No integration with Amazon, NPCI, I4C or any bank exists yet.</a:t>
            </a:r>
            <a:endParaRPr lang="en-US" sz="1100" dirty="0"/>
          </a:p>
        </p:txBody>
      </p:sp>
      <p:sp>
        <p:nvSpPr>
          <p:cNvPr id="43" name="Text 41"/>
          <p:cNvSpPr txBox="1"/>
          <p:nvPr/>
        </p:nvSpPr>
        <p:spPr>
          <a:xfrm>
            <a:off x="7818120" y="1783080"/>
            <a:ext cx="365760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Rollout</a:t>
            </a:r>
            <a:endParaRPr lang="en-US" sz="1500" dirty="0"/>
          </a:p>
        </p:txBody>
      </p:sp>
      <p:sp>
        <p:nvSpPr>
          <p:cNvPr id="44" name="Text 42"/>
          <p:cNvSpPr txBox="1"/>
          <p:nvPr/>
        </p:nvSpPr>
        <p:spPr>
          <a:xfrm>
            <a:off x="7818120" y="2148840"/>
            <a:ext cx="1188720" cy="274320"/>
          </a:xfrm>
          <a:prstGeom prst="rect">
            <a:avLst/>
          </a:prstGeom>
          <a:noFill/>
          <a:ln/>
        </p:spPr>
        <p:txBody>
          <a:bodyPr wrap="square" lIns="0" tIns="0" rIns="0" bIns="0" rtlCol="0" anchor="ctr"/>
          <a:lstStyle/>
          <a:p>
            <a:pPr indent="0" marL="0">
              <a:buNone/>
            </a:pPr>
            <a:r>
              <a:rPr lang="en-US" sz="1200" b="1" dirty="0">
                <a:solidFill>
                  <a:srgbClr val="D9480F"/>
                </a:solidFill>
                <a:latin typeface="Calibri" pitchFamily="34" charset="0"/>
                <a:ea typeface="Calibri" pitchFamily="34" charset="-122"/>
                <a:cs typeface="Calibri" pitchFamily="34" charset="-120"/>
              </a:rPr>
              <a:t>Weeks 0–6</a:t>
            </a:r>
            <a:endParaRPr lang="en-US" sz="1200" dirty="0"/>
          </a:p>
        </p:txBody>
      </p:sp>
      <p:sp>
        <p:nvSpPr>
          <p:cNvPr id="45" name="Text 43"/>
          <p:cNvSpPr txBox="1"/>
          <p:nvPr/>
        </p:nvSpPr>
        <p:spPr>
          <a:xfrm>
            <a:off x="9052560" y="2148840"/>
            <a:ext cx="2606040" cy="50292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Shadow mode: score, show nothing, tune thresholds.</a:t>
            </a:r>
            <a:endParaRPr lang="en-US" sz="1200" dirty="0"/>
          </a:p>
        </p:txBody>
      </p:sp>
      <p:sp>
        <p:nvSpPr>
          <p:cNvPr id="46" name="Text 44"/>
          <p:cNvSpPr txBox="1"/>
          <p:nvPr/>
        </p:nvSpPr>
        <p:spPr>
          <a:xfrm>
            <a:off x="7818120" y="2715768"/>
            <a:ext cx="1188720" cy="274320"/>
          </a:xfrm>
          <a:prstGeom prst="rect">
            <a:avLst/>
          </a:prstGeom>
          <a:noFill/>
          <a:ln/>
        </p:spPr>
        <p:txBody>
          <a:bodyPr wrap="square" lIns="0" tIns="0" rIns="0" bIns="0" rtlCol="0" anchor="ctr"/>
          <a:lstStyle/>
          <a:p>
            <a:pPr indent="0" marL="0">
              <a:buNone/>
            </a:pPr>
            <a:r>
              <a:rPr lang="en-US" sz="1200" b="1" dirty="0">
                <a:solidFill>
                  <a:srgbClr val="D9480F"/>
                </a:solidFill>
                <a:latin typeface="Calibri" pitchFamily="34" charset="0"/>
                <a:ea typeface="Calibri" pitchFamily="34" charset="-122"/>
                <a:cs typeface="Calibri" pitchFamily="34" charset="-120"/>
              </a:rPr>
              <a:t>Weeks 6–10</a:t>
            </a:r>
            <a:endParaRPr lang="en-US" sz="1200" dirty="0"/>
          </a:p>
        </p:txBody>
      </p:sp>
      <p:sp>
        <p:nvSpPr>
          <p:cNvPr id="47" name="Text 45"/>
          <p:cNvSpPr txBox="1"/>
          <p:nvPr/>
        </p:nvSpPr>
        <p:spPr>
          <a:xfrm>
            <a:off x="9052560" y="2715768"/>
            <a:ext cx="2606040" cy="50292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Levels 1 and 2 for customers who opt in.</a:t>
            </a:r>
            <a:endParaRPr lang="en-US" sz="1200" dirty="0"/>
          </a:p>
        </p:txBody>
      </p:sp>
      <p:sp>
        <p:nvSpPr>
          <p:cNvPr id="48" name="Text 46"/>
          <p:cNvSpPr txBox="1"/>
          <p:nvPr/>
        </p:nvSpPr>
        <p:spPr>
          <a:xfrm>
            <a:off x="7818120" y="3282696"/>
            <a:ext cx="1188720" cy="274320"/>
          </a:xfrm>
          <a:prstGeom prst="rect">
            <a:avLst/>
          </a:prstGeom>
          <a:noFill/>
          <a:ln/>
        </p:spPr>
        <p:txBody>
          <a:bodyPr wrap="square" lIns="0" tIns="0" rIns="0" bIns="0" rtlCol="0" anchor="ctr"/>
          <a:lstStyle/>
          <a:p>
            <a:pPr indent="0" marL="0">
              <a:buNone/>
            </a:pPr>
            <a:r>
              <a:rPr lang="en-US" sz="1200" b="1" dirty="0">
                <a:solidFill>
                  <a:srgbClr val="D9480F"/>
                </a:solidFill>
                <a:latin typeface="Calibri" pitchFamily="34" charset="0"/>
                <a:ea typeface="Calibri" pitchFamily="34" charset="-122"/>
                <a:cs typeface="Calibri" pitchFamily="34" charset="-120"/>
              </a:rPr>
              <a:t>From week 10</a:t>
            </a:r>
            <a:endParaRPr lang="en-US" sz="1200" dirty="0"/>
          </a:p>
        </p:txBody>
      </p:sp>
      <p:sp>
        <p:nvSpPr>
          <p:cNvPr id="49" name="Text 47"/>
          <p:cNvSpPr txBox="1"/>
          <p:nvPr/>
        </p:nvSpPr>
        <p:spPr>
          <a:xfrm>
            <a:off x="9052560" y="3282696"/>
            <a:ext cx="2606040" cy="502920"/>
          </a:xfrm>
          <a:prstGeom prst="rect">
            <a:avLst/>
          </a:prstGeom>
          <a:noFill/>
          <a:ln/>
        </p:spPr>
        <p:txBody>
          <a:bodyPr wrap="square" lIns="0" tIns="0" rIns="0" bIns="0" rtlCol="0" anchor="t"/>
          <a:lstStyle/>
          <a:p>
            <a:pPr indent="0" marL="0">
              <a:spcAft>
                <a:spcPts val="400"/>
              </a:spcAft>
              <a:buNone/>
            </a:pPr>
            <a:r>
              <a:rPr lang="en-US" sz="1200" dirty="0">
                <a:solidFill>
                  <a:srgbClr val="3A4353"/>
                </a:solidFill>
                <a:latin typeface="Calibri" pitchFamily="34" charset="0"/>
                <a:ea typeface="Calibri" pitchFamily="34" charset="-122"/>
                <a:cs typeface="Calibri" pitchFamily="34" charset="-120"/>
              </a:rPr>
              <a:t>Level 3 holds with agent review.</a:t>
            </a:r>
            <a:endParaRPr lang="en-US" sz="1200" dirty="0"/>
          </a:p>
        </p:txBody>
      </p:sp>
      <p:sp>
        <p:nvSpPr>
          <p:cNvPr id="50" name="Text 48"/>
          <p:cNvSpPr txBox="1"/>
          <p:nvPr/>
        </p:nvSpPr>
        <p:spPr>
          <a:xfrm>
            <a:off x="7818120" y="4023360"/>
            <a:ext cx="3840480"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Running cost (estimate)</a:t>
            </a:r>
            <a:endParaRPr lang="en-US" sz="1500" dirty="0"/>
          </a:p>
        </p:txBody>
      </p:sp>
      <p:sp>
        <p:nvSpPr>
          <p:cNvPr id="51" name="Text 49"/>
          <p:cNvSpPr txBox="1"/>
          <p:nvPr/>
        </p:nvSpPr>
        <p:spPr>
          <a:xfrm>
            <a:off x="7818120" y="4343400"/>
            <a:ext cx="3840480" cy="1280160"/>
          </a:xfrm>
          <a:prstGeom prst="rect">
            <a:avLst/>
          </a:prstGeom>
          <a:noFill/>
          <a:ln/>
        </p:spPr>
        <p:txBody>
          <a:bodyPr wrap="square" lIns="0" tIns="0" rIns="0" bIns="0" rtlCol="0" anchor="t"/>
          <a:lstStyle/>
          <a:p>
            <a:pPr indent="0" marL="0">
              <a:spcAft>
                <a:spcPts val="400"/>
              </a:spcAft>
              <a:buNone/>
            </a:pPr>
            <a:r>
              <a:rPr lang="en-US" sz="1250" b="1" dirty="0">
                <a:solidFill>
                  <a:srgbClr val="1B2433"/>
                </a:solidFill>
                <a:latin typeface="Calibri" pitchFamily="34" charset="0"/>
                <a:ea typeface="Calibri" pitchFamily="34" charset="-122"/>
                <a:cs typeface="Calibri" pitchFamily="34" charset="-120"/>
              </a:rPr>
              <a:t>Servers and storage: </a:t>
            </a:r>
            <a:pPr indent="0" marL="0">
              <a:spcAft>
                <a:spcPts val="400"/>
              </a:spcAft>
              <a:buNone/>
            </a:pPr>
            <a:r>
              <a:rPr lang="en-US" sz="1250" dirty="0">
                <a:solidFill>
                  <a:srgbClr val="3A4353"/>
                </a:solidFill>
                <a:latin typeface="Calibri" pitchFamily="34" charset="0"/>
                <a:ea typeface="Calibri" pitchFamily="34" charset="-122"/>
                <a:cs typeface="Calibri" pitchFamily="34" charset="-120"/>
              </a:rPr>
              <a:t>about ₹5 lakh a year for 30 million users.</a:t>
            </a:r>
            <a:endParaRPr lang="en-US" sz="1250" dirty="0"/>
          </a:p>
          <a:p>
            <a:pPr indent="0" marL="0">
              <a:spcAft>
                <a:spcPts val="400"/>
              </a:spcAft>
              <a:buNone/>
            </a:pPr>
            <a:r>
              <a:rPr lang="en-US" sz="1250" b="1" dirty="0">
                <a:solidFill>
                  <a:srgbClr val="1B2433"/>
                </a:solidFill>
                <a:latin typeface="Calibri" pitchFamily="34" charset="0"/>
                <a:ea typeface="Calibri" pitchFamily="34" charset="-122"/>
                <a:cs typeface="Calibri" pitchFamily="34" charset="-120"/>
              </a:rPr>
              <a:t>Staff: </a:t>
            </a:r>
            <a:pPr indent="0" marL="0">
              <a:spcAft>
                <a:spcPts val="400"/>
              </a:spcAft>
              <a:buNone/>
            </a:pPr>
            <a:r>
              <a:rPr lang="en-US" sz="1250" dirty="0">
                <a:solidFill>
                  <a:srgbClr val="3A4353"/>
                </a:solidFill>
                <a:latin typeface="Calibri" pitchFamily="34" charset="0"/>
                <a:ea typeface="Calibri" pitchFamily="34" charset="-122"/>
                <a:cs typeface="Calibri" pitchFamily="34" charset="-120"/>
              </a:rPr>
              <a:t>about 1,370 genuine payments held a day, roughly 114 agent-hours. This is the real cost.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12  ·  Next steps</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13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3400" b="1" dirty="0">
                <a:solidFill>
                  <a:srgbClr val="1B2433"/>
                </a:solidFill>
                <a:latin typeface="Cambria" pitchFamily="34" charset="0"/>
                <a:ea typeface="Cambria" pitchFamily="34" charset="-122"/>
                <a:cs typeface="Cambria" pitchFamily="34" charset="-120"/>
              </a:rPr>
              <a:t>What we will build and show in the 48-hour finale</a:t>
            </a:r>
            <a:endParaRPr lang="en-US" sz="3400" dirty="0"/>
          </a:p>
        </p:txBody>
      </p:sp>
      <p:sp>
        <p:nvSpPr>
          <p:cNvPr id="6" name="Shape 4"/>
          <p:cNvSpPr/>
          <p:nvPr/>
        </p:nvSpPr>
        <p:spPr>
          <a:xfrm>
            <a:off x="548640" y="2057400"/>
            <a:ext cx="10820095" cy="0"/>
          </a:xfrm>
          <a:prstGeom prst="line">
            <a:avLst/>
          </a:prstGeom>
          <a:noFill/>
          <a:ln w="15875">
            <a:solidFill>
              <a:srgbClr val="3A4353"/>
            </a:solidFill>
            <a:prstDash val="solid"/>
          </a:ln>
        </p:spPr>
      </p:sp>
      <p:sp>
        <p:nvSpPr>
          <p:cNvPr id="7" name="Shape 5"/>
          <p:cNvSpPr/>
          <p:nvPr/>
        </p:nvSpPr>
        <p:spPr>
          <a:xfrm>
            <a:off x="539496" y="1956816"/>
            <a:ext cx="201168" cy="201168"/>
          </a:xfrm>
          <a:prstGeom prst="ellipse">
            <a:avLst/>
          </a:prstGeom>
          <a:solidFill>
            <a:srgbClr val="111A2B"/>
          </a:solidFill>
          <a:ln w="19050">
            <a:solidFill>
              <a:srgbClr val="111A2B"/>
            </a:solidFill>
            <a:prstDash val="solid"/>
          </a:ln>
        </p:spPr>
      </p:sp>
      <p:sp>
        <p:nvSpPr>
          <p:cNvPr id="8" name="Text 6"/>
          <p:cNvSpPr txBox="1"/>
          <p:nvPr/>
        </p:nvSpPr>
        <p:spPr>
          <a:xfrm>
            <a:off x="548640" y="2377440"/>
            <a:ext cx="1990283" cy="27432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H+0–8</a:t>
            </a:r>
            <a:endParaRPr lang="en-US" sz="1400" dirty="0"/>
          </a:p>
        </p:txBody>
      </p:sp>
      <p:sp>
        <p:nvSpPr>
          <p:cNvPr id="9" name="Text 7"/>
          <p:cNvSpPr txBox="1"/>
          <p:nvPr/>
        </p:nvSpPr>
        <p:spPr>
          <a:xfrm>
            <a:off x="548640" y="2697480"/>
            <a:ext cx="2036003" cy="365760"/>
          </a:xfrm>
          <a:prstGeom prst="rect">
            <a:avLst/>
          </a:prstGeom>
          <a:noFill/>
          <a:ln/>
        </p:spPr>
        <p:txBody>
          <a:bodyPr wrap="square" lIns="0" tIns="0" rIns="0" bIns="0" rtlCol="0" anchor="ctr"/>
          <a:lstStyle/>
          <a:p>
            <a:pPr indent="0" marL="0">
              <a:buNone/>
            </a:pPr>
            <a:r>
              <a:rPr lang="en-US" sz="1700" b="1" dirty="0">
                <a:solidFill>
                  <a:srgbClr val="1B2433"/>
                </a:solidFill>
                <a:latin typeface="Cambria" pitchFamily="34" charset="0"/>
                <a:ea typeface="Cambria" pitchFamily="34" charset="-122"/>
                <a:cs typeface="Cambria" pitchFamily="34" charset="-120"/>
              </a:rPr>
              <a:t>Replay harness</a:t>
            </a:r>
            <a:endParaRPr lang="en-US" sz="1700" dirty="0"/>
          </a:p>
        </p:txBody>
      </p:sp>
      <p:sp>
        <p:nvSpPr>
          <p:cNvPr id="10" name="Text 8"/>
          <p:cNvSpPr txBox="1"/>
          <p:nvPr/>
        </p:nvSpPr>
        <p:spPr>
          <a:xfrm>
            <a:off x="548640" y="3154680"/>
            <a:ext cx="1944563" cy="10058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Run saved test sessions through the server and check the records.</a:t>
            </a:r>
            <a:endParaRPr lang="en-US" sz="1400" dirty="0"/>
          </a:p>
        </p:txBody>
      </p:sp>
      <p:sp>
        <p:nvSpPr>
          <p:cNvPr id="11" name="Shape 9"/>
          <p:cNvSpPr/>
          <p:nvPr/>
        </p:nvSpPr>
        <p:spPr>
          <a:xfrm>
            <a:off x="2758379" y="1956816"/>
            <a:ext cx="201168" cy="201168"/>
          </a:xfrm>
          <a:prstGeom prst="ellipse">
            <a:avLst/>
          </a:prstGeom>
          <a:solidFill>
            <a:srgbClr val="111A2B"/>
          </a:solidFill>
          <a:ln w="19050">
            <a:solidFill>
              <a:srgbClr val="111A2B"/>
            </a:solidFill>
            <a:prstDash val="solid"/>
          </a:ln>
        </p:spPr>
      </p:sp>
      <p:sp>
        <p:nvSpPr>
          <p:cNvPr id="12" name="Text 10"/>
          <p:cNvSpPr txBox="1"/>
          <p:nvPr/>
        </p:nvSpPr>
        <p:spPr>
          <a:xfrm>
            <a:off x="2767523" y="2377440"/>
            <a:ext cx="1990283" cy="27432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H+8–20</a:t>
            </a:r>
            <a:endParaRPr lang="en-US" sz="1400" dirty="0"/>
          </a:p>
        </p:txBody>
      </p:sp>
      <p:sp>
        <p:nvSpPr>
          <p:cNvPr id="13" name="Text 11"/>
          <p:cNvSpPr txBox="1"/>
          <p:nvPr/>
        </p:nvSpPr>
        <p:spPr>
          <a:xfrm>
            <a:off x="2767523" y="2697480"/>
            <a:ext cx="2036003" cy="365760"/>
          </a:xfrm>
          <a:prstGeom prst="rect">
            <a:avLst/>
          </a:prstGeom>
          <a:noFill/>
          <a:ln/>
        </p:spPr>
        <p:txBody>
          <a:bodyPr wrap="square" lIns="0" tIns="0" rIns="0" bIns="0" rtlCol="0" anchor="ctr"/>
          <a:lstStyle/>
          <a:p>
            <a:pPr indent="0" marL="0">
              <a:buNone/>
            </a:pPr>
            <a:r>
              <a:rPr lang="en-US" sz="1700" b="1" dirty="0">
                <a:solidFill>
                  <a:srgbClr val="1B2433"/>
                </a:solidFill>
                <a:latin typeface="Cambria" pitchFamily="34" charset="0"/>
                <a:ea typeface="Cambria" pitchFamily="34" charset="-122"/>
                <a:cs typeface="Cambria" pitchFamily="34" charset="-120"/>
              </a:rPr>
              <a:t>Android signals</a:t>
            </a:r>
            <a:endParaRPr lang="en-US" sz="1700" dirty="0"/>
          </a:p>
        </p:txBody>
      </p:sp>
      <p:sp>
        <p:nvSpPr>
          <p:cNvPr id="14" name="Text 12"/>
          <p:cNvSpPr txBox="1"/>
          <p:nvPr/>
        </p:nvSpPr>
        <p:spPr>
          <a:xfrm>
            <a:off x="2767523" y="3154680"/>
            <a:ext cx="1944563" cy="10058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Read the 5 allowed phone signals on one test phone.</a:t>
            </a:r>
            <a:endParaRPr lang="en-US" sz="1400" dirty="0"/>
          </a:p>
        </p:txBody>
      </p:sp>
      <p:sp>
        <p:nvSpPr>
          <p:cNvPr id="15" name="Shape 13"/>
          <p:cNvSpPr/>
          <p:nvPr/>
        </p:nvSpPr>
        <p:spPr>
          <a:xfrm>
            <a:off x="4977262" y="1956816"/>
            <a:ext cx="201168" cy="201168"/>
          </a:xfrm>
          <a:prstGeom prst="ellipse">
            <a:avLst/>
          </a:prstGeom>
          <a:solidFill>
            <a:srgbClr val="111A2B"/>
          </a:solidFill>
          <a:ln w="19050">
            <a:solidFill>
              <a:srgbClr val="111A2B"/>
            </a:solidFill>
            <a:prstDash val="solid"/>
          </a:ln>
        </p:spPr>
      </p:sp>
      <p:sp>
        <p:nvSpPr>
          <p:cNvPr id="16" name="Text 14"/>
          <p:cNvSpPr txBox="1"/>
          <p:nvPr/>
        </p:nvSpPr>
        <p:spPr>
          <a:xfrm>
            <a:off x="4986406" y="2377440"/>
            <a:ext cx="1990283" cy="27432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H+20–32</a:t>
            </a:r>
            <a:endParaRPr lang="en-US" sz="1400" dirty="0"/>
          </a:p>
        </p:txBody>
      </p:sp>
      <p:sp>
        <p:nvSpPr>
          <p:cNvPr id="17" name="Text 15"/>
          <p:cNvSpPr txBox="1"/>
          <p:nvPr/>
        </p:nvSpPr>
        <p:spPr>
          <a:xfrm>
            <a:off x="4986406" y="2697480"/>
            <a:ext cx="2036003" cy="365760"/>
          </a:xfrm>
          <a:prstGeom prst="rect">
            <a:avLst/>
          </a:prstGeom>
          <a:noFill/>
          <a:ln/>
        </p:spPr>
        <p:txBody>
          <a:bodyPr wrap="square" lIns="0" tIns="0" rIns="0" bIns="0" rtlCol="0" anchor="ctr"/>
          <a:lstStyle/>
          <a:p>
            <a:pPr indent="0" marL="0">
              <a:buNone/>
            </a:pPr>
            <a:r>
              <a:rPr lang="en-US" sz="1700" b="1" dirty="0">
                <a:solidFill>
                  <a:srgbClr val="1B2433"/>
                </a:solidFill>
                <a:latin typeface="Cambria" pitchFamily="34" charset="0"/>
                <a:ea typeface="Cambria" pitchFamily="34" charset="-122"/>
                <a:cs typeface="Cambria" pitchFamily="34" charset="-120"/>
              </a:rPr>
              <a:t>Collect-request rule</a:t>
            </a:r>
            <a:endParaRPr lang="en-US" sz="1700" dirty="0"/>
          </a:p>
        </p:txBody>
      </p:sp>
      <p:sp>
        <p:nvSpPr>
          <p:cNvPr id="18" name="Text 16"/>
          <p:cNvSpPr txBox="1"/>
          <p:nvPr/>
        </p:nvSpPr>
        <p:spPr>
          <a:xfrm>
            <a:off x="4986406" y="3154680"/>
            <a:ext cx="1944563" cy="10058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Add the targeted warning, re-test, then attack our own model.</a:t>
            </a:r>
            <a:endParaRPr lang="en-US" sz="1400" dirty="0"/>
          </a:p>
        </p:txBody>
      </p:sp>
      <p:sp>
        <p:nvSpPr>
          <p:cNvPr id="19" name="Shape 17"/>
          <p:cNvSpPr/>
          <p:nvPr/>
        </p:nvSpPr>
        <p:spPr>
          <a:xfrm>
            <a:off x="7196145" y="1956816"/>
            <a:ext cx="201168" cy="201168"/>
          </a:xfrm>
          <a:prstGeom prst="ellipse">
            <a:avLst/>
          </a:prstGeom>
          <a:solidFill>
            <a:srgbClr val="111A2B"/>
          </a:solidFill>
          <a:ln w="19050">
            <a:solidFill>
              <a:srgbClr val="111A2B"/>
            </a:solidFill>
            <a:prstDash val="solid"/>
          </a:ln>
        </p:spPr>
      </p:sp>
      <p:sp>
        <p:nvSpPr>
          <p:cNvPr id="20" name="Text 18"/>
          <p:cNvSpPr txBox="1"/>
          <p:nvPr/>
        </p:nvSpPr>
        <p:spPr>
          <a:xfrm>
            <a:off x="7205289" y="2377440"/>
            <a:ext cx="1990283" cy="27432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H+32–44</a:t>
            </a:r>
            <a:endParaRPr lang="en-US" sz="1400" dirty="0"/>
          </a:p>
        </p:txBody>
      </p:sp>
      <p:sp>
        <p:nvSpPr>
          <p:cNvPr id="21" name="Text 19"/>
          <p:cNvSpPr txBox="1"/>
          <p:nvPr/>
        </p:nvSpPr>
        <p:spPr>
          <a:xfrm>
            <a:off x="7205289" y="2697480"/>
            <a:ext cx="2036003" cy="365760"/>
          </a:xfrm>
          <a:prstGeom prst="rect">
            <a:avLst/>
          </a:prstGeom>
          <a:noFill/>
          <a:ln/>
        </p:spPr>
        <p:txBody>
          <a:bodyPr wrap="square" lIns="0" tIns="0" rIns="0" bIns="0" rtlCol="0" anchor="ctr"/>
          <a:lstStyle/>
          <a:p>
            <a:pPr indent="0" marL="0">
              <a:buNone/>
            </a:pPr>
            <a:r>
              <a:rPr lang="en-US" sz="1700" b="1" dirty="0">
                <a:solidFill>
                  <a:srgbClr val="1B2433"/>
                </a:solidFill>
                <a:latin typeface="Cambria" pitchFamily="34" charset="0"/>
                <a:ea typeface="Cambria" pitchFamily="34" charset="-122"/>
                <a:cs typeface="Cambria" pitchFamily="34" charset="-120"/>
              </a:rPr>
              <a:t>End-to-end run</a:t>
            </a:r>
            <a:endParaRPr lang="en-US" sz="1700" dirty="0"/>
          </a:p>
        </p:txBody>
      </p:sp>
      <p:sp>
        <p:nvSpPr>
          <p:cNvPr id="22" name="Text 20"/>
          <p:cNvSpPr txBox="1"/>
          <p:nvPr/>
        </p:nvSpPr>
        <p:spPr>
          <a:xfrm>
            <a:off x="7205289" y="3154680"/>
            <a:ext cx="1944563" cy="10058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100 sessions through to agent review and release or report.</a:t>
            </a:r>
            <a:endParaRPr lang="en-US" sz="1400" dirty="0"/>
          </a:p>
        </p:txBody>
      </p:sp>
      <p:sp>
        <p:nvSpPr>
          <p:cNvPr id="23" name="Shape 21"/>
          <p:cNvSpPr/>
          <p:nvPr/>
        </p:nvSpPr>
        <p:spPr>
          <a:xfrm>
            <a:off x="9415028" y="1956816"/>
            <a:ext cx="201168" cy="201168"/>
          </a:xfrm>
          <a:prstGeom prst="ellipse">
            <a:avLst/>
          </a:prstGeom>
          <a:solidFill>
            <a:srgbClr val="D9480F"/>
          </a:solidFill>
          <a:ln w="19050">
            <a:solidFill>
              <a:srgbClr val="D9480F"/>
            </a:solidFill>
            <a:prstDash val="solid"/>
          </a:ln>
        </p:spPr>
      </p:sp>
      <p:sp>
        <p:nvSpPr>
          <p:cNvPr id="24" name="Text 22"/>
          <p:cNvSpPr txBox="1"/>
          <p:nvPr/>
        </p:nvSpPr>
        <p:spPr>
          <a:xfrm>
            <a:off x="9424172" y="2377440"/>
            <a:ext cx="1990283" cy="274320"/>
          </a:xfrm>
          <a:prstGeom prst="rect">
            <a:avLst/>
          </a:prstGeom>
          <a:noFill/>
          <a:ln/>
        </p:spPr>
        <p:txBody>
          <a:bodyPr wrap="square" lIns="0" tIns="0" rIns="0" bIns="0" rtlCol="0" anchor="ctr"/>
          <a:lstStyle/>
          <a:p>
            <a:pPr indent="0" marL="0">
              <a:buNone/>
            </a:pPr>
            <a:r>
              <a:rPr lang="en-US" sz="1400" b="1" dirty="0">
                <a:solidFill>
                  <a:srgbClr val="D9480F"/>
                </a:solidFill>
                <a:latin typeface="Calibri" pitchFamily="34" charset="0"/>
                <a:ea typeface="Calibri" pitchFamily="34" charset="-122"/>
                <a:cs typeface="Calibri" pitchFamily="34" charset="-120"/>
              </a:rPr>
              <a:t>H+44–48</a:t>
            </a:r>
            <a:endParaRPr lang="en-US" sz="1400" dirty="0"/>
          </a:p>
        </p:txBody>
      </p:sp>
      <p:sp>
        <p:nvSpPr>
          <p:cNvPr id="25" name="Text 23"/>
          <p:cNvSpPr txBox="1"/>
          <p:nvPr/>
        </p:nvSpPr>
        <p:spPr>
          <a:xfrm>
            <a:off x="9424172" y="2697480"/>
            <a:ext cx="2036003" cy="365760"/>
          </a:xfrm>
          <a:prstGeom prst="rect">
            <a:avLst/>
          </a:prstGeom>
          <a:noFill/>
          <a:ln/>
        </p:spPr>
        <p:txBody>
          <a:bodyPr wrap="square" lIns="0" tIns="0" rIns="0" bIns="0" rtlCol="0" anchor="ctr"/>
          <a:lstStyle/>
          <a:p>
            <a:pPr indent="0" marL="0">
              <a:buNone/>
            </a:pPr>
            <a:r>
              <a:rPr lang="en-US" sz="1700" b="1" dirty="0">
                <a:solidFill>
                  <a:srgbClr val="1B2433"/>
                </a:solidFill>
                <a:latin typeface="Cambria" pitchFamily="34" charset="0"/>
                <a:ea typeface="Cambria" pitchFamily="34" charset="-122"/>
                <a:cs typeface="Cambria" pitchFamily="34" charset="-120"/>
              </a:rPr>
              <a:t>Security review</a:t>
            </a:r>
            <a:endParaRPr lang="en-US" sz="1700" dirty="0"/>
          </a:p>
        </p:txBody>
      </p:sp>
      <p:sp>
        <p:nvSpPr>
          <p:cNvPr id="26" name="Text 24"/>
          <p:cNvSpPr txBox="1"/>
          <p:nvPr/>
        </p:nvSpPr>
        <p:spPr>
          <a:xfrm>
            <a:off x="9424172" y="3154680"/>
            <a:ext cx="1944563" cy="100584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Walk through records, replay checks, two-person release, known limits.</a:t>
            </a:r>
            <a:endParaRPr lang="en-US" sz="1400" dirty="0"/>
          </a:p>
        </p:txBody>
      </p:sp>
      <p:sp>
        <p:nvSpPr>
          <p:cNvPr id="27" name="Shape 25"/>
          <p:cNvSpPr/>
          <p:nvPr/>
        </p:nvSpPr>
        <p:spPr>
          <a:xfrm>
            <a:off x="548640" y="4297680"/>
            <a:ext cx="5364328" cy="1600200"/>
          </a:xfrm>
          <a:prstGeom prst="rect">
            <a:avLst/>
          </a:prstGeom>
          <a:solidFill>
            <a:srgbClr val="F3F4F6"/>
          </a:solidFill>
          <a:ln w="12700">
            <a:solidFill>
              <a:srgbClr val="F3F4F6"/>
            </a:solidFill>
            <a:prstDash val="solid"/>
          </a:ln>
        </p:spPr>
      </p:sp>
      <p:sp>
        <p:nvSpPr>
          <p:cNvPr id="28" name="Text 26"/>
          <p:cNvSpPr txBox="1"/>
          <p:nvPr/>
        </p:nvSpPr>
        <p:spPr>
          <a:xfrm>
            <a:off x="822960" y="4480560"/>
            <a:ext cx="4815688"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Built so far</a:t>
            </a:r>
            <a:endParaRPr lang="en-US" sz="1500" dirty="0"/>
          </a:p>
        </p:txBody>
      </p:sp>
      <p:sp>
        <p:nvSpPr>
          <p:cNvPr id="29" name="Text 27"/>
          <p:cNvSpPr txBox="1"/>
          <p:nvPr/>
        </p:nvSpPr>
        <p:spPr>
          <a:xfrm>
            <a:off x="822960" y="4846320"/>
            <a:ext cx="4815688" cy="91440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Scoring server · threshold setting · signed records with replay checks · synthetic data generator and evaluation · 8 automated tests</a:t>
            </a:r>
            <a:endParaRPr lang="en-US" sz="1400" dirty="0"/>
          </a:p>
        </p:txBody>
      </p:sp>
      <p:sp>
        <p:nvSpPr>
          <p:cNvPr id="30" name="Shape 28"/>
          <p:cNvSpPr/>
          <p:nvPr/>
        </p:nvSpPr>
        <p:spPr>
          <a:xfrm>
            <a:off x="6278728" y="4297680"/>
            <a:ext cx="5364328" cy="1600200"/>
          </a:xfrm>
          <a:prstGeom prst="rect">
            <a:avLst/>
          </a:prstGeom>
          <a:solidFill>
            <a:srgbClr val="FFFFFF"/>
          </a:solidFill>
          <a:ln w="12700">
            <a:solidFill>
              <a:srgbClr val="6E747E"/>
            </a:solidFill>
            <a:prstDash val="sysDot"/>
          </a:ln>
        </p:spPr>
      </p:sp>
      <p:sp>
        <p:nvSpPr>
          <p:cNvPr id="31" name="Text 29"/>
          <p:cNvSpPr txBox="1"/>
          <p:nvPr/>
        </p:nvSpPr>
        <p:spPr>
          <a:xfrm>
            <a:off x="6553048" y="4480560"/>
            <a:ext cx="4815688" cy="274320"/>
          </a:xfrm>
          <a:prstGeom prst="rect">
            <a:avLst/>
          </a:prstGeom>
          <a:noFill/>
          <a:ln/>
        </p:spPr>
        <p:txBody>
          <a:bodyPr wrap="square" lIns="0" tIns="0" rIns="0" bIns="0" rtlCol="0" anchor="ctr"/>
          <a:lstStyle/>
          <a:p>
            <a:pPr indent="0" marL="0">
              <a:buNone/>
            </a:pPr>
            <a:r>
              <a:rPr lang="en-US" sz="1500" b="1" dirty="0">
                <a:solidFill>
                  <a:srgbClr val="1B2433"/>
                </a:solidFill>
                <a:latin typeface="Calibri" pitchFamily="34" charset="0"/>
                <a:ea typeface="Calibri" pitchFamily="34" charset="-122"/>
                <a:cs typeface="Calibri" pitchFamily="34" charset="-120"/>
              </a:rPr>
              <a:t>Not built yet</a:t>
            </a:r>
            <a:endParaRPr lang="en-US" sz="1500" dirty="0"/>
          </a:p>
        </p:txBody>
      </p:sp>
      <p:sp>
        <p:nvSpPr>
          <p:cNvPr id="32" name="Text 30"/>
          <p:cNvSpPr txBox="1"/>
          <p:nvPr/>
        </p:nvSpPr>
        <p:spPr>
          <a:xfrm>
            <a:off x="6553048" y="4846320"/>
            <a:ext cx="4815688" cy="914400"/>
          </a:xfrm>
          <a:prstGeom prst="rect">
            <a:avLst/>
          </a:prstGeom>
          <a:noFill/>
          <a:ln/>
        </p:spPr>
        <p:txBody>
          <a:bodyPr wrap="square" lIns="0" tIns="0" rIns="0" bIns="0" rtlCol="0" anchor="t"/>
          <a:lstStyle/>
          <a:p>
            <a:pPr indent="0" marL="0">
              <a:spcAft>
                <a:spcPts val="400"/>
              </a:spcAft>
              <a:buNone/>
            </a:pPr>
            <a:r>
              <a:rPr lang="en-US" sz="1400" dirty="0">
                <a:solidFill>
                  <a:srgbClr val="3A4353"/>
                </a:solidFill>
                <a:latin typeface="Calibri" pitchFamily="34" charset="0"/>
                <a:ea typeface="Calibri" pitchFamily="34" charset="-122"/>
                <a:cs typeface="Calibri" pitchFamily="34" charset="-120"/>
              </a:rPr>
              <a:t>Android SDK · collect-request rule · payment hold · agent screen · testing on real bank data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A2B"/>
        </a:solidFill>
      </p:bgPr>
    </p:bg>
    <p:spTree>
      <p:nvGrpSpPr>
        <p:cNvPr id="1" name=""/>
        <p:cNvGrpSpPr/>
        <p:nvPr/>
      </p:nvGrpSpPr>
      <p:grpSpPr>
        <a:xfrm>
          <a:off x="0" y="0"/>
          <a:ext cx="0" cy="0"/>
          <a:chOff x="0" y="0"/>
          <a:chExt cx="0" cy="0"/>
        </a:xfrm>
      </p:grpSpPr>
      <p:sp>
        <p:nvSpPr>
          <p:cNvPr id="2" name="Text 0"/>
          <p:cNvSpPr txBox="1"/>
          <p:nvPr/>
        </p:nvSpPr>
        <p:spPr>
          <a:xfrm>
            <a:off x="640080" y="822960"/>
            <a:ext cx="7315200" cy="822960"/>
          </a:xfrm>
          <a:prstGeom prst="rect">
            <a:avLst/>
          </a:prstGeom>
          <a:noFill/>
          <a:ln/>
        </p:spPr>
        <p:txBody>
          <a:bodyPr wrap="square" lIns="0" tIns="0" rIns="0" bIns="0" rtlCol="0" anchor="ctr"/>
          <a:lstStyle/>
          <a:p>
            <a:pPr indent="0" marL="0">
              <a:buNone/>
            </a:pPr>
            <a:r>
              <a:rPr lang="en-US" sz="4000" b="1" dirty="0">
                <a:solidFill>
                  <a:srgbClr val="8E97A6"/>
                </a:solidFill>
                <a:latin typeface="Cambria" pitchFamily="34" charset="0"/>
                <a:ea typeface="Cambria" pitchFamily="34" charset="-122"/>
                <a:cs typeface="Cambria" pitchFamily="34" charset="-120"/>
              </a:rPr>
              <a:t>Chakravyuh</a:t>
            </a:r>
            <a:endParaRPr lang="en-US" sz="4000" dirty="0"/>
          </a:p>
        </p:txBody>
      </p:sp>
      <p:sp>
        <p:nvSpPr>
          <p:cNvPr id="3" name="Text 1"/>
          <p:cNvSpPr txBox="1"/>
          <p:nvPr/>
        </p:nvSpPr>
        <p:spPr>
          <a:xfrm>
            <a:off x="640080" y="2103120"/>
            <a:ext cx="10515600" cy="1737360"/>
          </a:xfrm>
          <a:prstGeom prst="rect">
            <a:avLst/>
          </a:prstGeom>
          <a:noFill/>
          <a:ln/>
        </p:spPr>
        <p:txBody>
          <a:bodyPr wrap="square" lIns="0" tIns="0" rIns="0" bIns="0" rtlCol="0" anchor="t"/>
          <a:lstStyle/>
          <a:p>
            <a:pPr indent="0" marL="0">
              <a:buNone/>
            </a:pPr>
            <a:r>
              <a:rPr lang="en-US" sz="4000" b="1" dirty="0">
                <a:solidFill>
                  <a:srgbClr val="ECE8E0"/>
                </a:solidFill>
                <a:latin typeface="Cambria" pitchFamily="34" charset="0"/>
                <a:ea typeface="Cambria" pitchFamily="34" charset="-122"/>
                <a:cs typeface="Cambria" pitchFamily="34" charset="-120"/>
              </a:rPr>
              <a:t>A scam is a sequence.</a:t>
            </a:r>
            <a:endParaRPr lang="en-US" sz="4000" dirty="0"/>
          </a:p>
          <a:p>
            <a:pPr indent="0" marL="0">
              <a:buNone/>
            </a:pPr>
            <a:r>
              <a:rPr lang="en-US" sz="4000" b="1" dirty="0">
                <a:solidFill>
                  <a:srgbClr val="ECE8E0"/>
                </a:solidFill>
                <a:latin typeface="Cambria" pitchFamily="34" charset="0"/>
                <a:ea typeface="Cambria" pitchFamily="34" charset="-122"/>
                <a:cs typeface="Cambria" pitchFamily="34" charset="-120"/>
              </a:rPr>
              <a:t>We wait for the sequence before we stop a payment.</a:t>
            </a:r>
            <a:endParaRPr lang="en-US" sz="4000" dirty="0"/>
          </a:p>
        </p:txBody>
      </p:sp>
      <p:sp>
        <p:nvSpPr>
          <p:cNvPr id="4" name="Text 2"/>
          <p:cNvSpPr txBox="1"/>
          <p:nvPr/>
        </p:nvSpPr>
        <p:spPr>
          <a:xfrm>
            <a:off x="640080" y="4069080"/>
            <a:ext cx="9601200" cy="731520"/>
          </a:xfrm>
          <a:prstGeom prst="rect">
            <a:avLst/>
          </a:prstGeom>
          <a:noFill/>
          <a:ln/>
        </p:spPr>
        <p:txBody>
          <a:bodyPr wrap="square" lIns="0" tIns="0" rIns="0" bIns="0" rtlCol="0" anchor="t"/>
          <a:lstStyle/>
          <a:p>
            <a:pPr indent="0" marL="0">
              <a:spcAft>
                <a:spcPts val="400"/>
              </a:spcAft>
              <a:buNone/>
            </a:pPr>
            <a:r>
              <a:rPr lang="en-US" sz="1700" dirty="0">
                <a:solidFill>
                  <a:srgbClr val="8E97A6"/>
                </a:solidFill>
                <a:latin typeface="Calibri" pitchFamily="34" charset="0"/>
                <a:ea typeface="Calibri" pitchFamily="34" charset="-122"/>
                <a:cs typeface="Calibri" pitchFamily="34" charset="-120"/>
              </a:rPr>
              <a:t>On synthetic data: 92.3% of scams caught, 2.77 genuine payments interrupted per 1,000, and, by design, no payment stopped on the evidence of one stage alone.</a:t>
            </a:r>
            <a:endParaRPr lang="en-US" sz="1700" dirty="0"/>
          </a:p>
        </p:txBody>
      </p:sp>
      <p:sp>
        <p:nvSpPr>
          <p:cNvPr id="5" name="Shape 3"/>
          <p:cNvSpPr/>
          <p:nvPr/>
        </p:nvSpPr>
        <p:spPr>
          <a:xfrm>
            <a:off x="640080" y="5029200"/>
            <a:ext cx="10911535" cy="0"/>
          </a:xfrm>
          <a:prstGeom prst="line">
            <a:avLst/>
          </a:prstGeom>
          <a:noFill/>
          <a:ln w="9525">
            <a:solidFill>
              <a:srgbClr val="2C3850"/>
            </a:solidFill>
            <a:prstDash val="solid"/>
          </a:ln>
        </p:spPr>
      </p:sp>
      <p:sp>
        <p:nvSpPr>
          <p:cNvPr id="6" name="Text 4"/>
          <p:cNvSpPr txBox="1"/>
          <p:nvPr/>
        </p:nvSpPr>
        <p:spPr>
          <a:xfrm>
            <a:off x="640080" y="5257800"/>
            <a:ext cx="6400800" cy="457200"/>
          </a:xfrm>
          <a:prstGeom prst="rect">
            <a:avLst/>
          </a:prstGeom>
          <a:noFill/>
          <a:ln/>
        </p:spPr>
        <p:txBody>
          <a:bodyPr wrap="square" lIns="0" tIns="0" rIns="0" bIns="0" rtlCol="0" anchor="ctr"/>
          <a:lstStyle/>
          <a:p>
            <a:pPr indent="0" marL="0">
              <a:buNone/>
            </a:pPr>
            <a:r>
              <a:rPr lang="en-US" sz="2400" dirty="0">
                <a:solidFill>
                  <a:srgbClr val="ECE8E0"/>
                </a:solidFill>
                <a:latin typeface="Cambria" pitchFamily="34" charset="0"/>
                <a:ea typeface="Cambria" pitchFamily="34" charset="-122"/>
                <a:cs typeface="Cambria" pitchFamily="34" charset="-120"/>
              </a:rPr>
              <a:t>Thank you. Questions welcome.</a:t>
            </a:r>
            <a:endParaRPr lang="en-US" sz="2400" dirty="0"/>
          </a:p>
        </p:txBody>
      </p:sp>
      <p:sp>
        <p:nvSpPr>
          <p:cNvPr id="7" name="Text 5"/>
          <p:cNvSpPr txBox="1"/>
          <p:nvPr/>
        </p:nvSpPr>
        <p:spPr>
          <a:xfrm>
            <a:off x="640080" y="5806440"/>
            <a:ext cx="6400800" cy="320040"/>
          </a:xfrm>
          <a:prstGeom prst="rect">
            <a:avLst/>
          </a:prstGeom>
          <a:noFill/>
          <a:ln/>
        </p:spPr>
        <p:txBody>
          <a:bodyPr wrap="square" lIns="0" tIns="0" rIns="0" bIns="0" rtlCol="0" anchor="ctr"/>
          <a:lstStyle/>
          <a:p>
            <a:pPr indent="0" marL="0">
              <a:buNone/>
            </a:pPr>
            <a:r>
              <a:rPr lang="en-US" sz="1400" dirty="0">
                <a:solidFill>
                  <a:srgbClr val="8E97A6"/>
                </a:solidFill>
                <a:latin typeface="Calibri" pitchFamily="34" charset="0"/>
                <a:ea typeface="Calibri" pitchFamily="34" charset="-122"/>
                <a:cs typeface="Calibri" pitchFamily="34" charset="-120"/>
              </a:rPr>
              <a:t>Mathews V Manoj  ·  24ec357@mgits.ac.in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15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2800" b="1" dirty="0">
                <a:solidFill>
                  <a:srgbClr val="1B2433"/>
                </a:solidFill>
                <a:latin typeface="Cambria" pitchFamily="34" charset="0"/>
                <a:ea typeface="Cambria" pitchFamily="34" charset="-122"/>
                <a:cs typeface="Cambria" pitchFamily="34" charset="-120"/>
              </a:rPr>
              <a:t>All 20 signals and their weights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486400" cy="914400"/>
        </p:xfrm>
        <a:graphic>
          <a:graphicData uri="http://schemas.openxmlformats.org/drawingml/2006/table">
            <a:tbl>
              <a:tblPr/>
              <a:tblGrid>
                <a:gridCol w="1783080"/>
                <a:gridCol w="685800"/>
                <a:gridCol w="822960"/>
                <a:gridCol w="502920"/>
                <a:gridCol w="1691640"/>
              </a:tblGrid>
              <a:tr h="393192">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Signal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Stage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call_unknown_active</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contact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+1.13</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On a call with a number not in contacts</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call_long</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contact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+1.52</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Call longer than 20 minutes</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video_call</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contact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+0.55</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Video/VoIP call active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sms_scam_flag</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contact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Scam-lure SMS in the last 24 h</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bait_credit_7d</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contact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Small ‘profit’ credits from strangers, last 7 days</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remote_access</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+1.47</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Screen-sharing app running</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sideload_24h</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+2.32</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App installed outside Play Store, last 24 h</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accessibility_overlay</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+1.34</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App can read and draw over the screen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otp_read_in_call</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control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+1.31</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OTP opened during the unknown call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first_time_payee</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+2.73</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Never paid this account before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172200" y="1325880"/>
          <a:ext cx="5486400" cy="914400"/>
        </p:xfrm>
        <a:graphic>
          <a:graphicData uri="http://schemas.openxmlformats.org/drawingml/2006/table">
            <a:tbl>
              <a:tblPr/>
              <a:tblGrid>
                <a:gridCol w="1783080"/>
                <a:gridCol w="685800"/>
                <a:gridCol w="822960"/>
                <a:gridCol w="502920"/>
                <a:gridCol w="1691640"/>
              </a:tblGrid>
              <a:tr h="393192">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Signal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Stage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Source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b="1" dirty="0">
                          <a:solidFill>
                            <a:srgbClr val="3A4353"/>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amount_high</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+1.71</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Amount far above usual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amount_very_high</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+0.51</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Top 0.1% of the customer’s history</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balance_drain</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+2.41</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More than 70% of the balance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staircase</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Several new-payee payments in 60 min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fd_broken_24h</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bank</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+1.93</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Fixed deposit broken or loan taken, last 24 h</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vpa_typed</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phone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+2.08</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Payee typed instead of scanned or picked</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collect_from_p2p</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extraction</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receiving acct.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+4.66</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Collect request from an individual</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payee_mule_high</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cash-out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receiving acct.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+5.74</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Account behaves like a mule</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payee_new_account</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cash-out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receiving acct.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Account less than 30 days old</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r h="393192">
                <a:tc>
                  <a:txBody>
                    <a:bodyPr/>
                    <a:lstStyle/>
                    <a:p>
                      <a:pPr indent="0" marL="0">
                        <a:buNone/>
                      </a:pPr>
                      <a:r>
                        <a:rPr lang="en-US" sz="950" dirty="0">
                          <a:solidFill>
                            <a:srgbClr val="1B2433"/>
                          </a:solidFill>
                          <a:latin typeface="Courier New" pitchFamily="34" charset="0"/>
                          <a:ea typeface="Courier New" pitchFamily="34" charset="-122"/>
                          <a:cs typeface="Courier New" pitchFamily="34" charset="-120"/>
                        </a:rPr>
                        <a:t>payee_registry_hit</a:t>
                      </a:r>
                      <a:endParaRPr lang="en-US" sz="950" dirty="0">
                        <a:latin typeface="Courier New" charset="0"/>
                        <a:ea typeface="Courier New" charset="0"/>
                        <a:cs typeface="Courier New"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cash-out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receiving acct.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algn="r" indent="0" marL="0">
                        <a:buNone/>
                      </a:pPr>
                      <a:r>
                        <a:rPr lang="en-US" sz="1000" dirty="0">
                          <a:solidFill>
                            <a:srgbClr val="3A4353"/>
                          </a:solidFill>
                          <a:latin typeface="Calibri" pitchFamily="34" charset="0"/>
                          <a:ea typeface="Calibri" pitchFamily="34" charset="-122"/>
                          <a:cs typeface="Calibri" pitchFamily="34" charset="-120"/>
                        </a:rPr>
                        <a:t>+3.43</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c>
                  <a:txBody>
                    <a:bodyPr/>
                    <a:lstStyle/>
                    <a:p>
                      <a:pPr indent="0" marL="0">
                        <a:buNone/>
                      </a:pPr>
                      <a:r>
                        <a:rPr lang="en-US" sz="1000" dirty="0">
                          <a:solidFill>
                            <a:srgbClr val="3A4353"/>
                          </a:solidFill>
                          <a:latin typeface="Calibri" pitchFamily="34" charset="0"/>
                          <a:ea typeface="Calibri" pitchFamily="34" charset="-122"/>
                          <a:cs typeface="Calibri" pitchFamily="34" charset="-120"/>
                        </a:rPr>
                        <a:t>Account on a suspect list</a:t>
                      </a:r>
                      <a:endParaRPr lang="en-US" sz="1000" dirty="0">
                        <a:latin typeface="Calibri" charset="0"/>
                        <a:ea typeface="Calibri" charset="0"/>
                        <a:cs typeface="Calibri" charset="0"/>
                      </a:endParaRPr>
                    </a:p>
                  </a:txBody>
                  <a:tcPr marL="0" marR="54864" marT="18288" marB="18288" anchor="ctr">
                    <a:lnL w="0" cap="flat" cmpd="sng" algn="ctr">
                      <a:noFill/>
                    </a:lnL>
                    <a:lnR w="0" cap="flat" cmpd="sng" algn="ctr">
                      <a:noFill/>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tcPr>
                </a:tc>
              </a:tr>
            </a:tbl>
          </a:graphicData>
        </a:graphic>
      </p:graphicFrame>
      <p:sp>
        <p:nvSpPr>
          <p:cNvPr id="8" name="Text 4"/>
          <p:cNvSpPr txBox="1"/>
          <p:nvPr/>
        </p:nvSpPr>
        <p:spPr>
          <a:xfrm>
            <a:off x="548640" y="5806440"/>
            <a:ext cx="10972800" cy="502920"/>
          </a:xfrm>
          <a:prstGeom prst="rect">
            <a:avLst/>
          </a:prstGeom>
          <a:noFill/>
          <a:ln/>
        </p:spPr>
        <p:txBody>
          <a:bodyPr wrap="square" lIns="0" tIns="0" rIns="0" bIns="0" rtlCol="0" anchor="t"/>
          <a:lstStyle/>
          <a:p>
            <a:pPr indent="0" marL="0">
              <a:spcAft>
                <a:spcPts val="400"/>
              </a:spcAft>
              <a:buNone/>
            </a:pPr>
            <a:r>
              <a:rPr lang="en-US" sz="1100" dirty="0">
                <a:solidFill>
                  <a:srgbClr val="6E747E"/>
                </a:solidFill>
                <a:latin typeface="Calibri" pitchFamily="34" charset="0"/>
                <a:ea typeface="Calibri" pitchFamily="34" charset="-122"/>
                <a:cs typeface="Calibri" pitchFamily="34" charset="-120"/>
              </a:rPr>
              <a:t>Weights from logistic regression (L2, C = 0.3) on synthetic dataset 7, kept at zero or above. Stage caps 5 / 5 / 6 / 6; a stage is active at 1.5 or more. Full methods, confidence intervals and assumptions are in the written submission PDF.</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5486400" cy="274320"/>
          </a:xfrm>
          <a:prstGeom prst="rect">
            <a:avLst/>
          </a:prstGeom>
          <a:noFill/>
          <a:ln/>
        </p:spPr>
        <p:txBody>
          <a:bodyPr wrap="square" lIns="0" tIns="0" rIns="0" bIns="0" rtlCol="0" anchor="ctr"/>
          <a:lstStyle/>
          <a:p>
            <a:pPr indent="0" marL="0">
              <a:buNone/>
            </a:pPr>
            <a:r>
              <a:rPr lang="en-US" sz="1100" dirty="0">
                <a:solidFill>
                  <a:srgbClr val="6E747E"/>
                </a:solidFill>
                <a:latin typeface="Calibri" pitchFamily="34" charset="0"/>
                <a:ea typeface="Calibri" pitchFamily="34" charset="-122"/>
                <a:cs typeface="Calibri" pitchFamily="34" charset="-120"/>
              </a:rPr>
              <a:t>Appendix</a:t>
            </a:r>
            <a:endParaRPr lang="en-US" sz="1100" dirty="0"/>
          </a:p>
        </p:txBody>
      </p:sp>
      <p:sp>
        <p:nvSpPr>
          <p:cNvPr id="3" name="Text 1"/>
          <p:cNvSpPr txBox="1"/>
          <p:nvPr/>
        </p:nvSpPr>
        <p:spPr>
          <a:xfrm>
            <a:off x="8899855" y="256032"/>
            <a:ext cx="2743200" cy="274320"/>
          </a:xfrm>
          <a:prstGeom prst="rect">
            <a:avLst/>
          </a:prstGeom>
          <a:noFill/>
          <a:ln/>
        </p:spPr>
        <p:txBody>
          <a:bodyPr wrap="square" lIns="0" tIns="0" rIns="0" bIns="0" rtlCol="0" anchor="ctr"/>
          <a:lstStyle/>
          <a:p>
            <a:pPr algn="r" indent="0" marL="0">
              <a:buNone/>
            </a:pPr>
            <a:r>
              <a:rPr lang="en-US" sz="1100" dirty="0">
                <a:solidFill>
                  <a:srgbClr val="6E747E"/>
                </a:solidFill>
                <a:latin typeface="Calibri" pitchFamily="34" charset="0"/>
                <a:ea typeface="Calibri" pitchFamily="34" charset="-122"/>
                <a:cs typeface="Calibri" pitchFamily="34" charset="-120"/>
              </a:rPr>
              <a:t>Chakravyuh</a:t>
            </a:r>
            <a:endParaRPr lang="en-US" sz="1100" dirty="0"/>
          </a:p>
        </p:txBody>
      </p:sp>
      <p:sp>
        <p:nvSpPr>
          <p:cNvPr id="4" name="Text 2"/>
          <p:cNvSpPr txBox="1"/>
          <p:nvPr/>
        </p:nvSpPr>
        <p:spPr>
          <a:xfrm>
            <a:off x="9814255" y="6446520"/>
            <a:ext cx="1828800" cy="228600"/>
          </a:xfrm>
          <a:prstGeom prst="rect">
            <a:avLst/>
          </a:prstGeom>
          <a:noFill/>
          <a:ln/>
        </p:spPr>
        <p:txBody>
          <a:bodyPr wrap="square" lIns="0" tIns="0" rIns="0" bIns="0" rtlCol="0" anchor="ctr"/>
          <a:lstStyle/>
          <a:p>
            <a:pPr algn="r" indent="0" marL="0">
              <a:buNone/>
            </a:pPr>
            <a:r>
              <a:rPr lang="en-US" sz="1000" dirty="0">
                <a:solidFill>
                  <a:srgbClr val="6E747E"/>
                </a:solidFill>
                <a:latin typeface="Calibri" pitchFamily="34" charset="0"/>
                <a:ea typeface="Calibri" pitchFamily="34" charset="-122"/>
                <a:cs typeface="Calibri" pitchFamily="34" charset="-120"/>
              </a:rPr>
              <a:t>16 / 16</a:t>
            </a:r>
            <a:endParaRPr lang="en-US" sz="1000" dirty="0"/>
          </a:p>
        </p:txBody>
      </p:sp>
      <p:sp>
        <p:nvSpPr>
          <p:cNvPr id="5" name="Text 3"/>
          <p:cNvSpPr txBox="1"/>
          <p:nvPr/>
        </p:nvSpPr>
        <p:spPr>
          <a:xfrm>
            <a:off x="548640" y="640080"/>
            <a:ext cx="11094415" cy="731520"/>
          </a:xfrm>
          <a:prstGeom prst="rect">
            <a:avLst/>
          </a:prstGeom>
          <a:noFill/>
          <a:ln/>
        </p:spPr>
        <p:txBody>
          <a:bodyPr wrap="square" lIns="0" tIns="0" rIns="0" bIns="0" rtlCol="0" anchor="t"/>
          <a:lstStyle/>
          <a:p>
            <a:pPr indent="0" marL="0">
              <a:buNone/>
            </a:pPr>
            <a:r>
              <a:rPr lang="en-US" sz="2800" b="1" dirty="0">
                <a:solidFill>
                  <a:srgbClr val="1B2433"/>
                </a:solidFill>
                <a:latin typeface="Cambria" pitchFamily="34" charset="0"/>
                <a:ea typeface="Cambria" pitchFamily="34" charset="-122"/>
                <a:cs typeface="Cambria" pitchFamily="34" charset="-120"/>
              </a:rPr>
              <a:t>Security checks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8686800" cy="914400"/>
        </p:xfrm>
        <a:graphic>
          <a:graphicData uri="http://schemas.openxmlformats.org/drawingml/2006/table">
            <a:tbl>
              <a:tblPr/>
              <a:tblGrid>
                <a:gridCol w="2743200"/>
                <a:gridCol w="4572000"/>
                <a:gridCol w="1371600"/>
              </a:tblGrid>
              <a:tr h="502920">
                <a:tc>
                  <a:txBody>
                    <a:bodyPr/>
                    <a:lstStyle/>
                    <a:p>
                      <a:pPr indent="0" marL="0">
                        <a:buNone/>
                      </a:pPr>
                      <a:r>
                        <a:rPr lang="en-US" sz="1500" b="1" dirty="0">
                          <a:solidFill>
                            <a:srgbClr val="3A4353"/>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3A4353"/>
                          </a:solidFill>
                          <a:latin typeface="Calibri" pitchFamily="34" charset="0"/>
                          <a:ea typeface="Calibri" pitchFamily="34" charset="-122"/>
                          <a:cs typeface="Calibri" pitchFamily="34" charset="-120"/>
                        </a:rPr>
                        <a:t>What we do</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b="1" dirty="0">
                          <a:solidFill>
                            <a:srgbClr val="3A4353"/>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Old or repeated requests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One-time nonce and a 15-second limit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built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Extra or fake fields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Only the 20 known signals are accepted</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built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Edited decision records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Each record signed with HMAC-SHA256</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built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Fake or modified app</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Play Integrity token tied to a hash of the request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6E747E"/>
                          </a:solidFill>
                          <a:latin typeface="Calibri" pitchFamily="34" charset="0"/>
                          <a:ea typeface="Calibri" pitchFamily="34" charset="-122"/>
                          <a:cs typeface="Calibri" pitchFamily="34" charset="-120"/>
                        </a:rPr>
                        <a:t>planned</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Staff misuse</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Two approvers, both written into the record</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6E747E"/>
                          </a:solidFill>
                          <a:latin typeface="Calibri" pitchFamily="34" charset="0"/>
                          <a:ea typeface="Calibri" pitchFamily="34" charset="-122"/>
                          <a:cs typeface="Calibri" pitchFamily="34" charset="-120"/>
                        </a:rPr>
                        <a:t>planned</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Record store leak</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No raw content in records; identity stored apart</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6E747E"/>
                          </a:solidFill>
                          <a:latin typeface="Calibri" pitchFamily="34" charset="0"/>
                          <a:ea typeface="Calibri" pitchFamily="34" charset="-122"/>
                          <a:cs typeface="Calibri" pitchFamily="34" charset="-120"/>
                        </a:rPr>
                        <a:t>design only</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r h="502920">
                <a:tc>
                  <a:txBody>
                    <a:bodyPr/>
                    <a:lstStyle/>
                    <a:p>
                      <a:pPr indent="0" marL="0">
                        <a:buNone/>
                      </a:pPr>
                      <a:r>
                        <a:rPr lang="en-US" sz="1500" dirty="0">
                          <a:solidFill>
                            <a:srgbClr val="1B2433"/>
                          </a:solidFill>
                          <a:latin typeface="Calibri" pitchFamily="34" charset="0"/>
                          <a:ea typeface="Calibri" pitchFamily="34" charset="-122"/>
                          <a:cs typeface="Calibri" pitchFamily="34" charset="-120"/>
                        </a:rPr>
                        <a:t>Poisoned labels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dirty="0">
                          <a:solidFill>
                            <a:srgbClr val="3A4353"/>
                          </a:solidFill>
                          <a:latin typeface="Calibri" pitchFamily="34" charset="0"/>
                          <a:ea typeface="Calibri" pitchFamily="34" charset="-122"/>
                          <a:cs typeface="Calibri" pitchFamily="34" charset="-120"/>
                        </a:rPr>
                        <a:t>Retrain only on bank-confirmed cases</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c>
                  <a:txBody>
                    <a:bodyPr/>
                    <a:lstStyle/>
                    <a:p>
                      <a:pPr indent="0" marL="0">
                        <a:buNone/>
                      </a:pPr>
                      <a:r>
                        <a:rPr lang="en-US" sz="1500" i="1" dirty="0">
                          <a:solidFill>
                            <a:srgbClr val="6E747E"/>
                          </a:solidFill>
                          <a:latin typeface="Calibri" pitchFamily="34" charset="0"/>
                          <a:ea typeface="Calibri" pitchFamily="34" charset="-122"/>
                          <a:cs typeface="Calibri" pitchFamily="34" charset="-120"/>
                        </a:rPr>
                        <a:t>design only</a:t>
                      </a:r>
                      <a:endParaRPr lang="en-US" sz="1500" dirty="0">
                        <a:latin typeface="Calibri" charset="0"/>
                        <a:ea typeface="Calibri" charset="0"/>
                        <a:cs typeface="Calibri" charset="0"/>
                      </a:endParaRPr>
                    </a:p>
                  </a:txBody>
                  <a:tcPr marL="0" marR="73152" marT="36576" marB="36576" anchor="ctr">
                    <a:lnL w="0" cap="flat" cmpd="sng" algn="ctr">
                      <a:noFill/>
                    </a:lnL>
                    <a:lnR w="0" cap="flat" cmpd="sng" algn="ctr">
                      <a:noFill/>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tcPr>
                </a:tc>
              </a:tr>
            </a:tbl>
          </a:graphicData>
        </a:graphic>
      </p:graphicFrame>
      <p:sp>
        <p:nvSpPr>
          <p:cNvPr id="7" name="Text 4"/>
          <p:cNvSpPr txBox="1"/>
          <p:nvPr/>
        </p:nvSpPr>
        <p:spPr>
          <a:xfrm>
            <a:off x="548640" y="5532120"/>
            <a:ext cx="10058400" cy="457200"/>
          </a:xfrm>
          <a:prstGeom prst="rect">
            <a:avLst/>
          </a:prstGeom>
          <a:noFill/>
          <a:ln/>
        </p:spPr>
        <p:txBody>
          <a:bodyPr wrap="square" lIns="0" tIns="0" rIns="0" bIns="0" rtlCol="0" anchor="t"/>
          <a:lstStyle/>
          <a:p>
            <a:pPr indent="0" marL="0">
              <a:spcAft>
                <a:spcPts val="400"/>
              </a:spcAft>
              <a:buNone/>
            </a:pPr>
            <a:r>
              <a:rPr lang="en-US" sz="1300" dirty="0">
                <a:solidFill>
                  <a:srgbClr val="6E747E"/>
                </a:solidFill>
                <a:latin typeface="Calibri" pitchFamily="34" charset="0"/>
                <a:ea typeface="Calibri" pitchFamily="34" charset="-122"/>
                <a:cs typeface="Calibri" pitchFamily="34" charset="-120"/>
              </a:rPr>
              <a:t>The three built checks are covered by automated tests, including one that replays a request and checks it is rejected.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Chakravyuh — RAKSHAM Round 1</dc:title>
  <dc:subject>PptxGenJS Presentation</dc:subject>
  <dc:creator>Mathews V Manoj</dc:creator>
  <cp:lastModifiedBy>Mathews V Manoj</cp:lastModifiedBy>
  <cp:revision>1</cp:revision>
  <dcterms:created xsi:type="dcterms:W3CDTF">2026-09-29T13:38:37Z</dcterms:created>
  <dcterms:modified xsi:type="dcterms:W3CDTF">2026-09-29T13:38:37Z</dcterms:modified>
</cp:coreProperties>
</file>