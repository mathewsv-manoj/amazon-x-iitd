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3.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B2433"/>
                </a:solidFill>
                <a:latin typeface="Calibri"/>
              </a:defRPr>
            </a:pPr>
            <a:r>
              <a:rPr sz="1300" b="0" i="0" u="none" strike="noStrike">
                <a:solidFill>
                  <a:srgbClr val="1B2433"/>
                </a:solidFill>
                <a:latin typeface="Calibri"/>
              </a:rPr>
              <a:t>Scams caught (%)</a:t>
            </a:r>
          </a:p>
        </c:rich>
      </c:tx>
      <c:layout/>
      <c:overlay val="0"/>
    </c:title>
    <c:autoTitleDeleted val="0"/>
    <c:plotArea>
      <c:layout/>
      <c:barChart>
        <c:barDir val="bar"/>
        <c:grouping val="clustered"/>
        <c:varyColors val="0"/>
        <c:ser>
          <c:idx val="0"/>
          <c:order val="0"/>
          <c:tx>
            <c:strRef>
              <c:f>Sheet1!$B$1</c:f>
              <c:strCache>
                <c:ptCount val="1"/>
                <c:pt idx="0">
                  <c:v>Recall (%)</c:v>
                </c:pt>
              </c:strCache>
            </c:strRef>
          </c:tx>
          <c:spPr>
            <a:solidFill>
              <a:srgbClr val="D9480F"/>
            </a:solidFill>
            <a:effectLst/>
          </c:spPr>
          <c:invertIfNegative val="0"/>
          <c:dLbls>
            <c:numFmt formatCode="0.0" sourceLinked="0"/>
            <c:txPr>
              <a:bodyPr/>
              <a:lstStyle/>
              <a:p>
                <a:pPr>
                  <a:defRPr b="0" i="0" strike="noStrike" sz="1100" u="none">
                    <a:solidFill>
                      <a:srgbClr val="1B2433"/>
                    </a:solidFill>
                    <a:latin typeface="Calibri"/>
                  </a:defRPr>
                </a:pPr>
              </a:p>
            </c:txPr>
            <c:showLegendKey val="0"/>
            <c:showVal val="1"/>
            <c:showCatName val="0"/>
            <c:showSerName val="0"/>
            <c:showPercent val="0"/>
            <c:showBubbleSize val="0"/>
            <c:showLeaderLines val="0"/>
          </c:dLbls>
          <c:dPt>
            <c:idx val="0"/>
            <c:invertIfNegative val="0"/>
            <c:bubble3D val="0"/>
            <c:spPr>
              <a:solidFill>
                <a:srgbClr val="D9480F"/>
              </a:solidFill>
              <a:effectLst/>
            </c:spPr>
          </c:dPt>
          <c:dPt>
            <c:idx val="1"/>
            <c:invertIfNegative val="0"/>
            <c:bubble3D val="0"/>
            <c:spPr>
              <a:solidFill>
                <a:srgbClr val="B7BCC4"/>
              </a:solidFill>
              <a:effectLst/>
            </c:spPr>
          </c:dPt>
          <c:dPt>
            <c:idx val="2"/>
            <c:invertIfNegative val="0"/>
            <c:bubble3D val="0"/>
            <c:spPr>
              <a:solidFill>
                <a:srgbClr val="4A5568"/>
              </a:solidFill>
              <a:effectLst/>
            </c:spPr>
          </c:dPt>
          <c:dPt>
            <c:idx val="3"/>
            <c:invertIfNegative val="0"/>
            <c:bubble3D val="0"/>
            <c:spPr>
              <a:solidFill>
                <a:srgbClr val="4A5568"/>
              </a:solidFill>
              <a:effectLst/>
            </c:spPr>
          </c:dPt>
          <c:dPt>
            <c:idx val="4"/>
            <c:invertIfNegative val="0"/>
            <c:bubble3D val="0"/>
            <c:spPr>
              <a:solidFill>
                <a:srgbClr val="4A5568"/>
              </a:solidFill>
              <a:effectLst/>
            </c:spPr>
          </c:dPt>
          <c:dPt>
            <c:idx val="5"/>
            <c:invertIfNegative val="0"/>
            <c:bubble3D val="0"/>
            <c:spPr>
              <a:solidFill>
                <a:srgbClr val="4A5568"/>
              </a:solidFill>
              <a:effectLst/>
            </c:spPr>
          </c:dPt>
          <c:dPt>
            <c:idx val="6"/>
            <c:invertIfNegative val="0"/>
            <c:bubble3D val="0"/>
            <c:spPr>
              <a:solidFill>
                <a:srgbClr val="B7BCC4"/>
              </a:solidFill>
              <a:effectLst/>
            </c:spPr>
          </c:dPt>
          <c:cat>
            <c:multiLvlStrRef>
              <c:f>Sheet1!$A$2:$A$8</c:f>
              <c:multiLvlStrCache>
                <c:ptCount val="7"/>
                <c:lvl>
                  <c:pt idx="0">
                    <c:v>Chakravyuh</c:v>
                  </c:pt>
                  <c:pt idx="1">
                    <c:v>Without two-stage rule</c:v>
                  </c:pt>
                  <c:pt idx="2">
                    <c:v>Logistic regression</c:v>
                  </c:pt>
                  <c:pt idx="3">
                    <c:v>Gradient boosting</c:v>
                  </c:pt>
                  <c:pt idx="4">
                    <c:v>XGBoost</c:v>
                  </c:pt>
                  <c:pt idx="5">
                    <c:v>MLP</c:v>
                  </c:pt>
                  <c:pt idx="6">
                    <c:v>“New payee + high amount” rule</c:v>
                  </c:pt>
                </c:lvl>
              </c:multiLvlStrCache>
            </c:multiLvlStrRef>
          </c:cat>
          <c:val>
            <c:numRef>
              <c:f>Sheet1!$B$2:$B$8</c:f>
              <c:numCache>
                <c:formatCode>General</c:formatCode>
                <c:ptCount val="7"/>
                <c:pt idx="0">
                  <c:v>92.3</c:v>
                </c:pt>
                <c:pt idx="1">
                  <c:v>94.4</c:v>
                </c:pt>
                <c:pt idx="2">
                  <c:v>96.6</c:v>
                </c:pt>
                <c:pt idx="3">
                  <c:v>96.7</c:v>
                </c:pt>
                <c:pt idx="4">
                  <c:v>96.8</c:v>
                </c:pt>
                <c:pt idx="5">
                  <c:v>97</c:v>
                </c:pt>
                <c:pt idx="6">
                  <c:v>48.1</c:v>
                </c:pt>
              </c:numCache>
            </c:numRef>
          </c:val>
        </c:ser>
        <c:dLbls>
          <c:numFmt formatCode="0.0" sourceLinked="0"/>
          <c:txPr>
            <a:bodyPr/>
            <a:lstStyle/>
            <a:p>
              <a:pPr>
                <a:defRPr b="0" i="0" strike="noStrike" sz="1100" u="none">
                  <a:solidFill>
                    <a:srgbClr val="1B2433"/>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3A4353"/>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b"/>
        <c:majorGridlines>
          <c:spPr>
            <a:ln w="6350" cap="flat">
              <a:solidFill>
                <a:srgbClr val="E8EAED"/>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6E747E"/>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B2433"/>
                </a:solidFill>
                <a:latin typeface="Calibri"/>
              </a:defRPr>
            </a:pPr>
            <a:r>
              <a:rPr sz="1300" b="0" i="0" u="none" strike="noStrike">
                <a:solidFill>
                  <a:srgbClr val="1B2433"/>
                </a:solidFill>
                <a:latin typeface="Calibri"/>
              </a:rPr>
              <a:t>Genuine payments interrupted per 1,000</a:t>
            </a:r>
          </a:p>
        </c:rich>
      </c:tx>
      <c:layout/>
      <c:overlay val="0"/>
    </c:title>
    <c:autoTitleDeleted val="0"/>
    <c:plotArea>
      <c:layout/>
      <c:barChart>
        <c:barDir val="bar"/>
        <c:grouping val="clustered"/>
        <c:varyColors val="0"/>
        <c:ser>
          <c:idx val="0"/>
          <c:order val="0"/>
          <c:tx>
            <c:strRef>
              <c:f>Sheet1!$B$1</c:f>
              <c:strCache>
                <c:ptCount val="1"/>
                <c:pt idx="0">
                  <c:v>Interruptions per 1,000</c:v>
                </c:pt>
              </c:strCache>
            </c:strRef>
          </c:tx>
          <c:spPr>
            <a:solidFill>
              <a:srgbClr val="D9480F"/>
            </a:solidFill>
            <a:effectLst/>
          </c:spPr>
          <c:invertIfNegative val="0"/>
          <c:dLbls>
            <c:numFmt formatCode="0.00" sourceLinked="0"/>
            <c:txPr>
              <a:bodyPr/>
              <a:lstStyle/>
              <a:p>
                <a:pPr>
                  <a:defRPr b="0" i="0" strike="noStrike" sz="1100" u="none">
                    <a:solidFill>
                      <a:srgbClr val="1B2433"/>
                    </a:solidFill>
                    <a:latin typeface="Calibri"/>
                  </a:defRPr>
                </a:pPr>
              </a:p>
            </c:txPr>
            <c:showLegendKey val="0"/>
            <c:showVal val="1"/>
            <c:showCatName val="0"/>
            <c:showSerName val="0"/>
            <c:showPercent val="0"/>
            <c:showBubbleSize val="0"/>
            <c:showLeaderLines val="0"/>
          </c:dLbls>
          <c:dPt>
            <c:idx val="0"/>
            <c:invertIfNegative val="0"/>
            <c:bubble3D val="0"/>
            <c:spPr>
              <a:solidFill>
                <a:srgbClr val="D9480F"/>
              </a:solidFill>
              <a:effectLst/>
            </c:spPr>
          </c:dPt>
          <c:dPt>
            <c:idx val="1"/>
            <c:invertIfNegative val="0"/>
            <c:bubble3D val="0"/>
            <c:spPr>
              <a:solidFill>
                <a:srgbClr val="B7BCC4"/>
              </a:solidFill>
              <a:effectLst/>
            </c:spPr>
          </c:dPt>
          <c:dPt>
            <c:idx val="2"/>
            <c:invertIfNegative val="0"/>
            <c:bubble3D val="0"/>
            <c:spPr>
              <a:solidFill>
                <a:srgbClr val="4A5568"/>
              </a:solidFill>
              <a:effectLst/>
            </c:spPr>
          </c:dPt>
          <c:dPt>
            <c:idx val="3"/>
            <c:invertIfNegative val="0"/>
            <c:bubble3D val="0"/>
            <c:spPr>
              <a:solidFill>
                <a:srgbClr val="4A5568"/>
              </a:solidFill>
              <a:effectLst/>
            </c:spPr>
          </c:dPt>
          <c:dPt>
            <c:idx val="4"/>
            <c:invertIfNegative val="0"/>
            <c:bubble3D val="0"/>
            <c:spPr>
              <a:solidFill>
                <a:srgbClr val="4A5568"/>
              </a:solidFill>
              <a:effectLst/>
            </c:spPr>
          </c:dPt>
          <c:dPt>
            <c:idx val="5"/>
            <c:invertIfNegative val="0"/>
            <c:bubble3D val="0"/>
            <c:spPr>
              <a:solidFill>
                <a:srgbClr val="4A5568"/>
              </a:solidFill>
              <a:effectLst/>
            </c:spPr>
          </c:dPt>
          <c:dPt>
            <c:idx val="6"/>
            <c:invertIfNegative val="0"/>
            <c:bubble3D val="0"/>
            <c:spPr>
              <a:solidFill>
                <a:srgbClr val="B7BCC4"/>
              </a:solidFill>
              <a:effectLst/>
            </c:spPr>
          </c:dPt>
          <c:cat>
            <c:multiLvlStrRef>
              <c:f>Sheet1!$A$2:$A$8</c:f>
              <c:multiLvlStrCache>
                <c:ptCount val="7"/>
                <c:lvl>
                  <c:pt idx="0">
                    <c:v>Chakravyuh</c:v>
                  </c:pt>
                  <c:pt idx="1">
                    <c:v>Without two-stage rule</c:v>
                  </c:pt>
                  <c:pt idx="2">
                    <c:v>Logistic regression</c:v>
                  </c:pt>
                  <c:pt idx="3">
                    <c:v>Gradient boosting</c:v>
                  </c:pt>
                  <c:pt idx="4">
                    <c:v>XGBoost</c:v>
                  </c:pt>
                  <c:pt idx="5">
                    <c:v>MLP</c:v>
                  </c:pt>
                  <c:pt idx="6">
                    <c:v>“New payee + high amount” rule</c:v>
                  </c:pt>
                </c:lvl>
              </c:multiLvlStrCache>
            </c:multiLvlStrRef>
          </c:cat>
          <c:val>
            <c:numRef>
              <c:f>Sheet1!$B$2:$B$8</c:f>
              <c:numCache>
                <c:formatCode>General</c:formatCode>
                <c:ptCount val="7"/>
                <c:pt idx="0">
                  <c:v>2.77</c:v>
                </c:pt>
                <c:pt idx="1">
                  <c:v>3.41</c:v>
                </c:pt>
                <c:pt idx="2">
                  <c:v>3.43</c:v>
                </c:pt>
                <c:pt idx="3">
                  <c:v>3.17</c:v>
                </c:pt>
                <c:pt idx="4">
                  <c:v>3.27</c:v>
                </c:pt>
                <c:pt idx="5">
                  <c:v>3.48</c:v>
                </c:pt>
                <c:pt idx="6">
                  <c:v>9.34</c:v>
                </c:pt>
              </c:numCache>
            </c:numRef>
          </c:val>
        </c:ser>
        <c:dLbls>
          <c:numFmt formatCode="0.00" sourceLinked="0"/>
          <c:txPr>
            <a:bodyPr/>
            <a:lstStyle/>
            <a:p>
              <a:pPr>
                <a:defRPr b="0" i="0" strike="noStrike" sz="1100" u="none">
                  <a:solidFill>
                    <a:srgbClr val="1B2433"/>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1"/>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3A4353"/>
                </a:solidFill>
                <a:latin typeface="Calibri"/>
              </a:defRPr>
            </a:pPr>
            <a:endParaRPr lang="en-US"/>
          </a:p>
        </c:txPr>
        <c:crossAx val="2094734552"/>
        <c:crosses val="autoZero"/>
        <c:auto val="1"/>
        <c:lblAlgn val="ctr"/>
        <c:noMultiLvlLbl val="1"/>
      </c:catAx>
      <c:valAx>
        <c:axId val="2094734552"/>
        <c:scaling>
          <c:orientation val="minMax"/>
          <c:max val="11"/>
          <c:min val="0"/>
        </c:scaling>
        <c:delete val="0"/>
        <c:axPos val="b"/>
        <c:majorGridlines>
          <c:spPr>
            <a:ln w="6350" cap="flat">
              <a:solidFill>
                <a:srgbClr val="E8EAED"/>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6E747E"/>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B2433"/>
                </a:solidFill>
                <a:latin typeface="Calibri"/>
              </a:defRPr>
            </a:pPr>
            <a:r>
              <a:rPr sz="1100" b="0" i="0" u="none" strike="noStrike">
                <a:solidFill>
                  <a:srgbClr val="1B2433"/>
                </a:solidFill>
                <a:latin typeface="Calibri"/>
              </a:rPr>
              <a:t>Recall (%) as the strongest signals are hidden</a:t>
            </a:r>
          </a:p>
        </c:rich>
      </c:tx>
      <c:layout/>
      <c:overlay val="0"/>
    </c:title>
    <c:autoTitleDeleted val="0"/>
    <c:plotArea>
      <c:layout/>
      <c:lineChart>
        <c:varyColors val="0"/>
        <c:ser>
          <c:idx val="0"/>
          <c:order val="0"/>
          <c:tx>
            <c:strRef>
              <c:f>Sheet1!$B$1</c:f>
              <c:strCache>
                <c:ptCount val="1"/>
                <c:pt idx="0">
                  <c:v>Recall</c:v>
                </c:pt>
              </c:strCache>
            </c:strRef>
          </c:tx>
          <c:spPr>
            <a:solidFill>
              <a:srgbClr val="D9480F"/>
            </a:solidFill>
            <a:ln w="25400" cap="flat">
              <a:solidFill>
                <a:srgbClr val="D9480F"/>
              </a:solidFill>
              <a:prstDash val="solid"/>
              <a:round/>
            </a:ln>
            <a:effectLst/>
          </c:spPr>
          <c:invertIfNegative val="0"/>
          <c:dLbls>
            <c:numFmt formatCode="#,##0" sourceLinked="0"/>
            <c:txPr>
              <a:bodyPr/>
              <a:lstStyle/>
              <a:p>
                <a:pPr>
                  <a:defRPr b="0" i="0" strike="noStrike" sz="1000" u="none">
                    <a:solidFill>
                      <a:srgbClr val="1B2433"/>
                    </a:solidFill>
                    <a:latin typeface="Arial"/>
                  </a:defRPr>
                </a:pPr>
              </a:p>
            </c:txPr>
            <c:dLblPos val="t"/>
            <c:showLegendKey val="0"/>
            <c:showVal val="1"/>
            <c:showCatName val="0"/>
            <c:showSerName val="0"/>
            <c:showPercent val="0"/>
            <c:showBubbleSize val="0"/>
            <c:showLeaderLines val="0"/>
          </c:dLbls>
          <c:marker>
            <c:symbol val="circle"/>
            <c:size val="6"/>
            <c:spPr>
              <a:solidFill>
                <a:srgbClr val="D9480F"/>
              </a:solidFill>
              <a:ln w="9525" cap="flat">
                <a:solidFill>
                  <a:srgbClr val="D9480F"/>
                </a:solidFill>
                <a:prstDash val="solid"/>
                <a:round/>
              </a:ln>
              <a:effectLst/>
            </c:spPr>
          </c:marker>
          <c:cat>
            <c:multiLvlStrRef>
              <c:f>Sheet1!$A$2:$A$7</c:f>
              <c:multiLvlStrCache>
                <c:ptCount val="6"/>
                <c:lvl>
                  <c:pt idx="0">
                    <c:v>0</c:v>
                  </c:pt>
                  <c:pt idx="1">
                    <c:v>1</c:v>
                  </c:pt>
                  <c:pt idx="2">
                    <c:v>2</c:v>
                  </c:pt>
                  <c:pt idx="3">
                    <c:v>3</c:v>
                  </c:pt>
                  <c:pt idx="4">
                    <c:v>4</c:v>
                  </c:pt>
                  <c:pt idx="5">
                    <c:v>5</c:v>
                  </c:pt>
                </c:lvl>
              </c:multiLvlStrCache>
            </c:multiLvlStrRef>
          </c:cat>
          <c:val>
            <c:numRef>
              <c:f>Sheet1!$B$2:$B$7</c:f>
              <c:numCache>
                <c:formatCode>General</c:formatCode>
                <c:ptCount val="6"/>
                <c:pt idx="0">
                  <c:v>92</c:v>
                </c:pt>
                <c:pt idx="1">
                  <c:v>62</c:v>
                </c:pt>
                <c:pt idx="2">
                  <c:v>44</c:v>
                </c:pt>
                <c:pt idx="3">
                  <c:v>31</c:v>
                </c:pt>
                <c:pt idx="4">
                  <c:v>19</c:v>
                </c:pt>
                <c:pt idx="5">
                  <c:v>9</c:v>
                </c:pt>
              </c:numCache>
            </c:numRef>
          </c:val>
          <c:smooth val="0"/>
        </c:ser>
        <c:dLbls>
          <c:numFmt formatCode="#,##0" sourceLinked="0"/>
          <c:txPr>
            <a:bodyPr/>
            <a:lstStyle/>
            <a:p>
              <a:pPr>
                <a:defRPr b="0" i="0" strike="noStrike" sz="1000" u="none">
                  <a:solidFill>
                    <a:srgbClr val="1B2433"/>
                  </a:solidFill>
                  <a:latin typeface="Arial"/>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000" b="0" i="0" u="none" strike="noStrike">
                    <a:solidFill>
                      <a:srgbClr val="6E747E"/>
                    </a:solidFill>
                    <a:latin typeface="Arial"/>
                  </a:defRPr>
                </a:pPr>
                <a:r>
                  <a:rPr sz="1000" b="0" i="0" u="none" strike="noStrike">
                    <a:solidFill>
                      <a:srgbClr val="6E747E"/>
                    </a:solidFill>
                    <a:latin typeface="Arial"/>
                  </a:rPr>
                  <a:t>signals hidden</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6E747E"/>
                </a:solidFill>
                <a:latin typeface="Arial"/>
              </a:defRPr>
            </a:pPr>
            <a:endParaRPr lang="en-US"/>
          </a:p>
        </c:txPr>
        <c:crossAx val="2094734552"/>
        <c:crosses val="autoZero"/>
        <c:auto val="1"/>
        <c:lblAlgn val="ctr"/>
        <c:noMultiLvlLbl val="1"/>
      </c:catAx>
      <c:valAx>
        <c:axId val="2094734552"/>
        <c:scaling>
          <c:orientation val="minMax"/>
          <c:max val="10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Chakravyuh is a scam-detection engine for UPI payments. The name comes from the layered trap in the Mahabharata, which is how these scams work: the victim is walked through several steps before paying. We look at those steps, not just the payment.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digital-arrest scam, one of the common patterns in India. The victim authorises the payment herself, so the bank sees a valid PIN on her own phone. Rules that only look at the payment either miss it or fire on genuine payments.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core idea. Each stage has signals, 20 in total: 9 from the phone, 7 the bank already has, and 4 about the receiving account. We only interrupt when at least two stages are active.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response grows with the evidence. Level 1 is silent. Level 2 warns and asks two questions but never blocks. Level 3 holds the payment for up to 30 minutes and a bank agent reviews it. The rates shown are measured on our synthetic test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warning signs appear before the payment. Today a generic rule shows a warning the caller talks her past. With Chakravyuh all four stages are active, so the payment is held and she sees a specific message.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signal has a weight learned by logistic regression. Weights are summed per stage and capped. The two-stage rule is what stops one odd signal, like a new payee, from interrupting a genuine payment.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Recall 92.3% with a 95% interval of [91.7%, 93.0%], at 2.77 interruptions per 1,000. Trained on one synthetic dataset, thresholds set on another, tested on 8 more. Standard classifiers catch slightly more scams, but they interrupt more genuine payments and cannot explain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tested what happens if the fraudster adapts. Hiding the strongest signal hurts, so we report it honestly. Two of these defences are designs we have not tested yet, and they are marked that 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audio, screen content, messages or contacts ever leave the phone. Only nine yes/no values, the amount and a hashed payee ID. Every decision is signed so it can be checked later in a complaint.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table shows the gap we fill. Rules explain but ignore context; classifiers use features but cannot explain. We use the whole scam sequence and always give a reason.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separates what is built from what is simulated and what is planned. The scoring server, input checks and signed records are built and tested. The phone SDK, payment hold and agent screen are planned.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three built controls are covered by automated tests, including one that replays a request and checks it is rejected. The others are planned or design-only and labelled that 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savings number is an upper limit based on an assumed share of the national loss, not a result. The main running cost is people reviewing held payments, so the bank should set the level-3 limit carefully.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the finale we will move the phone signals from synthetic to real, attack our own model, and run 100 sessions end to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sum up: we look at the steps before a scam payment, only interrupt when several appear together, and always give a reason.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 slide with every signal and its learned weight.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11A2B"/>
        </a:solidFill>
      </p:bgPr>
    </p:bg>
    <p:spTree>
      <p:nvGrpSpPr>
        <p:cNvPr id="1" name=""/>
        <p:cNvGrpSpPr/>
        <p:nvPr/>
      </p:nvGrpSpPr>
      <p:grpSpPr>
        <a:xfrm>
          <a:off x="0" y="0"/>
          <a:ext cx="0" cy="0"/>
          <a:chOff x="0" y="0"/>
          <a:chExt cx="0" cy="0"/>
        </a:xfrm>
      </p:grpSpPr>
      <p:sp>
        <p:nvSpPr>
          <p:cNvPr id="2" name="Text 0"/>
          <p:cNvSpPr txBox="1"/>
          <p:nvPr/>
        </p:nvSpPr>
        <p:spPr>
          <a:xfrm>
            <a:off x="640080" y="411480"/>
            <a:ext cx="9144000" cy="274320"/>
          </a:xfrm>
          <a:prstGeom prst="rect">
            <a:avLst/>
          </a:prstGeom>
          <a:noFill/>
          <a:ln/>
        </p:spPr>
        <p:txBody>
          <a:bodyPr wrap="square" lIns="0" tIns="0" rIns="0" bIns="0" rtlCol="0" anchor="ctr"/>
          <a:lstStyle/>
          <a:p>
            <a:pPr indent="0" marL="0">
              <a:buNone/>
            </a:pPr>
            <a:r>
              <a:rPr lang="en-US" sz="1200" dirty="0">
                <a:solidFill>
                  <a:srgbClr val="8E97A6"/>
                </a:solidFill>
                <a:latin typeface="Calibri" pitchFamily="34" charset="0"/>
                <a:ea typeface="Calibri" pitchFamily="34" charset="-122"/>
                <a:cs typeface="Calibri" pitchFamily="34" charset="-120"/>
              </a:rPr>
              <a:t>RAKSHAM  ·  Amazon × IIT Delhi  ·  Round 1  ·  Track 2: AI-driven scam pattern recognition</a:t>
            </a:r>
            <a:endParaRPr lang="en-US" sz="1200" dirty="0"/>
          </a:p>
        </p:txBody>
      </p:sp>
      <p:sp>
        <p:nvSpPr>
          <p:cNvPr id="3" name="Text 1"/>
          <p:cNvSpPr txBox="1"/>
          <p:nvPr/>
        </p:nvSpPr>
        <p:spPr>
          <a:xfrm>
            <a:off x="640080" y="1737360"/>
            <a:ext cx="7315200" cy="1097280"/>
          </a:xfrm>
          <a:prstGeom prst="rect">
            <a:avLst/>
          </a:prstGeom>
          <a:noFill/>
          <a:ln/>
        </p:spPr>
        <p:txBody>
          <a:bodyPr wrap="square" lIns="0" tIns="0" rIns="0" bIns="0" rtlCol="0" anchor="ctr"/>
          <a:lstStyle/>
          <a:p>
            <a:pPr indent="0" marL="0">
              <a:buNone/>
            </a:pPr>
            <a:r>
              <a:rPr lang="en-US" sz="6600" b="1" dirty="0">
                <a:solidFill>
                  <a:srgbClr val="ECE8E0"/>
                </a:solidFill>
                <a:latin typeface="Cambria" pitchFamily="34" charset="0"/>
                <a:ea typeface="Cambria" pitchFamily="34" charset="-122"/>
                <a:cs typeface="Cambria" pitchFamily="34" charset="-120"/>
              </a:rPr>
              <a:t>Chakravyuh</a:t>
            </a:r>
            <a:endParaRPr lang="en-US" sz="6600" dirty="0"/>
          </a:p>
        </p:txBody>
      </p:sp>
      <p:sp>
        <p:nvSpPr>
          <p:cNvPr id="4" name="Text 2"/>
          <p:cNvSpPr txBox="1"/>
          <p:nvPr/>
        </p:nvSpPr>
        <p:spPr>
          <a:xfrm>
            <a:off x="640080" y="2880360"/>
            <a:ext cx="7315200" cy="1097280"/>
          </a:xfrm>
          <a:prstGeom prst="rect">
            <a:avLst/>
          </a:prstGeom>
          <a:noFill/>
          <a:ln/>
        </p:spPr>
        <p:txBody>
          <a:bodyPr wrap="square" lIns="0" tIns="0" rIns="0" bIns="0" rtlCol="0" anchor="ctr"/>
          <a:lstStyle/>
          <a:p>
            <a:pPr indent="0" marL="0">
              <a:buNone/>
            </a:pPr>
            <a:r>
              <a:rPr lang="en-US" sz="2800" i="1" dirty="0">
                <a:solidFill>
                  <a:srgbClr val="ECE8E0"/>
                </a:solidFill>
                <a:latin typeface="Cambria" pitchFamily="34" charset="0"/>
                <a:ea typeface="Cambria" pitchFamily="34" charset="-122"/>
                <a:cs typeface="Cambria" pitchFamily="34" charset="-120"/>
              </a:rPr>
              <a:t>Intercept the scam workflow,</a:t>
            </a:r>
            <a:endParaRPr lang="en-US" sz="2800" dirty="0"/>
          </a:p>
          <a:p>
            <a:pPr indent="0" marL="0">
              <a:buNone/>
            </a:pPr>
            <a:r>
              <a:rPr lang="en-US" sz="2800" i="1" dirty="0">
                <a:solidFill>
                  <a:srgbClr val="ECE8E0"/>
                </a:solidFill>
                <a:latin typeface="Cambria" pitchFamily="34" charset="0"/>
                <a:ea typeface="Cambria" pitchFamily="34" charset="-122"/>
                <a:cs typeface="Cambria" pitchFamily="34" charset="-120"/>
              </a:rPr>
              <a:t>not the transaction.</a:t>
            </a:r>
            <a:endParaRPr lang="en-US" sz="2800" dirty="0"/>
          </a:p>
        </p:txBody>
      </p:sp>
      <p:sp>
        <p:nvSpPr>
          <p:cNvPr id="5" name="Text 3"/>
          <p:cNvSpPr txBox="1"/>
          <p:nvPr/>
        </p:nvSpPr>
        <p:spPr>
          <a:xfrm>
            <a:off x="640080" y="4160520"/>
            <a:ext cx="6766560" cy="914400"/>
          </a:xfrm>
          <a:prstGeom prst="rect">
            <a:avLst/>
          </a:prstGeom>
          <a:noFill/>
          <a:ln/>
        </p:spPr>
        <p:txBody>
          <a:bodyPr wrap="square" lIns="0" tIns="0" rIns="0" bIns="0" rtlCol="0" anchor="t"/>
          <a:lstStyle/>
          <a:p>
            <a:pPr indent="0" marL="0">
              <a:spcAft>
                <a:spcPts val="400"/>
              </a:spcAft>
              <a:buNone/>
            </a:pPr>
            <a:r>
              <a:rPr lang="en-US" sz="1500" dirty="0">
                <a:solidFill>
                  <a:srgbClr val="8E97A6"/>
                </a:solidFill>
                <a:latin typeface="Calibri" pitchFamily="34" charset="0"/>
                <a:ea typeface="Calibri" pitchFamily="34" charset="-122"/>
                <a:cs typeface="Calibri" pitchFamily="34" charset="-120"/>
              </a:rPr>
              <a:t>Chakravyuh checks a UPI payment for the steps that usually come before a scam payment. It interrupts only when several of them show up together, tells the customer why, and keeps a signed record for the bank.</a:t>
            </a:r>
            <a:endParaRPr lang="en-US" sz="1500" dirty="0"/>
          </a:p>
        </p:txBody>
      </p:sp>
      <p:sp>
        <p:nvSpPr>
          <p:cNvPr id="6" name="Shape 4"/>
          <p:cNvSpPr/>
          <p:nvPr/>
        </p:nvSpPr>
        <p:spPr>
          <a:xfrm>
            <a:off x="9418320" y="1783080"/>
            <a:ext cx="0" cy="658368"/>
          </a:xfrm>
          <a:prstGeom prst="line">
            <a:avLst/>
          </a:prstGeom>
          <a:noFill/>
          <a:ln w="19050">
            <a:solidFill>
              <a:srgbClr val="8E97A6"/>
            </a:solidFill>
            <a:prstDash val="solid"/>
          </a:ln>
        </p:spPr>
      </p:sp>
      <p:sp>
        <p:nvSpPr>
          <p:cNvPr id="7" name="Shape 5"/>
          <p:cNvSpPr/>
          <p:nvPr/>
        </p:nvSpPr>
        <p:spPr>
          <a:xfrm>
            <a:off x="9326880" y="1691640"/>
            <a:ext cx="182880" cy="182880"/>
          </a:xfrm>
          <a:prstGeom prst="ellipse">
            <a:avLst/>
          </a:prstGeom>
          <a:solidFill>
            <a:srgbClr val="111A2B"/>
          </a:solidFill>
          <a:ln w="19050">
            <a:solidFill>
              <a:srgbClr val="ECE8E0"/>
            </a:solidFill>
            <a:prstDash val="solid"/>
          </a:ln>
        </p:spPr>
      </p:sp>
      <p:sp>
        <p:nvSpPr>
          <p:cNvPr id="8" name="Text 6"/>
          <p:cNvSpPr txBox="1"/>
          <p:nvPr/>
        </p:nvSpPr>
        <p:spPr>
          <a:xfrm>
            <a:off x="9692640" y="1645920"/>
            <a:ext cx="1828800" cy="274320"/>
          </a:xfrm>
          <a:prstGeom prst="rect">
            <a:avLst/>
          </a:prstGeom>
          <a:noFill/>
          <a:ln/>
        </p:spPr>
        <p:txBody>
          <a:bodyPr wrap="square" lIns="0" tIns="0" rIns="0" bIns="0" rtlCol="0" anchor="ctr"/>
          <a:lstStyle/>
          <a:p>
            <a:pPr indent="0" marL="0">
              <a:buNone/>
            </a:pPr>
            <a:r>
              <a:rPr lang="en-US" sz="1400" dirty="0">
                <a:solidFill>
                  <a:srgbClr val="ECE8E0"/>
                </a:solidFill>
                <a:latin typeface="Calibri" pitchFamily="34" charset="0"/>
                <a:ea typeface="Calibri" pitchFamily="34" charset="-122"/>
                <a:cs typeface="Calibri" pitchFamily="34" charset="-120"/>
              </a:rPr>
              <a:t>Contact</a:t>
            </a:r>
            <a:endParaRPr lang="en-US" sz="1400" dirty="0"/>
          </a:p>
        </p:txBody>
      </p:sp>
      <p:sp>
        <p:nvSpPr>
          <p:cNvPr id="9" name="Shape 7"/>
          <p:cNvSpPr/>
          <p:nvPr/>
        </p:nvSpPr>
        <p:spPr>
          <a:xfrm>
            <a:off x="9418320" y="2441448"/>
            <a:ext cx="0" cy="658368"/>
          </a:xfrm>
          <a:prstGeom prst="line">
            <a:avLst/>
          </a:prstGeom>
          <a:noFill/>
          <a:ln w="19050">
            <a:solidFill>
              <a:srgbClr val="8E97A6"/>
            </a:solidFill>
            <a:prstDash val="solid"/>
          </a:ln>
        </p:spPr>
      </p:sp>
      <p:sp>
        <p:nvSpPr>
          <p:cNvPr id="10" name="Shape 8"/>
          <p:cNvSpPr/>
          <p:nvPr/>
        </p:nvSpPr>
        <p:spPr>
          <a:xfrm>
            <a:off x="9326880" y="2350008"/>
            <a:ext cx="182880" cy="182880"/>
          </a:xfrm>
          <a:prstGeom prst="ellipse">
            <a:avLst/>
          </a:prstGeom>
          <a:solidFill>
            <a:srgbClr val="111A2B"/>
          </a:solidFill>
          <a:ln w="19050">
            <a:solidFill>
              <a:srgbClr val="ECE8E0"/>
            </a:solidFill>
            <a:prstDash val="solid"/>
          </a:ln>
        </p:spPr>
      </p:sp>
      <p:sp>
        <p:nvSpPr>
          <p:cNvPr id="11" name="Text 9"/>
          <p:cNvSpPr txBox="1"/>
          <p:nvPr/>
        </p:nvSpPr>
        <p:spPr>
          <a:xfrm>
            <a:off x="9692640" y="2304288"/>
            <a:ext cx="1828800" cy="274320"/>
          </a:xfrm>
          <a:prstGeom prst="rect">
            <a:avLst/>
          </a:prstGeom>
          <a:noFill/>
          <a:ln/>
        </p:spPr>
        <p:txBody>
          <a:bodyPr wrap="square" lIns="0" tIns="0" rIns="0" bIns="0" rtlCol="0" anchor="ctr"/>
          <a:lstStyle/>
          <a:p>
            <a:pPr indent="0" marL="0">
              <a:buNone/>
            </a:pPr>
            <a:r>
              <a:rPr lang="en-US" sz="1400" dirty="0">
                <a:solidFill>
                  <a:srgbClr val="ECE8E0"/>
                </a:solidFill>
                <a:latin typeface="Calibri" pitchFamily="34" charset="0"/>
                <a:ea typeface="Calibri" pitchFamily="34" charset="-122"/>
                <a:cs typeface="Calibri" pitchFamily="34" charset="-120"/>
              </a:rPr>
              <a:t>Control</a:t>
            </a:r>
            <a:endParaRPr lang="en-US" sz="1400" dirty="0"/>
          </a:p>
        </p:txBody>
      </p:sp>
      <p:sp>
        <p:nvSpPr>
          <p:cNvPr id="12" name="Shape 10"/>
          <p:cNvSpPr/>
          <p:nvPr/>
        </p:nvSpPr>
        <p:spPr>
          <a:xfrm>
            <a:off x="9418320" y="3099816"/>
            <a:ext cx="0" cy="658368"/>
          </a:xfrm>
          <a:prstGeom prst="line">
            <a:avLst/>
          </a:prstGeom>
          <a:noFill/>
          <a:ln w="19050">
            <a:solidFill>
              <a:srgbClr val="8E97A6"/>
            </a:solidFill>
            <a:prstDash val="solid"/>
          </a:ln>
        </p:spPr>
      </p:sp>
      <p:sp>
        <p:nvSpPr>
          <p:cNvPr id="13" name="Shape 11"/>
          <p:cNvSpPr/>
          <p:nvPr/>
        </p:nvSpPr>
        <p:spPr>
          <a:xfrm>
            <a:off x="9326880" y="3008376"/>
            <a:ext cx="182880" cy="182880"/>
          </a:xfrm>
          <a:prstGeom prst="ellipse">
            <a:avLst/>
          </a:prstGeom>
          <a:solidFill>
            <a:srgbClr val="111A2B"/>
          </a:solidFill>
          <a:ln w="19050">
            <a:solidFill>
              <a:srgbClr val="ECE8E0"/>
            </a:solidFill>
            <a:prstDash val="solid"/>
          </a:ln>
        </p:spPr>
      </p:sp>
      <p:sp>
        <p:nvSpPr>
          <p:cNvPr id="14" name="Text 12"/>
          <p:cNvSpPr txBox="1"/>
          <p:nvPr/>
        </p:nvSpPr>
        <p:spPr>
          <a:xfrm>
            <a:off x="9692640" y="2962656"/>
            <a:ext cx="1828800" cy="274320"/>
          </a:xfrm>
          <a:prstGeom prst="rect">
            <a:avLst/>
          </a:prstGeom>
          <a:noFill/>
          <a:ln/>
        </p:spPr>
        <p:txBody>
          <a:bodyPr wrap="square" lIns="0" tIns="0" rIns="0" bIns="0" rtlCol="0" anchor="ctr"/>
          <a:lstStyle/>
          <a:p>
            <a:pPr indent="0" marL="0">
              <a:buNone/>
            </a:pPr>
            <a:r>
              <a:rPr lang="en-US" sz="1400" dirty="0">
                <a:solidFill>
                  <a:srgbClr val="ECE8E0"/>
                </a:solidFill>
                <a:latin typeface="Calibri" pitchFamily="34" charset="0"/>
                <a:ea typeface="Calibri" pitchFamily="34" charset="-122"/>
                <a:cs typeface="Calibri" pitchFamily="34" charset="-120"/>
              </a:rPr>
              <a:t>Extraction</a:t>
            </a:r>
            <a:endParaRPr lang="en-US" sz="1400" dirty="0"/>
          </a:p>
        </p:txBody>
      </p:sp>
      <p:sp>
        <p:nvSpPr>
          <p:cNvPr id="15" name="Shape 13"/>
          <p:cNvSpPr/>
          <p:nvPr/>
        </p:nvSpPr>
        <p:spPr>
          <a:xfrm>
            <a:off x="9418320" y="3758184"/>
            <a:ext cx="0" cy="658368"/>
          </a:xfrm>
          <a:prstGeom prst="line">
            <a:avLst/>
          </a:prstGeom>
          <a:noFill/>
          <a:ln w="19050">
            <a:solidFill>
              <a:srgbClr val="D9480F"/>
            </a:solidFill>
            <a:prstDash val="solid"/>
          </a:ln>
        </p:spPr>
      </p:sp>
      <p:sp>
        <p:nvSpPr>
          <p:cNvPr id="16" name="Shape 14"/>
          <p:cNvSpPr/>
          <p:nvPr/>
        </p:nvSpPr>
        <p:spPr>
          <a:xfrm>
            <a:off x="9326880" y="3666744"/>
            <a:ext cx="182880" cy="182880"/>
          </a:xfrm>
          <a:prstGeom prst="ellipse">
            <a:avLst/>
          </a:prstGeom>
          <a:solidFill>
            <a:srgbClr val="111A2B"/>
          </a:solidFill>
          <a:ln w="19050">
            <a:solidFill>
              <a:srgbClr val="ECE8E0"/>
            </a:solidFill>
            <a:prstDash val="solid"/>
          </a:ln>
        </p:spPr>
      </p:sp>
      <p:sp>
        <p:nvSpPr>
          <p:cNvPr id="17" name="Text 15"/>
          <p:cNvSpPr txBox="1"/>
          <p:nvPr/>
        </p:nvSpPr>
        <p:spPr>
          <a:xfrm>
            <a:off x="9692640" y="3621024"/>
            <a:ext cx="1828800" cy="274320"/>
          </a:xfrm>
          <a:prstGeom prst="rect">
            <a:avLst/>
          </a:prstGeom>
          <a:noFill/>
          <a:ln/>
        </p:spPr>
        <p:txBody>
          <a:bodyPr wrap="square" lIns="0" tIns="0" rIns="0" bIns="0" rtlCol="0" anchor="ctr"/>
          <a:lstStyle/>
          <a:p>
            <a:pPr indent="0" marL="0">
              <a:buNone/>
            </a:pPr>
            <a:r>
              <a:rPr lang="en-US" sz="1400" dirty="0">
                <a:solidFill>
                  <a:srgbClr val="ECE8E0"/>
                </a:solidFill>
                <a:latin typeface="Calibri" pitchFamily="34" charset="0"/>
                <a:ea typeface="Calibri" pitchFamily="34" charset="-122"/>
                <a:cs typeface="Calibri" pitchFamily="34" charset="-120"/>
              </a:rPr>
              <a:t>Cash-out</a:t>
            </a:r>
            <a:endParaRPr lang="en-US" sz="1400" dirty="0"/>
          </a:p>
        </p:txBody>
      </p:sp>
      <p:sp>
        <p:nvSpPr>
          <p:cNvPr id="18" name="Shape 16"/>
          <p:cNvSpPr/>
          <p:nvPr/>
        </p:nvSpPr>
        <p:spPr>
          <a:xfrm>
            <a:off x="9326880" y="4325112"/>
            <a:ext cx="182880" cy="182880"/>
          </a:xfrm>
          <a:prstGeom prst="ellipse">
            <a:avLst/>
          </a:prstGeom>
          <a:solidFill>
            <a:srgbClr val="D9480F"/>
          </a:solidFill>
          <a:ln w="19050">
            <a:solidFill>
              <a:srgbClr val="D9480F"/>
            </a:solidFill>
            <a:prstDash val="solid"/>
          </a:ln>
        </p:spPr>
      </p:sp>
      <p:sp>
        <p:nvSpPr>
          <p:cNvPr id="19" name="Text 17"/>
          <p:cNvSpPr txBox="1"/>
          <p:nvPr/>
        </p:nvSpPr>
        <p:spPr>
          <a:xfrm>
            <a:off x="9692640" y="4279392"/>
            <a:ext cx="1828800" cy="274320"/>
          </a:xfrm>
          <a:prstGeom prst="rect">
            <a:avLst/>
          </a:prstGeom>
          <a:noFill/>
          <a:ln/>
        </p:spPr>
        <p:txBody>
          <a:bodyPr wrap="square" lIns="0" tIns="0" rIns="0" bIns="0" rtlCol="0" anchor="ctr"/>
          <a:lstStyle/>
          <a:p>
            <a:pPr indent="0" marL="0">
              <a:buNone/>
            </a:pPr>
            <a:r>
              <a:rPr lang="en-US" sz="1400" dirty="0">
                <a:solidFill>
                  <a:srgbClr val="D9480F"/>
                </a:solidFill>
                <a:latin typeface="Calibri" pitchFamily="34" charset="0"/>
                <a:ea typeface="Calibri" pitchFamily="34" charset="-122"/>
                <a:cs typeface="Calibri" pitchFamily="34" charset="-120"/>
              </a:rPr>
              <a:t>Decision</a:t>
            </a:r>
            <a:endParaRPr lang="en-US" sz="1400" dirty="0"/>
          </a:p>
        </p:txBody>
      </p:sp>
      <p:sp>
        <p:nvSpPr>
          <p:cNvPr id="20" name="Shape 18"/>
          <p:cNvSpPr/>
          <p:nvPr/>
        </p:nvSpPr>
        <p:spPr>
          <a:xfrm>
            <a:off x="640080" y="5806440"/>
            <a:ext cx="10911535" cy="0"/>
          </a:xfrm>
          <a:prstGeom prst="line">
            <a:avLst/>
          </a:prstGeom>
          <a:noFill/>
          <a:ln w="9525">
            <a:solidFill>
              <a:srgbClr val="2C3850"/>
            </a:solidFill>
            <a:prstDash val="solid"/>
          </a:ln>
        </p:spPr>
      </p:sp>
      <p:sp>
        <p:nvSpPr>
          <p:cNvPr id="21" name="Text 19"/>
          <p:cNvSpPr txBox="1"/>
          <p:nvPr/>
        </p:nvSpPr>
        <p:spPr>
          <a:xfrm>
            <a:off x="640080" y="5943600"/>
            <a:ext cx="7772400" cy="320040"/>
          </a:xfrm>
          <a:prstGeom prst="rect">
            <a:avLst/>
          </a:prstGeom>
          <a:noFill/>
          <a:ln/>
        </p:spPr>
        <p:txBody>
          <a:bodyPr wrap="square" lIns="0" tIns="0" rIns="0" bIns="0" rtlCol="0" anchor="ctr"/>
          <a:lstStyle/>
          <a:p>
            <a:pPr indent="0" marL="0">
              <a:buNone/>
            </a:pPr>
            <a:r>
              <a:rPr lang="en-US" sz="1300" b="1" dirty="0">
                <a:solidFill>
                  <a:srgbClr val="ECE8E0"/>
                </a:solidFill>
                <a:latin typeface="Calibri" pitchFamily="34" charset="0"/>
                <a:ea typeface="Calibri" pitchFamily="34" charset="-122"/>
                <a:cs typeface="Calibri" pitchFamily="34" charset="-120"/>
              </a:rPr>
              <a:t>Mathews V Manoj</a:t>
            </a:r>
            <a:pPr indent="0" marL="0">
              <a:buNone/>
            </a:pPr>
            <a:r>
              <a:rPr lang="en-US" sz="1300" dirty="0">
                <a:solidFill>
                  <a:srgbClr val="8E97A6"/>
                </a:solidFill>
                <a:latin typeface="Calibri" pitchFamily="34" charset="0"/>
                <a:ea typeface="Calibri" pitchFamily="34" charset="-122"/>
                <a:cs typeface="Calibri" pitchFamily="34" charset="-120"/>
              </a:rPr>
              <a:t>   B.Tech Electronics &amp; Communication, Muthoot Institute of Technology and Science (KTU)</a:t>
            </a:r>
            <a:endParaRPr lang="en-US" sz="1300" dirty="0"/>
          </a:p>
        </p:txBody>
      </p:sp>
      <p:sp>
        <p:nvSpPr>
          <p:cNvPr id="22" name="Text 20"/>
          <p:cNvSpPr txBox="1"/>
          <p:nvPr/>
        </p:nvSpPr>
        <p:spPr>
          <a:xfrm>
            <a:off x="7802575" y="5916168"/>
            <a:ext cx="3749040" cy="457200"/>
          </a:xfrm>
          <a:prstGeom prst="rect">
            <a:avLst/>
          </a:prstGeom>
          <a:noFill/>
          <a:ln/>
        </p:spPr>
        <p:txBody>
          <a:bodyPr wrap="square" lIns="0" tIns="0" rIns="0" bIns="0" rtlCol="0" anchor="ctr"/>
          <a:lstStyle/>
          <a:p>
            <a:pPr algn="r" indent="0" marL="0">
              <a:buNone/>
            </a:pPr>
            <a:r>
              <a:rPr lang="en-US" sz="1100" dirty="0">
                <a:solidFill>
                  <a:srgbClr val="8E97A6"/>
                </a:solidFill>
                <a:latin typeface="Calibri" pitchFamily="34" charset="0"/>
                <a:ea typeface="Calibri" pitchFamily="34" charset="-122"/>
                <a:cs typeface="Calibri" pitchFamily="34" charset="-120"/>
              </a:rPr>
              <a:t>All results come from synthetic data we generated.</a:t>
            </a:r>
            <a:endParaRPr lang="en-US" sz="1100" dirty="0"/>
          </a:p>
          <a:p>
            <a:pPr algn="r" indent="0" marL="0">
              <a:buNone/>
            </a:pPr>
            <a:r>
              <a:rPr lang="en-US" sz="1100" dirty="0">
                <a:solidFill>
                  <a:srgbClr val="8E97A6"/>
                </a:solidFill>
                <a:latin typeface="Calibri" pitchFamily="34" charset="0"/>
                <a:ea typeface="Calibri" pitchFamily="34" charset="-122"/>
                <a:cs typeface="Calibri" pitchFamily="34" charset="-120"/>
              </a:rPr>
              <a:t>No real customer or bank data was used.</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5486400" cy="274320"/>
          </a:xfrm>
          <a:prstGeom prst="rect">
            <a:avLst/>
          </a:prstGeom>
          <a:noFill/>
          <a:ln/>
        </p:spPr>
        <p:txBody>
          <a:bodyPr wrap="square" lIns="0" tIns="0" rIns="0" bIns="0" rtlCol="0" anchor="ctr"/>
          <a:lstStyle/>
          <a:p>
            <a:pPr indent="0" marL="0">
              <a:buNone/>
            </a:pPr>
            <a:r>
              <a:rPr lang="en-US" sz="1100" dirty="0">
                <a:solidFill>
                  <a:srgbClr val="6E747E"/>
                </a:solidFill>
                <a:latin typeface="Calibri" pitchFamily="34" charset="0"/>
                <a:ea typeface="Calibri" pitchFamily="34" charset="-122"/>
                <a:cs typeface="Calibri" pitchFamily="34" charset="-120"/>
              </a:rPr>
              <a:t>1  ·  Problem</a:t>
            </a:r>
            <a:endParaRPr lang="en-US" sz="1100" dirty="0"/>
          </a:p>
        </p:txBody>
      </p:sp>
      <p:sp>
        <p:nvSpPr>
          <p:cNvPr id="3" name="Text 1"/>
          <p:cNvSpPr txBox="1"/>
          <p:nvPr/>
        </p:nvSpPr>
        <p:spPr>
          <a:xfrm>
            <a:off x="8899855" y="256032"/>
            <a:ext cx="2743200" cy="274320"/>
          </a:xfrm>
          <a:prstGeom prst="rect">
            <a:avLst/>
          </a:prstGeom>
          <a:noFill/>
          <a:ln/>
        </p:spPr>
        <p:txBody>
          <a:bodyPr wrap="square" lIns="0" tIns="0" rIns="0" bIns="0" rtlCol="0" anchor="ctr"/>
          <a:lstStyle/>
          <a:p>
            <a:pPr algn="r" indent="0" marL="0">
              <a:buNone/>
            </a:pPr>
            <a:r>
              <a:rPr lang="en-US" sz="1100" dirty="0">
                <a:solidFill>
                  <a:srgbClr val="6E747E"/>
                </a:solidFill>
                <a:latin typeface="Calibri" pitchFamily="34" charset="0"/>
                <a:ea typeface="Calibri" pitchFamily="34" charset="-122"/>
                <a:cs typeface="Calibri" pitchFamily="34" charset="-120"/>
              </a:rPr>
              <a:t>Chakravyuh</a:t>
            </a:r>
            <a:endParaRPr lang="en-US" sz="1100" dirty="0"/>
          </a:p>
        </p:txBody>
      </p:sp>
      <p:sp>
        <p:nvSpPr>
          <p:cNvPr id="4" name="Text 2"/>
          <p:cNvSpPr txBox="1"/>
          <p:nvPr/>
        </p:nvSpPr>
        <p:spPr>
          <a:xfrm>
            <a:off x="9814255" y="6446520"/>
            <a:ext cx="1828800" cy="228600"/>
          </a:xfrm>
          <a:prstGeom prst="rect">
            <a:avLst/>
          </a:prstGeom>
          <a:noFill/>
          <a:ln/>
        </p:spPr>
        <p:txBody>
          <a:bodyPr wrap="square" lIns="0" tIns="0" rIns="0" bIns="0" rtlCol="0" anchor="ctr"/>
          <a:lstStyle/>
          <a:p>
            <a:pPr algn="r" indent="0" marL="0">
              <a:buNone/>
            </a:pPr>
            <a:r>
              <a:rPr lang="en-US" sz="1000" dirty="0">
                <a:solidFill>
                  <a:srgbClr val="6E747E"/>
                </a:solidFill>
                <a:latin typeface="Calibri" pitchFamily="34" charset="0"/>
                <a:ea typeface="Calibri" pitchFamily="34" charset="-122"/>
                <a:cs typeface="Calibri" pitchFamily="34" charset="-120"/>
              </a:rPr>
              <a:t>2 / 16</a:t>
            </a:r>
            <a:endParaRPr lang="en-US" sz="1000" dirty="0"/>
          </a:p>
        </p:txBody>
      </p:sp>
      <p:sp>
        <p:nvSpPr>
          <p:cNvPr id="5" name="Text 3"/>
          <p:cNvSpPr txBox="1"/>
          <p:nvPr/>
        </p:nvSpPr>
        <p:spPr>
          <a:xfrm>
            <a:off x="548640" y="640080"/>
            <a:ext cx="11094415" cy="731520"/>
          </a:xfrm>
          <a:prstGeom prst="rect">
            <a:avLst/>
          </a:prstGeom>
          <a:noFill/>
          <a:ln/>
        </p:spPr>
        <p:txBody>
          <a:bodyPr wrap="square" lIns="0" tIns="0" rIns="0" bIns="0" rtlCol="0" anchor="t"/>
          <a:lstStyle/>
          <a:p>
            <a:pPr indent="0" marL="0">
              <a:buNone/>
            </a:pPr>
            <a:r>
              <a:rPr lang="en-US" sz="3400" b="1" dirty="0">
                <a:solidFill>
                  <a:srgbClr val="1B2433"/>
                </a:solidFill>
                <a:latin typeface="Cambria" pitchFamily="34" charset="0"/>
                <a:ea typeface="Cambria" pitchFamily="34" charset="-122"/>
                <a:cs typeface="Cambria" pitchFamily="34" charset="-120"/>
              </a:rPr>
              <a:t>In these scams, the victim makes the payment</a:t>
            </a:r>
            <a:endParaRPr lang="en-US" sz="3400" dirty="0"/>
          </a:p>
        </p:txBody>
      </p:sp>
      <p:sp>
        <p:nvSpPr>
          <p:cNvPr id="6" name="Text 4"/>
          <p:cNvSpPr txBox="1"/>
          <p:nvPr/>
        </p:nvSpPr>
        <p:spPr>
          <a:xfrm>
            <a:off x="548640" y="1325880"/>
            <a:ext cx="7863840" cy="731520"/>
          </a:xfrm>
          <a:prstGeom prst="rect">
            <a:avLst/>
          </a:prstGeom>
          <a:noFill/>
          <a:ln/>
        </p:spPr>
        <p:txBody>
          <a:bodyPr wrap="square" lIns="0" tIns="0" rIns="0" bIns="0" rtlCol="0" anchor="t"/>
          <a:lstStyle/>
          <a:p>
            <a:pPr indent="0" marL="0">
              <a:spcAft>
                <a:spcPts val="400"/>
              </a:spcAft>
              <a:buNone/>
            </a:pPr>
            <a:r>
              <a:rPr lang="en-US" sz="1600" dirty="0">
                <a:solidFill>
                  <a:srgbClr val="3A4353"/>
                </a:solidFill>
                <a:latin typeface="Calibri" pitchFamily="34" charset="0"/>
                <a:ea typeface="Calibri" pitchFamily="34" charset="-122"/>
                <a:cs typeface="Calibri" pitchFamily="34" charset="-120"/>
              </a:rPr>
              <a:t>Most of the scam happens before any money moves. By the time the victim pays, the PIN is correct, the phone is their own and they mean to pay, so a check on the payment alone has little to go on.</a:t>
            </a:r>
            <a:endParaRPr lang="en-US" sz="1600" dirty="0"/>
          </a:p>
        </p:txBody>
      </p:sp>
      <p:sp>
        <p:nvSpPr>
          <p:cNvPr id="7" name="Shape 5"/>
          <p:cNvSpPr/>
          <p:nvPr/>
        </p:nvSpPr>
        <p:spPr>
          <a:xfrm>
            <a:off x="658368" y="2514600"/>
            <a:ext cx="0" cy="2606040"/>
          </a:xfrm>
          <a:prstGeom prst="line">
            <a:avLst/>
          </a:prstGeom>
          <a:noFill/>
          <a:ln w="19050">
            <a:solidFill>
              <a:srgbClr val="3A4353"/>
            </a:solidFill>
            <a:prstDash val="solid"/>
          </a:ln>
        </p:spPr>
      </p:sp>
      <p:sp>
        <p:nvSpPr>
          <p:cNvPr id="8" name="Shape 6"/>
          <p:cNvSpPr/>
          <p:nvPr/>
        </p:nvSpPr>
        <p:spPr>
          <a:xfrm>
            <a:off x="566928" y="2423160"/>
            <a:ext cx="182880" cy="182880"/>
          </a:xfrm>
          <a:prstGeom prst="ellipse">
            <a:avLst/>
          </a:prstGeom>
          <a:solidFill>
            <a:srgbClr val="FFFFFF"/>
          </a:solidFill>
          <a:ln w="19050">
            <a:solidFill>
              <a:srgbClr val="3A4353"/>
            </a:solidFill>
            <a:prstDash val="solid"/>
          </a:ln>
        </p:spPr>
      </p:sp>
      <p:sp>
        <p:nvSpPr>
          <p:cNvPr id="9" name="Text 7"/>
          <p:cNvSpPr txBox="1"/>
          <p:nvPr/>
        </p:nvSpPr>
        <p:spPr>
          <a:xfrm>
            <a:off x="978408" y="2331720"/>
            <a:ext cx="5029200" cy="320040"/>
          </a:xfrm>
          <a:prstGeom prst="rect">
            <a:avLst/>
          </a:prstGeom>
          <a:noFill/>
          <a:ln/>
        </p:spPr>
        <p:txBody>
          <a:bodyPr wrap="square" lIns="0" tIns="0" rIns="0" bIns="0" rtlCol="0" anchor="ctr"/>
          <a:lstStyle/>
          <a:p>
            <a:pPr indent="0" marL="0">
              <a:buNone/>
            </a:pPr>
            <a:r>
              <a:rPr lang="en-US" sz="1800" b="1" dirty="0">
                <a:solidFill>
                  <a:srgbClr val="1B2433"/>
                </a:solidFill>
                <a:latin typeface="Calibri" pitchFamily="34" charset="0"/>
                <a:ea typeface="Calibri" pitchFamily="34" charset="-122"/>
                <a:cs typeface="Calibri" pitchFamily="34" charset="-120"/>
              </a:rPr>
              <a:t>Contact</a:t>
            </a:r>
            <a:endParaRPr lang="en-US" sz="1800" dirty="0"/>
          </a:p>
        </p:txBody>
      </p:sp>
      <p:sp>
        <p:nvSpPr>
          <p:cNvPr id="10" name="Text 8"/>
          <p:cNvSpPr txBox="1"/>
          <p:nvPr/>
        </p:nvSpPr>
        <p:spPr>
          <a:xfrm>
            <a:off x="978408" y="2651760"/>
            <a:ext cx="5120640" cy="365760"/>
          </a:xfrm>
          <a:prstGeom prst="rect">
            <a:avLst/>
          </a:prstGeom>
          <a:noFill/>
          <a:ln/>
        </p:spPr>
        <p:txBody>
          <a:bodyPr wrap="square" lIns="0" tIns="0" rIns="0" bIns="0" rtlCol="0" anchor="t"/>
          <a:lstStyle/>
          <a:p>
            <a:pPr indent="0" marL="0">
              <a:spcAft>
                <a:spcPts val="400"/>
              </a:spcAft>
              <a:buNone/>
            </a:pPr>
            <a:r>
              <a:rPr lang="en-US" sz="1400" dirty="0">
                <a:solidFill>
                  <a:srgbClr val="3A4353"/>
                </a:solidFill>
                <a:latin typeface="Calibri" pitchFamily="34" charset="0"/>
                <a:ea typeface="Calibri" pitchFamily="34" charset="-122"/>
                <a:cs typeface="Calibri" pitchFamily="34" charset="-120"/>
              </a:rPr>
              <a:t>A fake “CBI officer” video-calls about a money-laundering case</a:t>
            </a:r>
            <a:endParaRPr lang="en-US" sz="1400" dirty="0"/>
          </a:p>
        </p:txBody>
      </p:sp>
      <p:sp>
        <p:nvSpPr>
          <p:cNvPr id="11" name="Shape 9"/>
          <p:cNvSpPr/>
          <p:nvPr/>
        </p:nvSpPr>
        <p:spPr>
          <a:xfrm>
            <a:off x="566928" y="3291840"/>
            <a:ext cx="182880" cy="182880"/>
          </a:xfrm>
          <a:prstGeom prst="ellipse">
            <a:avLst/>
          </a:prstGeom>
          <a:solidFill>
            <a:srgbClr val="FFFFFF"/>
          </a:solidFill>
          <a:ln w="19050">
            <a:solidFill>
              <a:srgbClr val="3A4353"/>
            </a:solidFill>
            <a:prstDash val="solid"/>
          </a:ln>
        </p:spPr>
      </p:sp>
      <p:sp>
        <p:nvSpPr>
          <p:cNvPr id="12" name="Text 10"/>
          <p:cNvSpPr txBox="1"/>
          <p:nvPr/>
        </p:nvSpPr>
        <p:spPr>
          <a:xfrm>
            <a:off x="978408" y="3200400"/>
            <a:ext cx="5029200" cy="320040"/>
          </a:xfrm>
          <a:prstGeom prst="rect">
            <a:avLst/>
          </a:prstGeom>
          <a:noFill/>
          <a:ln/>
        </p:spPr>
        <p:txBody>
          <a:bodyPr wrap="square" lIns="0" tIns="0" rIns="0" bIns="0" rtlCol="0" anchor="ctr"/>
          <a:lstStyle/>
          <a:p>
            <a:pPr indent="0" marL="0">
              <a:buNone/>
            </a:pPr>
            <a:r>
              <a:rPr lang="en-US" sz="1800" b="1" dirty="0">
                <a:solidFill>
                  <a:srgbClr val="1B2433"/>
                </a:solidFill>
                <a:latin typeface="Calibri" pitchFamily="34" charset="0"/>
                <a:ea typeface="Calibri" pitchFamily="34" charset="-122"/>
                <a:cs typeface="Calibri" pitchFamily="34" charset="-120"/>
              </a:rPr>
              <a:t>Control</a:t>
            </a:r>
            <a:endParaRPr lang="en-US" sz="1800" dirty="0"/>
          </a:p>
        </p:txBody>
      </p:sp>
      <p:sp>
        <p:nvSpPr>
          <p:cNvPr id="13" name="Text 11"/>
          <p:cNvSpPr txBox="1"/>
          <p:nvPr/>
        </p:nvSpPr>
        <p:spPr>
          <a:xfrm>
            <a:off x="978408" y="3520440"/>
            <a:ext cx="5120640" cy="365760"/>
          </a:xfrm>
          <a:prstGeom prst="rect">
            <a:avLst/>
          </a:prstGeom>
          <a:noFill/>
          <a:ln/>
        </p:spPr>
        <p:txBody>
          <a:bodyPr wrap="square" lIns="0" tIns="0" rIns="0" bIns="0" rtlCol="0" anchor="t"/>
          <a:lstStyle/>
          <a:p>
            <a:pPr indent="0" marL="0">
              <a:spcAft>
                <a:spcPts val="400"/>
              </a:spcAft>
              <a:buNone/>
            </a:pPr>
            <a:r>
              <a:rPr lang="en-US" sz="1400" dirty="0">
                <a:solidFill>
                  <a:srgbClr val="3A4353"/>
                </a:solidFill>
                <a:latin typeface="Calibri" pitchFamily="34" charset="0"/>
                <a:ea typeface="Calibri" pitchFamily="34" charset="-122"/>
                <a:cs typeface="Calibri" pitchFamily="34" charset="-120"/>
              </a:rPr>
              <a:t>She is told to install a screen-sharing app “for verification”</a:t>
            </a:r>
            <a:endParaRPr lang="en-US" sz="1400" dirty="0"/>
          </a:p>
        </p:txBody>
      </p:sp>
      <p:sp>
        <p:nvSpPr>
          <p:cNvPr id="14" name="Shape 12"/>
          <p:cNvSpPr/>
          <p:nvPr/>
        </p:nvSpPr>
        <p:spPr>
          <a:xfrm>
            <a:off x="566928" y="4160520"/>
            <a:ext cx="182880" cy="182880"/>
          </a:xfrm>
          <a:prstGeom prst="ellipse">
            <a:avLst/>
          </a:prstGeom>
          <a:solidFill>
            <a:srgbClr val="FFFFFF"/>
          </a:solidFill>
          <a:ln w="19050">
            <a:solidFill>
              <a:srgbClr val="3A4353"/>
            </a:solidFill>
            <a:prstDash val="solid"/>
          </a:ln>
        </p:spPr>
      </p:sp>
      <p:sp>
        <p:nvSpPr>
          <p:cNvPr id="15" name="Text 13"/>
          <p:cNvSpPr txBox="1"/>
          <p:nvPr/>
        </p:nvSpPr>
        <p:spPr>
          <a:xfrm>
            <a:off x="978408" y="4069080"/>
            <a:ext cx="5029200" cy="320040"/>
          </a:xfrm>
          <a:prstGeom prst="rect">
            <a:avLst/>
          </a:prstGeom>
          <a:noFill/>
          <a:ln/>
        </p:spPr>
        <p:txBody>
          <a:bodyPr wrap="square" lIns="0" tIns="0" rIns="0" bIns="0" rtlCol="0" anchor="ctr"/>
          <a:lstStyle/>
          <a:p>
            <a:pPr indent="0" marL="0">
              <a:buNone/>
            </a:pPr>
            <a:r>
              <a:rPr lang="en-US" sz="1800" b="1" dirty="0">
                <a:solidFill>
                  <a:srgbClr val="1B2433"/>
                </a:solidFill>
                <a:latin typeface="Calibri" pitchFamily="34" charset="0"/>
                <a:ea typeface="Calibri" pitchFamily="34" charset="-122"/>
                <a:cs typeface="Calibri" pitchFamily="34" charset="-120"/>
              </a:rPr>
              <a:t>Money extraction</a:t>
            </a:r>
            <a:endParaRPr lang="en-US" sz="1800" dirty="0"/>
          </a:p>
        </p:txBody>
      </p:sp>
      <p:sp>
        <p:nvSpPr>
          <p:cNvPr id="16" name="Text 14"/>
          <p:cNvSpPr txBox="1"/>
          <p:nvPr/>
        </p:nvSpPr>
        <p:spPr>
          <a:xfrm>
            <a:off x="978408" y="4389120"/>
            <a:ext cx="5120640" cy="365760"/>
          </a:xfrm>
          <a:prstGeom prst="rect">
            <a:avLst/>
          </a:prstGeom>
          <a:noFill/>
          <a:ln/>
        </p:spPr>
        <p:txBody>
          <a:bodyPr wrap="square" lIns="0" tIns="0" rIns="0" bIns="0" rtlCol="0" anchor="t"/>
          <a:lstStyle/>
          <a:p>
            <a:pPr indent="0" marL="0">
              <a:spcAft>
                <a:spcPts val="400"/>
              </a:spcAft>
              <a:buNone/>
            </a:pPr>
            <a:r>
              <a:rPr lang="en-US" sz="1400" dirty="0">
                <a:solidFill>
                  <a:srgbClr val="3A4353"/>
                </a:solidFill>
                <a:latin typeface="Calibri" pitchFamily="34" charset="0"/>
                <a:ea typeface="Calibri" pitchFamily="34" charset="-122"/>
                <a:cs typeface="Calibri" pitchFamily="34" charset="-120"/>
              </a:rPr>
              <a:t>She breaks a fixed deposit and types in a new payee</a:t>
            </a:r>
            <a:endParaRPr lang="en-US" sz="1400" dirty="0"/>
          </a:p>
        </p:txBody>
      </p:sp>
      <p:sp>
        <p:nvSpPr>
          <p:cNvPr id="17" name="Shape 15"/>
          <p:cNvSpPr/>
          <p:nvPr/>
        </p:nvSpPr>
        <p:spPr>
          <a:xfrm>
            <a:off x="566928" y="5029200"/>
            <a:ext cx="182880" cy="182880"/>
          </a:xfrm>
          <a:prstGeom prst="ellipse">
            <a:avLst/>
          </a:prstGeom>
          <a:solidFill>
            <a:srgbClr val="D9480F"/>
          </a:solidFill>
          <a:ln w="19050">
            <a:solidFill>
              <a:srgbClr val="D9480F"/>
            </a:solidFill>
            <a:prstDash val="solid"/>
          </a:ln>
        </p:spPr>
      </p:sp>
      <p:sp>
        <p:nvSpPr>
          <p:cNvPr id="18" name="Text 16"/>
          <p:cNvSpPr txBox="1"/>
          <p:nvPr/>
        </p:nvSpPr>
        <p:spPr>
          <a:xfrm>
            <a:off x="978408" y="4937760"/>
            <a:ext cx="5029200" cy="320040"/>
          </a:xfrm>
          <a:prstGeom prst="rect">
            <a:avLst/>
          </a:prstGeom>
          <a:noFill/>
          <a:ln/>
        </p:spPr>
        <p:txBody>
          <a:bodyPr wrap="square" lIns="0" tIns="0" rIns="0" bIns="0" rtlCol="0" anchor="ctr"/>
          <a:lstStyle/>
          <a:p>
            <a:pPr indent="0" marL="0">
              <a:buNone/>
            </a:pPr>
            <a:r>
              <a:rPr lang="en-US" sz="1800" b="1" dirty="0">
                <a:solidFill>
                  <a:srgbClr val="D9480F"/>
                </a:solidFill>
                <a:latin typeface="Calibri" pitchFamily="34" charset="0"/>
                <a:ea typeface="Calibri" pitchFamily="34" charset="-122"/>
                <a:cs typeface="Calibri" pitchFamily="34" charset="-120"/>
              </a:rPr>
              <a:t>She pays</a:t>
            </a:r>
            <a:endParaRPr lang="en-US" sz="1800" dirty="0"/>
          </a:p>
        </p:txBody>
      </p:sp>
      <p:sp>
        <p:nvSpPr>
          <p:cNvPr id="19" name="Text 17"/>
          <p:cNvSpPr txBox="1"/>
          <p:nvPr/>
        </p:nvSpPr>
        <p:spPr>
          <a:xfrm>
            <a:off x="978408" y="5257800"/>
            <a:ext cx="5120640" cy="365760"/>
          </a:xfrm>
          <a:prstGeom prst="rect">
            <a:avLst/>
          </a:prstGeom>
          <a:noFill/>
          <a:ln/>
        </p:spPr>
        <p:txBody>
          <a:bodyPr wrap="square" lIns="0" tIns="0" rIns="0" bIns="0" rtlCol="0" anchor="t"/>
          <a:lstStyle/>
          <a:p>
            <a:pPr indent="0" marL="0">
              <a:spcAft>
                <a:spcPts val="400"/>
              </a:spcAft>
              <a:buNone/>
            </a:pPr>
            <a:r>
              <a:rPr lang="en-US" sz="1400" dirty="0">
                <a:solidFill>
                  <a:srgbClr val="3A4353"/>
                </a:solidFill>
                <a:latin typeface="Calibri" pitchFamily="34" charset="0"/>
                <a:ea typeface="Calibri" pitchFamily="34" charset="-122"/>
                <a:cs typeface="Calibri" pitchFamily="34" charset="-120"/>
              </a:rPr>
              <a:t>₹2,50,000 to a personal UPI ID</a:t>
            </a:r>
            <a:endParaRPr lang="en-US" sz="1400" dirty="0"/>
          </a:p>
        </p:txBody>
      </p:sp>
      <p:sp>
        <p:nvSpPr>
          <p:cNvPr id="20" name="Shape 18"/>
          <p:cNvSpPr/>
          <p:nvPr/>
        </p:nvSpPr>
        <p:spPr>
          <a:xfrm>
            <a:off x="6172200" y="2331720"/>
            <a:ext cx="0" cy="2240280"/>
          </a:xfrm>
          <a:prstGeom prst="line">
            <a:avLst/>
          </a:prstGeom>
          <a:noFill/>
          <a:ln w="15875">
            <a:solidFill>
              <a:srgbClr val="D9DCE1"/>
            </a:solidFill>
            <a:prstDash val="solid"/>
          </a:ln>
        </p:spPr>
      </p:sp>
      <p:sp>
        <p:nvSpPr>
          <p:cNvPr id="21" name="Text 19"/>
          <p:cNvSpPr txBox="1"/>
          <p:nvPr/>
        </p:nvSpPr>
        <p:spPr>
          <a:xfrm>
            <a:off x="6355080" y="3200400"/>
            <a:ext cx="2103120" cy="548640"/>
          </a:xfrm>
          <a:prstGeom prst="rect">
            <a:avLst/>
          </a:prstGeom>
          <a:noFill/>
          <a:ln/>
        </p:spPr>
        <p:txBody>
          <a:bodyPr wrap="square" lIns="0" tIns="0" rIns="0" bIns="0" rtlCol="0" anchor="t"/>
          <a:lstStyle/>
          <a:p>
            <a:pPr indent="0" marL="0">
              <a:spcAft>
                <a:spcPts val="400"/>
              </a:spcAft>
              <a:buNone/>
            </a:pPr>
            <a:r>
              <a:rPr lang="en-US" sz="1300" dirty="0">
                <a:solidFill>
                  <a:srgbClr val="6E747E"/>
                </a:solidFill>
                <a:latin typeface="Calibri" pitchFamily="34" charset="0"/>
                <a:ea typeface="Calibri" pitchFamily="34" charset="-122"/>
                <a:cs typeface="Calibri" pitchFamily="34" charset="-120"/>
              </a:rPr>
              <a:t>A payment-level check</a:t>
            </a:r>
            <a:endParaRPr lang="en-US" sz="1300" dirty="0"/>
          </a:p>
          <a:p>
            <a:pPr indent="0" marL="0">
              <a:spcAft>
                <a:spcPts val="400"/>
              </a:spcAft>
              <a:buNone/>
            </a:pPr>
            <a:r>
              <a:rPr lang="en-US" sz="1300" dirty="0">
                <a:solidFill>
                  <a:srgbClr val="6E747E"/>
                </a:solidFill>
                <a:latin typeface="Calibri" pitchFamily="34" charset="0"/>
                <a:ea typeface="Calibri" pitchFamily="34" charset="-122"/>
                <a:cs typeface="Calibri" pitchFamily="34" charset="-120"/>
              </a:rPr>
              <a:t>does not see these steps</a:t>
            </a:r>
            <a:endParaRPr lang="en-US" sz="1300" dirty="0"/>
          </a:p>
        </p:txBody>
      </p:sp>
      <p:sp>
        <p:nvSpPr>
          <p:cNvPr id="22" name="Shape 20"/>
          <p:cNvSpPr/>
          <p:nvPr/>
        </p:nvSpPr>
        <p:spPr>
          <a:xfrm>
            <a:off x="6172200" y="4892040"/>
            <a:ext cx="0" cy="548640"/>
          </a:xfrm>
          <a:prstGeom prst="line">
            <a:avLst/>
          </a:prstGeom>
          <a:noFill/>
          <a:ln w="19050">
            <a:solidFill>
              <a:srgbClr val="D9480F"/>
            </a:solidFill>
            <a:prstDash val="solid"/>
          </a:ln>
        </p:spPr>
      </p:sp>
      <p:sp>
        <p:nvSpPr>
          <p:cNvPr id="23" name="Text 21"/>
          <p:cNvSpPr txBox="1"/>
          <p:nvPr/>
        </p:nvSpPr>
        <p:spPr>
          <a:xfrm>
            <a:off x="6355080" y="4937760"/>
            <a:ext cx="2103120" cy="548640"/>
          </a:xfrm>
          <a:prstGeom prst="rect">
            <a:avLst/>
          </a:prstGeom>
          <a:noFill/>
          <a:ln/>
        </p:spPr>
        <p:txBody>
          <a:bodyPr wrap="square" lIns="0" tIns="0" rIns="0" bIns="0" rtlCol="0" anchor="t"/>
          <a:lstStyle/>
          <a:p>
            <a:pPr indent="0" marL="0">
              <a:spcAft>
                <a:spcPts val="400"/>
              </a:spcAft>
              <a:buNone/>
            </a:pPr>
            <a:r>
              <a:rPr lang="en-US" sz="1300" dirty="0">
                <a:solidFill>
                  <a:srgbClr val="D9480F"/>
                </a:solidFill>
                <a:latin typeface="Calibri" pitchFamily="34" charset="0"/>
                <a:ea typeface="Calibri" pitchFamily="34" charset="-122"/>
                <a:cs typeface="Calibri" pitchFamily="34" charset="-120"/>
              </a:rPr>
              <a:t>This is the only step</a:t>
            </a:r>
            <a:endParaRPr lang="en-US" sz="1300" dirty="0"/>
          </a:p>
          <a:p>
            <a:pPr indent="0" marL="0">
              <a:spcAft>
                <a:spcPts val="400"/>
              </a:spcAft>
              <a:buNone/>
            </a:pPr>
            <a:r>
              <a:rPr lang="en-US" sz="1300" dirty="0">
                <a:solidFill>
                  <a:srgbClr val="D9480F"/>
                </a:solidFill>
                <a:latin typeface="Calibri" pitchFamily="34" charset="0"/>
                <a:ea typeface="Calibri" pitchFamily="34" charset="-122"/>
                <a:cs typeface="Calibri" pitchFamily="34" charset="-120"/>
              </a:rPr>
              <a:t>it checks</a:t>
            </a:r>
            <a:endParaRPr lang="en-US" sz="1300" dirty="0"/>
          </a:p>
        </p:txBody>
      </p:sp>
      <p:sp>
        <p:nvSpPr>
          <p:cNvPr id="24" name="Text 22"/>
          <p:cNvSpPr txBox="1"/>
          <p:nvPr/>
        </p:nvSpPr>
        <p:spPr>
          <a:xfrm>
            <a:off x="8778240" y="2377440"/>
            <a:ext cx="2926080" cy="731520"/>
          </a:xfrm>
          <a:prstGeom prst="rect">
            <a:avLst/>
          </a:prstGeom>
          <a:noFill/>
          <a:ln/>
        </p:spPr>
        <p:txBody>
          <a:bodyPr wrap="square" lIns="0" tIns="0" rIns="0" bIns="0" rtlCol="0" anchor="ctr"/>
          <a:lstStyle/>
          <a:p>
            <a:pPr indent="0" marL="0">
              <a:buNone/>
            </a:pPr>
            <a:r>
              <a:rPr lang="en-US" sz="4000" b="1" dirty="0">
                <a:solidFill>
                  <a:srgbClr val="1B2433"/>
                </a:solidFill>
                <a:latin typeface="Cambria" pitchFamily="34" charset="0"/>
                <a:ea typeface="Cambria" pitchFamily="34" charset="-122"/>
                <a:cs typeface="Cambria" pitchFamily="34" charset="-120"/>
              </a:rPr>
              <a:t>₹22,845 cr</a:t>
            </a:r>
            <a:endParaRPr lang="en-US" sz="4000" dirty="0"/>
          </a:p>
        </p:txBody>
      </p:sp>
      <p:sp>
        <p:nvSpPr>
          <p:cNvPr id="25" name="Text 23"/>
          <p:cNvSpPr txBox="1"/>
          <p:nvPr/>
        </p:nvSpPr>
        <p:spPr>
          <a:xfrm>
            <a:off x="8778240" y="3108960"/>
            <a:ext cx="2926080" cy="320040"/>
          </a:xfrm>
          <a:prstGeom prst="rect">
            <a:avLst/>
          </a:prstGeom>
          <a:noFill/>
          <a:ln/>
        </p:spPr>
        <p:txBody>
          <a:bodyPr wrap="square" lIns="0" tIns="0" rIns="0" bIns="0" rtlCol="0" anchor="t"/>
          <a:lstStyle/>
          <a:p>
            <a:pPr indent="0" marL="0">
              <a:spcAft>
                <a:spcPts val="400"/>
              </a:spcAft>
              <a:buNone/>
            </a:pPr>
            <a:r>
              <a:rPr lang="en-US" sz="1400" dirty="0">
                <a:solidFill>
                  <a:srgbClr val="3A4353"/>
                </a:solidFill>
                <a:latin typeface="Calibri" pitchFamily="34" charset="0"/>
                <a:ea typeface="Calibri" pitchFamily="34" charset="-122"/>
                <a:cs typeface="Calibri" pitchFamily="34" charset="-120"/>
              </a:rPr>
              <a:t>lost to cyber fraud in India in 2024</a:t>
            </a:r>
            <a:endParaRPr lang="en-US" sz="1400" dirty="0"/>
          </a:p>
        </p:txBody>
      </p:sp>
      <p:sp>
        <p:nvSpPr>
          <p:cNvPr id="26" name="Text 24"/>
          <p:cNvSpPr txBox="1"/>
          <p:nvPr/>
        </p:nvSpPr>
        <p:spPr>
          <a:xfrm>
            <a:off x="8778240" y="3657600"/>
            <a:ext cx="2926080" cy="731520"/>
          </a:xfrm>
          <a:prstGeom prst="rect">
            <a:avLst/>
          </a:prstGeom>
          <a:noFill/>
          <a:ln/>
        </p:spPr>
        <p:txBody>
          <a:bodyPr wrap="square" lIns="0" tIns="0" rIns="0" bIns="0" rtlCol="0" anchor="ctr"/>
          <a:lstStyle/>
          <a:p>
            <a:pPr indent="0" marL="0">
              <a:buNone/>
            </a:pPr>
            <a:r>
              <a:rPr lang="en-US" sz="4000" b="1" dirty="0">
                <a:solidFill>
                  <a:srgbClr val="1B2433"/>
                </a:solidFill>
                <a:latin typeface="Cambria" pitchFamily="34" charset="0"/>
                <a:ea typeface="Cambria" pitchFamily="34" charset="-122"/>
                <a:cs typeface="Cambria" pitchFamily="34" charset="-120"/>
              </a:rPr>
              <a:t>36.37 lakh</a:t>
            </a:r>
            <a:endParaRPr lang="en-US" sz="4000" dirty="0"/>
          </a:p>
        </p:txBody>
      </p:sp>
      <p:sp>
        <p:nvSpPr>
          <p:cNvPr id="27" name="Text 25"/>
          <p:cNvSpPr txBox="1"/>
          <p:nvPr/>
        </p:nvSpPr>
        <p:spPr>
          <a:xfrm>
            <a:off x="8778240" y="4389120"/>
            <a:ext cx="2926080" cy="320040"/>
          </a:xfrm>
          <a:prstGeom prst="rect">
            <a:avLst/>
          </a:prstGeom>
          <a:noFill/>
          <a:ln/>
        </p:spPr>
        <p:txBody>
          <a:bodyPr wrap="square" lIns="0" tIns="0" rIns="0" bIns="0" rtlCol="0" anchor="t"/>
          <a:lstStyle/>
          <a:p>
            <a:pPr indent="0" marL="0">
              <a:spcAft>
                <a:spcPts val="400"/>
              </a:spcAft>
              <a:buNone/>
            </a:pPr>
            <a:r>
              <a:rPr lang="en-US" sz="1400" dirty="0">
                <a:solidFill>
                  <a:srgbClr val="3A4353"/>
                </a:solidFill>
                <a:latin typeface="Calibri" pitchFamily="34" charset="0"/>
                <a:ea typeface="Calibri" pitchFamily="34" charset="-122"/>
                <a:cs typeface="Calibri" pitchFamily="34" charset="-120"/>
              </a:rPr>
              <a:t>complaints filed in 2024</a:t>
            </a:r>
            <a:endParaRPr lang="en-US" sz="1400" dirty="0"/>
          </a:p>
        </p:txBody>
      </p:sp>
      <p:sp>
        <p:nvSpPr>
          <p:cNvPr id="28" name="Text 26"/>
          <p:cNvSpPr txBox="1"/>
          <p:nvPr/>
        </p:nvSpPr>
        <p:spPr>
          <a:xfrm>
            <a:off x="8778240" y="4892040"/>
            <a:ext cx="2926080" cy="502920"/>
          </a:xfrm>
          <a:prstGeom prst="rect">
            <a:avLst/>
          </a:prstGeom>
          <a:noFill/>
          <a:ln/>
        </p:spPr>
        <p:txBody>
          <a:bodyPr wrap="square" lIns="0" tIns="0" rIns="0" bIns="0" rtlCol="0" anchor="t"/>
          <a:lstStyle/>
          <a:p>
            <a:pPr indent="0" marL="0">
              <a:spcAft>
                <a:spcPts val="400"/>
              </a:spcAft>
              <a:buNone/>
            </a:pPr>
            <a:r>
              <a:rPr lang="en-US" sz="1100" dirty="0">
                <a:solidFill>
                  <a:srgbClr val="6E747E"/>
                </a:solidFill>
                <a:latin typeface="Calibri" pitchFamily="34" charset="0"/>
                <a:ea typeface="Calibri" pitchFamily="34" charset="-122"/>
                <a:cs typeface="Calibri" pitchFamily="34" charset="-120"/>
              </a:rPr>
              <a:t>Source: Ministry of Home Affairs, reply in Lok Sabha, July 2025 (NCRP and CFCFRMS data).</a:t>
            </a:r>
            <a:endParaRPr lang="en-US" sz="1100" dirty="0"/>
          </a:p>
        </p:txBody>
      </p:sp>
      <p:sp>
        <p:nvSpPr>
          <p:cNvPr id="29" name="Text 27"/>
          <p:cNvSpPr txBox="1"/>
          <p:nvPr/>
        </p:nvSpPr>
        <p:spPr>
          <a:xfrm>
            <a:off x="548640" y="5897880"/>
            <a:ext cx="9144000" cy="365760"/>
          </a:xfrm>
          <a:prstGeom prst="rect">
            <a:avLst/>
          </a:prstGeom>
          <a:noFill/>
          <a:ln/>
        </p:spPr>
        <p:txBody>
          <a:bodyPr wrap="square" lIns="0" tIns="0" rIns="0" bIns="0" rtlCol="0" anchor="ctr"/>
          <a:lstStyle/>
          <a:p>
            <a:pPr indent="0" marL="0">
              <a:buNone/>
            </a:pPr>
            <a:r>
              <a:rPr lang="en-US" sz="1700" i="1" dirty="0">
                <a:solidFill>
                  <a:srgbClr val="1B2433"/>
                </a:solidFill>
                <a:latin typeface="Cambria" pitchFamily="34" charset="0"/>
                <a:ea typeface="Cambria" pitchFamily="34" charset="-122"/>
                <a:cs typeface="Cambria" pitchFamily="34" charset="-120"/>
              </a:rPr>
              <a:t>Our idea: use the steps before the payment as evidence, not just the payment.</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11A2B"/>
        </a:solidFill>
      </p:bgPr>
    </p:bg>
    <p:spTree>
      <p:nvGrpSpPr>
        <p:cNvPr id="1" name=""/>
        <p:cNvGrpSpPr/>
        <p:nvPr/>
      </p:nvGrpSpPr>
      <p:grpSpPr>
        <a:xfrm>
          <a:off x="0" y="0"/>
          <a:ext cx="0" cy="0"/>
          <a:chOff x="0" y="0"/>
          <a:chExt cx="0" cy="0"/>
        </a:xfrm>
      </p:grpSpPr>
      <p:sp>
        <p:nvSpPr>
          <p:cNvPr id="2" name="Text 0"/>
          <p:cNvSpPr txBox="1"/>
          <p:nvPr/>
        </p:nvSpPr>
        <p:spPr>
          <a:xfrm>
            <a:off x="548640" y="256032"/>
            <a:ext cx="5486400" cy="274320"/>
          </a:xfrm>
          <a:prstGeom prst="rect">
            <a:avLst/>
          </a:prstGeom>
          <a:noFill/>
          <a:ln/>
        </p:spPr>
        <p:txBody>
          <a:bodyPr wrap="square" lIns="0" tIns="0" rIns="0" bIns="0" rtlCol="0" anchor="ctr"/>
          <a:lstStyle/>
          <a:p>
            <a:pPr indent="0" marL="0">
              <a:buNone/>
            </a:pPr>
            <a:r>
              <a:rPr lang="en-US" sz="1100" dirty="0">
                <a:solidFill>
                  <a:srgbClr val="8E97A6"/>
                </a:solidFill>
                <a:latin typeface="Calibri" pitchFamily="34" charset="0"/>
                <a:ea typeface="Calibri" pitchFamily="34" charset="-122"/>
                <a:cs typeface="Calibri" pitchFamily="34" charset="-120"/>
              </a:rPr>
              <a:t>2  ·  Idea</a:t>
            </a:r>
            <a:endParaRPr lang="en-US" sz="1100" dirty="0"/>
          </a:p>
        </p:txBody>
      </p:sp>
      <p:sp>
        <p:nvSpPr>
          <p:cNvPr id="3" name="Text 1"/>
          <p:cNvSpPr txBox="1"/>
          <p:nvPr/>
        </p:nvSpPr>
        <p:spPr>
          <a:xfrm>
            <a:off x="8899855" y="256032"/>
            <a:ext cx="2743200" cy="274320"/>
          </a:xfrm>
          <a:prstGeom prst="rect">
            <a:avLst/>
          </a:prstGeom>
          <a:noFill/>
          <a:ln/>
        </p:spPr>
        <p:txBody>
          <a:bodyPr wrap="square" lIns="0" tIns="0" rIns="0" bIns="0" rtlCol="0" anchor="ctr"/>
          <a:lstStyle/>
          <a:p>
            <a:pPr algn="r" indent="0" marL="0">
              <a:buNone/>
            </a:pPr>
            <a:r>
              <a:rPr lang="en-US" sz="1100" dirty="0">
                <a:solidFill>
                  <a:srgbClr val="8E97A6"/>
                </a:solidFill>
                <a:latin typeface="Calibri" pitchFamily="34" charset="0"/>
                <a:ea typeface="Calibri" pitchFamily="34" charset="-122"/>
                <a:cs typeface="Calibri" pitchFamily="34" charset="-120"/>
              </a:rPr>
              <a:t>Chakravyuh</a:t>
            </a:r>
            <a:endParaRPr lang="en-US" sz="1100" dirty="0"/>
          </a:p>
        </p:txBody>
      </p:sp>
      <p:sp>
        <p:nvSpPr>
          <p:cNvPr id="4" name="Text 2"/>
          <p:cNvSpPr txBox="1"/>
          <p:nvPr/>
        </p:nvSpPr>
        <p:spPr>
          <a:xfrm>
            <a:off x="9814255" y="6446520"/>
            <a:ext cx="1828800" cy="228600"/>
          </a:xfrm>
          <a:prstGeom prst="rect">
            <a:avLst/>
          </a:prstGeom>
          <a:noFill/>
          <a:ln/>
        </p:spPr>
        <p:txBody>
          <a:bodyPr wrap="square" lIns="0" tIns="0" rIns="0" bIns="0" rtlCol="0" anchor="ctr"/>
          <a:lstStyle/>
          <a:p>
            <a:pPr algn="r" indent="0" marL="0">
              <a:buNone/>
            </a:pPr>
            <a:r>
              <a:rPr lang="en-US" sz="1000" dirty="0">
                <a:solidFill>
                  <a:srgbClr val="8E97A6"/>
                </a:solidFill>
                <a:latin typeface="Calibri" pitchFamily="34" charset="0"/>
                <a:ea typeface="Calibri" pitchFamily="34" charset="-122"/>
                <a:cs typeface="Calibri" pitchFamily="34" charset="-120"/>
              </a:rPr>
              <a:t>3 / 16</a:t>
            </a:r>
            <a:endParaRPr lang="en-US" sz="1000" dirty="0"/>
          </a:p>
        </p:txBody>
      </p:sp>
      <p:sp>
        <p:nvSpPr>
          <p:cNvPr id="5" name="Text 3"/>
          <p:cNvSpPr txBox="1"/>
          <p:nvPr/>
        </p:nvSpPr>
        <p:spPr>
          <a:xfrm>
            <a:off x="548640" y="640080"/>
            <a:ext cx="11094415" cy="731520"/>
          </a:xfrm>
          <a:prstGeom prst="rect">
            <a:avLst/>
          </a:prstGeom>
          <a:noFill/>
          <a:ln/>
        </p:spPr>
        <p:txBody>
          <a:bodyPr wrap="square" lIns="0" tIns="0" rIns="0" bIns="0" rtlCol="0" anchor="t"/>
          <a:lstStyle/>
          <a:p>
            <a:pPr indent="0" marL="0">
              <a:buNone/>
            </a:pPr>
            <a:r>
              <a:rPr lang="en-US" sz="3400" b="1" dirty="0">
                <a:solidFill>
                  <a:srgbClr val="ECE8E0"/>
                </a:solidFill>
                <a:latin typeface="Cambria" pitchFamily="34" charset="0"/>
                <a:ea typeface="Cambria" pitchFamily="34" charset="-122"/>
                <a:cs typeface="Cambria" pitchFamily="34" charset="-120"/>
              </a:rPr>
              <a:t>A scam has four stages. We look for all of them.</a:t>
            </a:r>
            <a:endParaRPr lang="en-US" sz="3400" dirty="0"/>
          </a:p>
        </p:txBody>
      </p:sp>
      <p:sp>
        <p:nvSpPr>
          <p:cNvPr id="6" name="Shape 4"/>
          <p:cNvSpPr/>
          <p:nvPr/>
        </p:nvSpPr>
        <p:spPr>
          <a:xfrm>
            <a:off x="548640" y="1965960"/>
            <a:ext cx="11094415" cy="0"/>
          </a:xfrm>
          <a:prstGeom prst="line">
            <a:avLst/>
          </a:prstGeom>
          <a:noFill/>
          <a:ln w="15875">
            <a:solidFill>
              <a:srgbClr val="ECE8E0"/>
            </a:solidFill>
            <a:prstDash val="solid"/>
          </a:ln>
        </p:spPr>
      </p:sp>
      <p:sp>
        <p:nvSpPr>
          <p:cNvPr id="7" name="Shape 5"/>
          <p:cNvSpPr/>
          <p:nvPr/>
        </p:nvSpPr>
        <p:spPr>
          <a:xfrm>
            <a:off x="548640" y="1874520"/>
            <a:ext cx="182880" cy="182880"/>
          </a:xfrm>
          <a:prstGeom prst="ellipse">
            <a:avLst/>
          </a:prstGeom>
          <a:solidFill>
            <a:srgbClr val="111A2B"/>
          </a:solidFill>
          <a:ln w="19050">
            <a:solidFill>
              <a:srgbClr val="ECE8E0"/>
            </a:solidFill>
            <a:prstDash val="solid"/>
          </a:ln>
        </p:spPr>
      </p:sp>
      <p:sp>
        <p:nvSpPr>
          <p:cNvPr id="8" name="Text 6"/>
          <p:cNvSpPr txBox="1"/>
          <p:nvPr/>
        </p:nvSpPr>
        <p:spPr>
          <a:xfrm>
            <a:off x="548640" y="2240280"/>
            <a:ext cx="914400" cy="228600"/>
          </a:xfrm>
          <a:prstGeom prst="rect">
            <a:avLst/>
          </a:prstGeom>
          <a:noFill/>
          <a:ln/>
        </p:spPr>
        <p:txBody>
          <a:bodyPr wrap="square" lIns="0" tIns="0" rIns="0" bIns="0" rtlCol="0" anchor="ctr"/>
          <a:lstStyle/>
          <a:p>
            <a:pPr indent="0" marL="0">
              <a:buNone/>
            </a:pPr>
            <a:r>
              <a:rPr lang="en-US" sz="1100" dirty="0">
                <a:solidFill>
                  <a:srgbClr val="8E97A6"/>
                </a:solidFill>
                <a:latin typeface="Calibri" pitchFamily="34" charset="0"/>
                <a:ea typeface="Calibri" pitchFamily="34" charset="-122"/>
                <a:cs typeface="Calibri" pitchFamily="34" charset="-120"/>
              </a:rPr>
              <a:t>01</a:t>
            </a:r>
            <a:endParaRPr lang="en-US" sz="1100" dirty="0"/>
          </a:p>
        </p:txBody>
      </p:sp>
      <p:sp>
        <p:nvSpPr>
          <p:cNvPr id="9" name="Text 7"/>
          <p:cNvSpPr txBox="1"/>
          <p:nvPr/>
        </p:nvSpPr>
        <p:spPr>
          <a:xfrm>
            <a:off x="548640" y="2468880"/>
            <a:ext cx="2590724" cy="548640"/>
          </a:xfrm>
          <a:prstGeom prst="rect">
            <a:avLst/>
          </a:prstGeom>
          <a:noFill/>
          <a:ln/>
        </p:spPr>
        <p:txBody>
          <a:bodyPr wrap="square" lIns="0" tIns="0" rIns="0" bIns="0" rtlCol="0" anchor="ctr"/>
          <a:lstStyle/>
          <a:p>
            <a:pPr indent="0" marL="0">
              <a:buNone/>
            </a:pPr>
            <a:r>
              <a:rPr lang="en-US" sz="2800" b="1" dirty="0">
                <a:solidFill>
                  <a:srgbClr val="ECE8E0"/>
                </a:solidFill>
                <a:latin typeface="Cambria" pitchFamily="34" charset="0"/>
                <a:ea typeface="Cambria" pitchFamily="34" charset="-122"/>
                <a:cs typeface="Cambria" pitchFamily="34" charset="-120"/>
              </a:rPr>
              <a:t>Contact</a:t>
            </a:r>
            <a:endParaRPr lang="en-US" sz="2800" dirty="0"/>
          </a:p>
        </p:txBody>
      </p:sp>
      <p:sp>
        <p:nvSpPr>
          <p:cNvPr id="10" name="Text 8"/>
          <p:cNvSpPr txBox="1"/>
          <p:nvPr/>
        </p:nvSpPr>
        <p:spPr>
          <a:xfrm>
            <a:off x="548640" y="3154680"/>
            <a:ext cx="2499284" cy="1188720"/>
          </a:xfrm>
          <a:prstGeom prst="rect">
            <a:avLst/>
          </a:prstGeom>
          <a:noFill/>
          <a:ln/>
        </p:spPr>
        <p:txBody>
          <a:bodyPr wrap="square" lIns="0" tIns="0" rIns="0" bIns="0" rtlCol="0" anchor="t"/>
          <a:lstStyle/>
          <a:p>
            <a:pPr indent="0" marL="0">
              <a:spcAft>
                <a:spcPts val="900"/>
              </a:spcAft>
              <a:buNone/>
            </a:pPr>
            <a:r>
              <a:rPr lang="en-US" sz="1500" dirty="0">
                <a:solidFill>
                  <a:srgbClr val="ECE8E0"/>
                </a:solidFill>
                <a:latin typeface="Calibri" pitchFamily="34" charset="0"/>
                <a:ea typeface="Calibri" pitchFamily="34" charset="-122"/>
                <a:cs typeface="Calibri" pitchFamily="34" charset="-120"/>
              </a:rPr>
              <a:t>call with an unknown number</a:t>
            </a:r>
            <a:endParaRPr lang="en-US" sz="1500" dirty="0"/>
          </a:p>
          <a:p>
            <a:pPr indent="0" marL="0">
              <a:spcAft>
                <a:spcPts val="900"/>
              </a:spcAft>
              <a:buNone/>
            </a:pPr>
            <a:r>
              <a:rPr lang="en-US" sz="1500" dirty="0">
                <a:solidFill>
                  <a:srgbClr val="ECE8E0"/>
                </a:solidFill>
                <a:latin typeface="Calibri" pitchFamily="34" charset="0"/>
                <a:ea typeface="Calibri" pitchFamily="34" charset="-122"/>
                <a:cs typeface="Calibri" pitchFamily="34" charset="-120"/>
              </a:rPr>
              <a:t>call longer than 20 min</a:t>
            </a:r>
            <a:endParaRPr lang="en-US" sz="1500" dirty="0"/>
          </a:p>
          <a:p>
            <a:pPr indent="0" marL="0">
              <a:spcAft>
                <a:spcPts val="900"/>
              </a:spcAft>
              <a:buNone/>
            </a:pPr>
            <a:r>
              <a:rPr lang="en-US" sz="1500" dirty="0">
                <a:solidFill>
                  <a:srgbClr val="ECE8E0"/>
                </a:solidFill>
                <a:latin typeface="Calibri" pitchFamily="34" charset="0"/>
                <a:ea typeface="Calibri" pitchFamily="34" charset="-122"/>
                <a:cs typeface="Calibri" pitchFamily="34" charset="-120"/>
              </a:rPr>
              <a:t>scam-lure SMS, checked on the phone</a:t>
            </a:r>
            <a:endParaRPr lang="en-US" sz="1500" dirty="0"/>
          </a:p>
        </p:txBody>
      </p:sp>
      <p:sp>
        <p:nvSpPr>
          <p:cNvPr id="11" name="Text 9"/>
          <p:cNvSpPr txBox="1"/>
          <p:nvPr/>
        </p:nvSpPr>
        <p:spPr>
          <a:xfrm>
            <a:off x="548640" y="4480560"/>
            <a:ext cx="2590724" cy="274320"/>
          </a:xfrm>
          <a:prstGeom prst="rect">
            <a:avLst/>
          </a:prstGeom>
          <a:noFill/>
          <a:ln/>
        </p:spPr>
        <p:txBody>
          <a:bodyPr wrap="square" lIns="0" tIns="0" rIns="0" bIns="0" rtlCol="0" anchor="ctr"/>
          <a:lstStyle/>
          <a:p>
            <a:pPr indent="0" marL="0">
              <a:buNone/>
            </a:pPr>
            <a:r>
              <a:rPr lang="en-US" sz="1200" i="1" dirty="0">
                <a:solidFill>
                  <a:srgbClr val="8E97A6"/>
                </a:solidFill>
                <a:latin typeface="Calibri" pitchFamily="34" charset="0"/>
                <a:ea typeface="Calibri" pitchFamily="34" charset="-122"/>
                <a:cs typeface="Calibri" pitchFamily="34" charset="-120"/>
              </a:rPr>
              <a:t>from the phone</a:t>
            </a:r>
            <a:endParaRPr lang="en-US" sz="1200" dirty="0"/>
          </a:p>
        </p:txBody>
      </p:sp>
      <p:sp>
        <p:nvSpPr>
          <p:cNvPr id="12" name="Shape 10"/>
          <p:cNvSpPr/>
          <p:nvPr/>
        </p:nvSpPr>
        <p:spPr>
          <a:xfrm>
            <a:off x="3322244" y="1874520"/>
            <a:ext cx="182880" cy="182880"/>
          </a:xfrm>
          <a:prstGeom prst="ellipse">
            <a:avLst/>
          </a:prstGeom>
          <a:solidFill>
            <a:srgbClr val="111A2B"/>
          </a:solidFill>
          <a:ln w="19050">
            <a:solidFill>
              <a:srgbClr val="ECE8E0"/>
            </a:solidFill>
            <a:prstDash val="solid"/>
          </a:ln>
        </p:spPr>
      </p:sp>
      <p:sp>
        <p:nvSpPr>
          <p:cNvPr id="13" name="Text 11"/>
          <p:cNvSpPr txBox="1"/>
          <p:nvPr/>
        </p:nvSpPr>
        <p:spPr>
          <a:xfrm>
            <a:off x="3322244" y="2240280"/>
            <a:ext cx="914400" cy="228600"/>
          </a:xfrm>
          <a:prstGeom prst="rect">
            <a:avLst/>
          </a:prstGeom>
          <a:noFill/>
          <a:ln/>
        </p:spPr>
        <p:txBody>
          <a:bodyPr wrap="square" lIns="0" tIns="0" rIns="0" bIns="0" rtlCol="0" anchor="ctr"/>
          <a:lstStyle/>
          <a:p>
            <a:pPr indent="0" marL="0">
              <a:buNone/>
            </a:pPr>
            <a:r>
              <a:rPr lang="en-US" sz="1100" dirty="0">
                <a:solidFill>
                  <a:srgbClr val="8E97A6"/>
                </a:solidFill>
                <a:latin typeface="Calibri" pitchFamily="34" charset="0"/>
                <a:ea typeface="Calibri" pitchFamily="34" charset="-122"/>
                <a:cs typeface="Calibri" pitchFamily="34" charset="-120"/>
              </a:rPr>
              <a:t>02</a:t>
            </a:r>
            <a:endParaRPr lang="en-US" sz="1100" dirty="0"/>
          </a:p>
        </p:txBody>
      </p:sp>
      <p:sp>
        <p:nvSpPr>
          <p:cNvPr id="14" name="Text 12"/>
          <p:cNvSpPr txBox="1"/>
          <p:nvPr/>
        </p:nvSpPr>
        <p:spPr>
          <a:xfrm>
            <a:off x="3322244" y="2468880"/>
            <a:ext cx="2590724" cy="548640"/>
          </a:xfrm>
          <a:prstGeom prst="rect">
            <a:avLst/>
          </a:prstGeom>
          <a:noFill/>
          <a:ln/>
        </p:spPr>
        <p:txBody>
          <a:bodyPr wrap="square" lIns="0" tIns="0" rIns="0" bIns="0" rtlCol="0" anchor="ctr"/>
          <a:lstStyle/>
          <a:p>
            <a:pPr indent="0" marL="0">
              <a:buNone/>
            </a:pPr>
            <a:r>
              <a:rPr lang="en-US" sz="2800" b="1" dirty="0">
                <a:solidFill>
                  <a:srgbClr val="ECE8E0"/>
                </a:solidFill>
                <a:latin typeface="Cambria" pitchFamily="34" charset="0"/>
                <a:ea typeface="Cambria" pitchFamily="34" charset="-122"/>
                <a:cs typeface="Cambria" pitchFamily="34" charset="-120"/>
              </a:rPr>
              <a:t>Control</a:t>
            </a:r>
            <a:endParaRPr lang="en-US" sz="2800" dirty="0"/>
          </a:p>
        </p:txBody>
      </p:sp>
      <p:sp>
        <p:nvSpPr>
          <p:cNvPr id="15" name="Text 13"/>
          <p:cNvSpPr txBox="1"/>
          <p:nvPr/>
        </p:nvSpPr>
        <p:spPr>
          <a:xfrm>
            <a:off x="3322244" y="3154680"/>
            <a:ext cx="2499284" cy="1188720"/>
          </a:xfrm>
          <a:prstGeom prst="rect">
            <a:avLst/>
          </a:prstGeom>
          <a:noFill/>
          <a:ln/>
        </p:spPr>
        <p:txBody>
          <a:bodyPr wrap="square" lIns="0" tIns="0" rIns="0" bIns="0" rtlCol="0" anchor="t"/>
          <a:lstStyle/>
          <a:p>
            <a:pPr indent="0" marL="0">
              <a:spcAft>
                <a:spcPts val="900"/>
              </a:spcAft>
              <a:buNone/>
            </a:pPr>
            <a:r>
              <a:rPr lang="en-US" sz="1500" dirty="0">
                <a:solidFill>
                  <a:srgbClr val="ECE8E0"/>
                </a:solidFill>
                <a:latin typeface="Calibri" pitchFamily="34" charset="0"/>
                <a:ea typeface="Calibri" pitchFamily="34" charset="-122"/>
                <a:cs typeface="Calibri" pitchFamily="34" charset="-120"/>
              </a:rPr>
              <a:t>screen-sharing app running</a:t>
            </a:r>
            <a:endParaRPr lang="en-US" sz="1500" dirty="0"/>
          </a:p>
          <a:p>
            <a:pPr indent="0" marL="0">
              <a:spcAft>
                <a:spcPts val="900"/>
              </a:spcAft>
              <a:buNone/>
            </a:pPr>
            <a:r>
              <a:rPr lang="en-US" sz="1500" dirty="0">
                <a:solidFill>
                  <a:srgbClr val="ECE8E0"/>
                </a:solidFill>
                <a:latin typeface="Calibri" pitchFamily="34" charset="0"/>
                <a:ea typeface="Calibri" pitchFamily="34" charset="-122"/>
                <a:cs typeface="Calibri" pitchFamily="34" charset="-120"/>
              </a:rPr>
              <a:t>app sideloaded in last 24 h</a:t>
            </a:r>
            <a:endParaRPr lang="en-US" sz="1500" dirty="0"/>
          </a:p>
          <a:p>
            <a:pPr indent="0" marL="0">
              <a:spcAft>
                <a:spcPts val="900"/>
              </a:spcAft>
              <a:buNone/>
            </a:pPr>
            <a:r>
              <a:rPr lang="en-US" sz="1500" dirty="0">
                <a:solidFill>
                  <a:srgbClr val="ECE8E0"/>
                </a:solidFill>
                <a:latin typeface="Calibri" pitchFamily="34" charset="0"/>
                <a:ea typeface="Calibri" pitchFamily="34" charset="-122"/>
                <a:cs typeface="Calibri" pitchFamily="34" charset="-120"/>
              </a:rPr>
              <a:t>OTP opened during the call</a:t>
            </a:r>
            <a:endParaRPr lang="en-US" sz="1500" dirty="0"/>
          </a:p>
        </p:txBody>
      </p:sp>
      <p:sp>
        <p:nvSpPr>
          <p:cNvPr id="16" name="Text 14"/>
          <p:cNvSpPr txBox="1"/>
          <p:nvPr/>
        </p:nvSpPr>
        <p:spPr>
          <a:xfrm>
            <a:off x="3322244" y="4480560"/>
            <a:ext cx="2590724" cy="274320"/>
          </a:xfrm>
          <a:prstGeom prst="rect">
            <a:avLst/>
          </a:prstGeom>
          <a:noFill/>
          <a:ln/>
        </p:spPr>
        <p:txBody>
          <a:bodyPr wrap="square" lIns="0" tIns="0" rIns="0" bIns="0" rtlCol="0" anchor="ctr"/>
          <a:lstStyle/>
          <a:p>
            <a:pPr indent="0" marL="0">
              <a:buNone/>
            </a:pPr>
            <a:r>
              <a:rPr lang="en-US" sz="1200" i="1" dirty="0">
                <a:solidFill>
                  <a:srgbClr val="8E97A6"/>
                </a:solidFill>
                <a:latin typeface="Calibri" pitchFamily="34" charset="0"/>
                <a:ea typeface="Calibri" pitchFamily="34" charset="-122"/>
                <a:cs typeface="Calibri" pitchFamily="34" charset="-120"/>
              </a:rPr>
              <a:t>from the phone</a:t>
            </a:r>
            <a:endParaRPr lang="en-US" sz="1200" dirty="0"/>
          </a:p>
        </p:txBody>
      </p:sp>
      <p:sp>
        <p:nvSpPr>
          <p:cNvPr id="17" name="Shape 15"/>
          <p:cNvSpPr/>
          <p:nvPr/>
        </p:nvSpPr>
        <p:spPr>
          <a:xfrm>
            <a:off x="6095848" y="1874520"/>
            <a:ext cx="182880" cy="182880"/>
          </a:xfrm>
          <a:prstGeom prst="ellipse">
            <a:avLst/>
          </a:prstGeom>
          <a:solidFill>
            <a:srgbClr val="111A2B"/>
          </a:solidFill>
          <a:ln w="19050">
            <a:solidFill>
              <a:srgbClr val="ECE8E0"/>
            </a:solidFill>
            <a:prstDash val="solid"/>
          </a:ln>
        </p:spPr>
      </p:sp>
      <p:sp>
        <p:nvSpPr>
          <p:cNvPr id="18" name="Text 16"/>
          <p:cNvSpPr txBox="1"/>
          <p:nvPr/>
        </p:nvSpPr>
        <p:spPr>
          <a:xfrm>
            <a:off x="6095848" y="2240280"/>
            <a:ext cx="914400" cy="228600"/>
          </a:xfrm>
          <a:prstGeom prst="rect">
            <a:avLst/>
          </a:prstGeom>
          <a:noFill/>
          <a:ln/>
        </p:spPr>
        <p:txBody>
          <a:bodyPr wrap="square" lIns="0" tIns="0" rIns="0" bIns="0" rtlCol="0" anchor="ctr"/>
          <a:lstStyle/>
          <a:p>
            <a:pPr indent="0" marL="0">
              <a:buNone/>
            </a:pPr>
            <a:r>
              <a:rPr lang="en-US" sz="1100" dirty="0">
                <a:solidFill>
                  <a:srgbClr val="8E97A6"/>
                </a:solidFill>
                <a:latin typeface="Calibri" pitchFamily="34" charset="0"/>
                <a:ea typeface="Calibri" pitchFamily="34" charset="-122"/>
                <a:cs typeface="Calibri" pitchFamily="34" charset="-120"/>
              </a:rPr>
              <a:t>03</a:t>
            </a:r>
            <a:endParaRPr lang="en-US" sz="1100" dirty="0"/>
          </a:p>
        </p:txBody>
      </p:sp>
      <p:sp>
        <p:nvSpPr>
          <p:cNvPr id="19" name="Text 17"/>
          <p:cNvSpPr txBox="1"/>
          <p:nvPr/>
        </p:nvSpPr>
        <p:spPr>
          <a:xfrm>
            <a:off x="6095848" y="2468880"/>
            <a:ext cx="2590724" cy="548640"/>
          </a:xfrm>
          <a:prstGeom prst="rect">
            <a:avLst/>
          </a:prstGeom>
          <a:noFill/>
          <a:ln/>
        </p:spPr>
        <p:txBody>
          <a:bodyPr wrap="square" lIns="0" tIns="0" rIns="0" bIns="0" rtlCol="0" anchor="ctr"/>
          <a:lstStyle/>
          <a:p>
            <a:pPr indent="0" marL="0">
              <a:buNone/>
            </a:pPr>
            <a:r>
              <a:rPr lang="en-US" sz="2800" b="1" dirty="0">
                <a:solidFill>
                  <a:srgbClr val="ECE8E0"/>
                </a:solidFill>
                <a:latin typeface="Cambria" pitchFamily="34" charset="0"/>
                <a:ea typeface="Cambria" pitchFamily="34" charset="-122"/>
                <a:cs typeface="Cambria" pitchFamily="34" charset="-120"/>
              </a:rPr>
              <a:t>Extraction</a:t>
            </a:r>
            <a:endParaRPr lang="en-US" sz="2800" dirty="0"/>
          </a:p>
        </p:txBody>
      </p:sp>
      <p:sp>
        <p:nvSpPr>
          <p:cNvPr id="20" name="Text 18"/>
          <p:cNvSpPr txBox="1"/>
          <p:nvPr/>
        </p:nvSpPr>
        <p:spPr>
          <a:xfrm>
            <a:off x="6095848" y="3154680"/>
            <a:ext cx="2499284" cy="1188720"/>
          </a:xfrm>
          <a:prstGeom prst="rect">
            <a:avLst/>
          </a:prstGeom>
          <a:noFill/>
          <a:ln/>
        </p:spPr>
        <p:txBody>
          <a:bodyPr wrap="square" lIns="0" tIns="0" rIns="0" bIns="0" rtlCol="0" anchor="t"/>
          <a:lstStyle/>
          <a:p>
            <a:pPr indent="0" marL="0">
              <a:spcAft>
                <a:spcPts val="900"/>
              </a:spcAft>
              <a:buNone/>
            </a:pPr>
            <a:r>
              <a:rPr lang="en-US" sz="1500" dirty="0">
                <a:solidFill>
                  <a:srgbClr val="ECE8E0"/>
                </a:solidFill>
                <a:latin typeface="Calibri" pitchFamily="34" charset="0"/>
                <a:ea typeface="Calibri" pitchFamily="34" charset="-122"/>
                <a:cs typeface="Calibri" pitchFamily="34" charset="-120"/>
              </a:rPr>
              <a:t>first-time payee, typed UPI ID</a:t>
            </a:r>
            <a:endParaRPr lang="en-US" sz="1500" dirty="0"/>
          </a:p>
          <a:p>
            <a:pPr indent="0" marL="0">
              <a:spcAft>
                <a:spcPts val="900"/>
              </a:spcAft>
              <a:buNone/>
            </a:pPr>
            <a:r>
              <a:rPr lang="en-US" sz="1500" dirty="0">
                <a:solidFill>
                  <a:srgbClr val="ECE8E0"/>
                </a:solidFill>
                <a:latin typeface="Calibri" pitchFamily="34" charset="0"/>
                <a:ea typeface="Calibri" pitchFamily="34" charset="-122"/>
                <a:cs typeface="Calibri" pitchFamily="34" charset="-120"/>
              </a:rPr>
              <a:t>more than 70% of the balance</a:t>
            </a:r>
            <a:endParaRPr lang="en-US" sz="1500" dirty="0"/>
          </a:p>
          <a:p>
            <a:pPr indent="0" marL="0">
              <a:spcAft>
                <a:spcPts val="900"/>
              </a:spcAft>
              <a:buNone/>
            </a:pPr>
            <a:r>
              <a:rPr lang="en-US" sz="1500" dirty="0">
                <a:solidFill>
                  <a:srgbClr val="ECE8E0"/>
                </a:solidFill>
                <a:latin typeface="Calibri" pitchFamily="34" charset="0"/>
                <a:ea typeface="Calibri" pitchFamily="34" charset="-122"/>
                <a:cs typeface="Calibri" pitchFamily="34" charset="-120"/>
              </a:rPr>
              <a:t>fixed deposit broken in last 24 h</a:t>
            </a:r>
            <a:endParaRPr lang="en-US" sz="1500" dirty="0"/>
          </a:p>
        </p:txBody>
      </p:sp>
      <p:sp>
        <p:nvSpPr>
          <p:cNvPr id="21" name="Text 19"/>
          <p:cNvSpPr txBox="1"/>
          <p:nvPr/>
        </p:nvSpPr>
        <p:spPr>
          <a:xfrm>
            <a:off x="6095848" y="4480560"/>
            <a:ext cx="2590724" cy="274320"/>
          </a:xfrm>
          <a:prstGeom prst="rect">
            <a:avLst/>
          </a:prstGeom>
          <a:noFill/>
          <a:ln/>
        </p:spPr>
        <p:txBody>
          <a:bodyPr wrap="square" lIns="0" tIns="0" rIns="0" bIns="0" rtlCol="0" anchor="ctr"/>
          <a:lstStyle/>
          <a:p>
            <a:pPr indent="0" marL="0">
              <a:buNone/>
            </a:pPr>
            <a:r>
              <a:rPr lang="en-US" sz="1200" i="1" dirty="0">
                <a:solidFill>
                  <a:srgbClr val="8E97A6"/>
                </a:solidFill>
                <a:latin typeface="Calibri" pitchFamily="34" charset="0"/>
                <a:ea typeface="Calibri" pitchFamily="34" charset="-122"/>
                <a:cs typeface="Calibri" pitchFamily="34" charset="-120"/>
              </a:rPr>
              <a:t>from the bank</a:t>
            </a:r>
            <a:endParaRPr lang="en-US" sz="1200" dirty="0"/>
          </a:p>
        </p:txBody>
      </p:sp>
      <p:sp>
        <p:nvSpPr>
          <p:cNvPr id="22" name="Shape 20"/>
          <p:cNvSpPr/>
          <p:nvPr/>
        </p:nvSpPr>
        <p:spPr>
          <a:xfrm>
            <a:off x="8869451" y="1874520"/>
            <a:ext cx="182880" cy="182880"/>
          </a:xfrm>
          <a:prstGeom prst="ellipse">
            <a:avLst/>
          </a:prstGeom>
          <a:solidFill>
            <a:srgbClr val="111A2B"/>
          </a:solidFill>
          <a:ln w="19050">
            <a:solidFill>
              <a:srgbClr val="ECE8E0"/>
            </a:solidFill>
            <a:prstDash val="solid"/>
          </a:ln>
        </p:spPr>
      </p:sp>
      <p:sp>
        <p:nvSpPr>
          <p:cNvPr id="23" name="Text 21"/>
          <p:cNvSpPr txBox="1"/>
          <p:nvPr/>
        </p:nvSpPr>
        <p:spPr>
          <a:xfrm>
            <a:off x="8869451" y="2240280"/>
            <a:ext cx="914400" cy="228600"/>
          </a:xfrm>
          <a:prstGeom prst="rect">
            <a:avLst/>
          </a:prstGeom>
          <a:noFill/>
          <a:ln/>
        </p:spPr>
        <p:txBody>
          <a:bodyPr wrap="square" lIns="0" tIns="0" rIns="0" bIns="0" rtlCol="0" anchor="ctr"/>
          <a:lstStyle/>
          <a:p>
            <a:pPr indent="0" marL="0">
              <a:buNone/>
            </a:pPr>
            <a:r>
              <a:rPr lang="en-US" sz="1100" dirty="0">
                <a:solidFill>
                  <a:srgbClr val="8E97A6"/>
                </a:solidFill>
                <a:latin typeface="Calibri" pitchFamily="34" charset="0"/>
                <a:ea typeface="Calibri" pitchFamily="34" charset="-122"/>
                <a:cs typeface="Calibri" pitchFamily="34" charset="-120"/>
              </a:rPr>
              <a:t>04</a:t>
            </a:r>
            <a:endParaRPr lang="en-US" sz="1100" dirty="0"/>
          </a:p>
        </p:txBody>
      </p:sp>
      <p:sp>
        <p:nvSpPr>
          <p:cNvPr id="24" name="Text 22"/>
          <p:cNvSpPr txBox="1"/>
          <p:nvPr/>
        </p:nvSpPr>
        <p:spPr>
          <a:xfrm>
            <a:off x="8869451" y="2468880"/>
            <a:ext cx="2590724" cy="548640"/>
          </a:xfrm>
          <a:prstGeom prst="rect">
            <a:avLst/>
          </a:prstGeom>
          <a:noFill/>
          <a:ln/>
        </p:spPr>
        <p:txBody>
          <a:bodyPr wrap="square" lIns="0" tIns="0" rIns="0" bIns="0" rtlCol="0" anchor="ctr"/>
          <a:lstStyle/>
          <a:p>
            <a:pPr indent="0" marL="0">
              <a:buNone/>
            </a:pPr>
            <a:r>
              <a:rPr lang="en-US" sz="2800" b="1" dirty="0">
                <a:solidFill>
                  <a:srgbClr val="ECE8E0"/>
                </a:solidFill>
                <a:latin typeface="Cambria" pitchFamily="34" charset="0"/>
                <a:ea typeface="Cambria" pitchFamily="34" charset="-122"/>
                <a:cs typeface="Cambria" pitchFamily="34" charset="-120"/>
              </a:rPr>
              <a:t>Cash-out</a:t>
            </a:r>
            <a:endParaRPr lang="en-US" sz="2800" dirty="0"/>
          </a:p>
        </p:txBody>
      </p:sp>
      <p:sp>
        <p:nvSpPr>
          <p:cNvPr id="25" name="Text 23"/>
          <p:cNvSpPr txBox="1"/>
          <p:nvPr/>
        </p:nvSpPr>
        <p:spPr>
          <a:xfrm>
            <a:off x="8869451" y="3154680"/>
            <a:ext cx="2499284" cy="1188720"/>
          </a:xfrm>
          <a:prstGeom prst="rect">
            <a:avLst/>
          </a:prstGeom>
          <a:noFill/>
          <a:ln/>
        </p:spPr>
        <p:txBody>
          <a:bodyPr wrap="square" lIns="0" tIns="0" rIns="0" bIns="0" rtlCol="0" anchor="t"/>
          <a:lstStyle/>
          <a:p>
            <a:pPr indent="0" marL="0">
              <a:spcAft>
                <a:spcPts val="900"/>
              </a:spcAft>
              <a:buNone/>
            </a:pPr>
            <a:r>
              <a:rPr lang="en-US" sz="1500" dirty="0">
                <a:solidFill>
                  <a:srgbClr val="ECE8E0"/>
                </a:solidFill>
                <a:latin typeface="Calibri" pitchFamily="34" charset="0"/>
                <a:ea typeface="Calibri" pitchFamily="34" charset="-122"/>
                <a:cs typeface="Calibri" pitchFamily="34" charset="-120"/>
              </a:rPr>
              <a:t>account behaves like a mule</a:t>
            </a:r>
            <a:endParaRPr lang="en-US" sz="1500" dirty="0"/>
          </a:p>
          <a:p>
            <a:pPr indent="0" marL="0">
              <a:spcAft>
                <a:spcPts val="900"/>
              </a:spcAft>
              <a:buNone/>
            </a:pPr>
            <a:r>
              <a:rPr lang="en-US" sz="1500" dirty="0">
                <a:solidFill>
                  <a:srgbClr val="ECE8E0"/>
                </a:solidFill>
                <a:latin typeface="Calibri" pitchFamily="34" charset="0"/>
                <a:ea typeface="Calibri" pitchFamily="34" charset="-122"/>
                <a:cs typeface="Calibri" pitchFamily="34" charset="-120"/>
              </a:rPr>
              <a:t>account less than 30 days old</a:t>
            </a:r>
            <a:endParaRPr lang="en-US" sz="1500" dirty="0"/>
          </a:p>
          <a:p>
            <a:pPr indent="0" marL="0">
              <a:spcAft>
                <a:spcPts val="900"/>
              </a:spcAft>
              <a:buNone/>
            </a:pPr>
            <a:r>
              <a:rPr lang="en-US" sz="1500" dirty="0">
                <a:solidFill>
                  <a:srgbClr val="ECE8E0"/>
                </a:solidFill>
                <a:latin typeface="Calibri" pitchFamily="34" charset="0"/>
                <a:ea typeface="Calibri" pitchFamily="34" charset="-122"/>
                <a:cs typeface="Calibri" pitchFamily="34" charset="-120"/>
              </a:rPr>
              <a:t>account on a suspect list</a:t>
            </a:r>
            <a:endParaRPr lang="en-US" sz="1500" dirty="0"/>
          </a:p>
        </p:txBody>
      </p:sp>
      <p:sp>
        <p:nvSpPr>
          <p:cNvPr id="26" name="Text 24"/>
          <p:cNvSpPr txBox="1"/>
          <p:nvPr/>
        </p:nvSpPr>
        <p:spPr>
          <a:xfrm>
            <a:off x="8869451" y="4480560"/>
            <a:ext cx="2590724" cy="274320"/>
          </a:xfrm>
          <a:prstGeom prst="rect">
            <a:avLst/>
          </a:prstGeom>
          <a:noFill/>
          <a:ln/>
        </p:spPr>
        <p:txBody>
          <a:bodyPr wrap="square" lIns="0" tIns="0" rIns="0" bIns="0" rtlCol="0" anchor="ctr"/>
          <a:lstStyle/>
          <a:p>
            <a:pPr indent="0" marL="0">
              <a:buNone/>
            </a:pPr>
            <a:r>
              <a:rPr lang="en-US" sz="1200" i="1" dirty="0">
                <a:solidFill>
                  <a:srgbClr val="8E97A6"/>
                </a:solidFill>
                <a:latin typeface="Calibri" pitchFamily="34" charset="0"/>
                <a:ea typeface="Calibri" pitchFamily="34" charset="-122"/>
                <a:cs typeface="Calibri" pitchFamily="34" charset="-120"/>
              </a:rPr>
              <a:t>from the receiving account</a:t>
            </a:r>
            <a:endParaRPr lang="en-US" sz="1200" dirty="0"/>
          </a:p>
        </p:txBody>
      </p:sp>
      <p:sp>
        <p:nvSpPr>
          <p:cNvPr id="27" name="Text 25"/>
          <p:cNvSpPr txBox="1"/>
          <p:nvPr/>
        </p:nvSpPr>
        <p:spPr>
          <a:xfrm>
            <a:off x="548640" y="4846320"/>
            <a:ext cx="11094415" cy="868680"/>
          </a:xfrm>
          <a:prstGeom prst="rect">
            <a:avLst/>
          </a:prstGeom>
          <a:noFill/>
          <a:ln/>
        </p:spPr>
        <p:txBody>
          <a:bodyPr wrap="square" lIns="0" tIns="0" rIns="0" bIns="0" rtlCol="0" anchor="t"/>
          <a:lstStyle/>
          <a:p>
            <a:pPr indent="0" marL="0">
              <a:buNone/>
            </a:pPr>
            <a:r>
              <a:rPr lang="en-US" sz="2300" dirty="0">
                <a:solidFill>
                  <a:srgbClr val="ECE8E0"/>
                </a:solidFill>
                <a:latin typeface="Cambria" pitchFamily="34" charset="0"/>
                <a:ea typeface="Cambria" pitchFamily="34" charset="-122"/>
                <a:cs typeface="Cambria" pitchFamily="34" charset="-120"/>
              </a:rPr>
              <a:t>One odd signal is not enough to stop a payment. </a:t>
            </a:r>
            <a:pPr indent="0" marL="0">
              <a:buNone/>
            </a:pPr>
            <a:r>
              <a:rPr lang="en-US" sz="2300" b="1" dirty="0">
                <a:solidFill>
                  <a:srgbClr val="D9480F"/>
                </a:solidFill>
                <a:latin typeface="Cambria" pitchFamily="34" charset="0"/>
                <a:ea typeface="Cambria" pitchFamily="34" charset="-122"/>
                <a:cs typeface="Cambria" pitchFamily="34" charset="-120"/>
              </a:rPr>
              <a:t>We act when several stages show up together.</a:t>
            </a:r>
            <a:endParaRPr lang="en-US" sz="2300" dirty="0"/>
          </a:p>
        </p:txBody>
      </p:sp>
      <p:sp>
        <p:nvSpPr>
          <p:cNvPr id="28" name="Text 26"/>
          <p:cNvSpPr txBox="1"/>
          <p:nvPr/>
        </p:nvSpPr>
        <p:spPr>
          <a:xfrm>
            <a:off x="548640" y="5806440"/>
            <a:ext cx="9601200" cy="548640"/>
          </a:xfrm>
          <a:prstGeom prst="rect">
            <a:avLst/>
          </a:prstGeom>
          <a:noFill/>
          <a:ln/>
        </p:spPr>
        <p:txBody>
          <a:bodyPr wrap="square" lIns="0" tIns="0" rIns="0" bIns="0" rtlCol="0" anchor="t"/>
          <a:lstStyle/>
          <a:p>
            <a:pPr indent="0" marL="0">
              <a:spcAft>
                <a:spcPts val="400"/>
              </a:spcAft>
              <a:buNone/>
            </a:pPr>
            <a:r>
              <a:rPr lang="en-US" sz="1400" dirty="0">
                <a:solidFill>
                  <a:srgbClr val="8E97A6"/>
                </a:solidFill>
                <a:latin typeface="Calibri" pitchFamily="34" charset="0"/>
                <a:ea typeface="Calibri" pitchFamily="34" charset="-122"/>
                <a:cs typeface="Calibri" pitchFamily="34" charset="-120"/>
              </a:rPr>
              <a:t>A genuine payment can look odd on its own, like a new payee on rent day or a long call with a plumber. A scam is easier to spot from the sequence. All 20 signals are listed in the appendix.</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5486400" cy="274320"/>
          </a:xfrm>
          <a:prstGeom prst="rect">
            <a:avLst/>
          </a:prstGeom>
          <a:noFill/>
          <a:ln/>
        </p:spPr>
        <p:txBody>
          <a:bodyPr wrap="square" lIns="0" tIns="0" rIns="0" bIns="0" rtlCol="0" anchor="ctr"/>
          <a:lstStyle/>
          <a:p>
            <a:pPr indent="0" marL="0">
              <a:buNone/>
            </a:pPr>
            <a:r>
              <a:rPr lang="en-US" sz="1100" dirty="0">
                <a:solidFill>
                  <a:srgbClr val="6E747E"/>
                </a:solidFill>
                <a:latin typeface="Calibri" pitchFamily="34" charset="0"/>
                <a:ea typeface="Calibri" pitchFamily="34" charset="-122"/>
                <a:cs typeface="Calibri" pitchFamily="34" charset="-120"/>
              </a:rPr>
              <a:t>3  ·  Response</a:t>
            </a:r>
            <a:endParaRPr lang="en-US" sz="1100" dirty="0"/>
          </a:p>
        </p:txBody>
      </p:sp>
      <p:sp>
        <p:nvSpPr>
          <p:cNvPr id="3" name="Text 1"/>
          <p:cNvSpPr txBox="1"/>
          <p:nvPr/>
        </p:nvSpPr>
        <p:spPr>
          <a:xfrm>
            <a:off x="8899855" y="256032"/>
            <a:ext cx="2743200" cy="274320"/>
          </a:xfrm>
          <a:prstGeom prst="rect">
            <a:avLst/>
          </a:prstGeom>
          <a:noFill/>
          <a:ln/>
        </p:spPr>
        <p:txBody>
          <a:bodyPr wrap="square" lIns="0" tIns="0" rIns="0" bIns="0" rtlCol="0" anchor="ctr"/>
          <a:lstStyle/>
          <a:p>
            <a:pPr algn="r" indent="0" marL="0">
              <a:buNone/>
            </a:pPr>
            <a:r>
              <a:rPr lang="en-US" sz="1100" dirty="0">
                <a:solidFill>
                  <a:srgbClr val="6E747E"/>
                </a:solidFill>
                <a:latin typeface="Calibri" pitchFamily="34" charset="0"/>
                <a:ea typeface="Calibri" pitchFamily="34" charset="-122"/>
                <a:cs typeface="Calibri" pitchFamily="34" charset="-120"/>
              </a:rPr>
              <a:t>Chakravyuh</a:t>
            </a:r>
            <a:endParaRPr lang="en-US" sz="1100" dirty="0"/>
          </a:p>
        </p:txBody>
      </p:sp>
      <p:sp>
        <p:nvSpPr>
          <p:cNvPr id="4" name="Text 2"/>
          <p:cNvSpPr txBox="1"/>
          <p:nvPr/>
        </p:nvSpPr>
        <p:spPr>
          <a:xfrm>
            <a:off x="9814255" y="6446520"/>
            <a:ext cx="1828800" cy="228600"/>
          </a:xfrm>
          <a:prstGeom prst="rect">
            <a:avLst/>
          </a:prstGeom>
          <a:noFill/>
          <a:ln/>
        </p:spPr>
        <p:txBody>
          <a:bodyPr wrap="square" lIns="0" tIns="0" rIns="0" bIns="0" rtlCol="0" anchor="ctr"/>
          <a:lstStyle/>
          <a:p>
            <a:pPr algn="r" indent="0" marL="0">
              <a:buNone/>
            </a:pPr>
            <a:r>
              <a:rPr lang="en-US" sz="1000" dirty="0">
                <a:solidFill>
                  <a:srgbClr val="6E747E"/>
                </a:solidFill>
                <a:latin typeface="Calibri" pitchFamily="34" charset="0"/>
                <a:ea typeface="Calibri" pitchFamily="34" charset="-122"/>
                <a:cs typeface="Calibri" pitchFamily="34" charset="-120"/>
              </a:rPr>
              <a:t>4 / 16</a:t>
            </a:r>
            <a:endParaRPr lang="en-US" sz="1000" dirty="0"/>
          </a:p>
        </p:txBody>
      </p:sp>
      <p:sp>
        <p:nvSpPr>
          <p:cNvPr id="5" name="Text 3"/>
          <p:cNvSpPr txBox="1"/>
          <p:nvPr/>
        </p:nvSpPr>
        <p:spPr>
          <a:xfrm>
            <a:off x="548640" y="640080"/>
            <a:ext cx="11094415" cy="731520"/>
          </a:xfrm>
          <a:prstGeom prst="rect">
            <a:avLst/>
          </a:prstGeom>
          <a:noFill/>
          <a:ln/>
        </p:spPr>
        <p:txBody>
          <a:bodyPr wrap="square" lIns="0" tIns="0" rIns="0" bIns="0" rtlCol="0" anchor="t"/>
          <a:lstStyle/>
          <a:p>
            <a:pPr indent="0" marL="0">
              <a:buNone/>
            </a:pPr>
            <a:r>
              <a:rPr lang="en-US" sz="3400" b="1" dirty="0">
                <a:solidFill>
                  <a:srgbClr val="1B2433"/>
                </a:solidFill>
                <a:latin typeface="Cambria" pitchFamily="34" charset="0"/>
                <a:ea typeface="Cambria" pitchFamily="34" charset="-122"/>
                <a:cs typeface="Cambria" pitchFamily="34" charset="-120"/>
              </a:rPr>
              <a:t>Three levels of response</a:t>
            </a:r>
            <a:endParaRPr lang="en-US" sz="3400" dirty="0"/>
          </a:p>
        </p:txBody>
      </p:sp>
      <p:sp>
        <p:nvSpPr>
          <p:cNvPr id="6" name="Text 4"/>
          <p:cNvSpPr txBox="1"/>
          <p:nvPr/>
        </p:nvSpPr>
        <p:spPr>
          <a:xfrm>
            <a:off x="548640" y="1325880"/>
            <a:ext cx="8686800" cy="731520"/>
          </a:xfrm>
          <a:prstGeom prst="rect">
            <a:avLst/>
          </a:prstGeom>
          <a:noFill/>
          <a:ln/>
        </p:spPr>
        <p:txBody>
          <a:bodyPr wrap="square" lIns="0" tIns="0" rIns="0" bIns="0" rtlCol="0" anchor="t"/>
          <a:lstStyle/>
          <a:p>
            <a:pPr indent="0" marL="0">
              <a:spcAft>
                <a:spcPts val="400"/>
              </a:spcAft>
              <a:buNone/>
            </a:pPr>
            <a:r>
              <a:rPr lang="en-US" sz="1600" dirty="0">
                <a:solidFill>
                  <a:srgbClr val="3A4353"/>
                </a:solidFill>
                <a:latin typeface="Calibri" pitchFamily="34" charset="0"/>
                <a:ea typeface="Calibri" pitchFamily="34" charset="-122"/>
                <a:cs typeface="Calibri" pitchFamily="34" charset="-120"/>
              </a:rPr>
              <a:t>The more stages we see, the stronger the response. The bank chooses how many alerts per 1,000 payments it will accept at each level, and we set the thresholds to match on separate test data.</a:t>
            </a:r>
            <a:endParaRPr lang="en-US" sz="1600" dirty="0"/>
          </a:p>
        </p:txBody>
      </p:sp>
      <p:sp>
        <p:nvSpPr>
          <p:cNvPr id="7" name="Shape 5"/>
          <p:cNvSpPr/>
          <p:nvPr/>
        </p:nvSpPr>
        <p:spPr>
          <a:xfrm>
            <a:off x="548640" y="2441448"/>
            <a:ext cx="502920" cy="502920"/>
          </a:xfrm>
          <a:prstGeom prst="ellipse">
            <a:avLst/>
          </a:prstGeom>
          <a:solidFill>
            <a:srgbClr val="D9DCE1"/>
          </a:solidFill>
          <a:ln w="12700">
            <a:solidFill>
              <a:srgbClr val="D9DCE1"/>
            </a:solidFill>
            <a:prstDash val="solid"/>
          </a:ln>
        </p:spPr>
      </p:sp>
      <p:sp>
        <p:nvSpPr>
          <p:cNvPr id="8" name="Text 6"/>
          <p:cNvSpPr txBox="1"/>
          <p:nvPr/>
        </p:nvSpPr>
        <p:spPr>
          <a:xfrm>
            <a:off x="548640" y="2441448"/>
            <a:ext cx="502920" cy="502920"/>
          </a:xfrm>
          <a:prstGeom prst="rect">
            <a:avLst/>
          </a:prstGeom>
          <a:noFill/>
          <a:ln/>
        </p:spPr>
        <p:txBody>
          <a:bodyPr wrap="square" lIns="0" tIns="0" rIns="0" bIns="0" rtlCol="0" anchor="ctr"/>
          <a:lstStyle/>
          <a:p>
            <a:pPr algn="ctr" indent="0" marL="0">
              <a:buNone/>
            </a:pPr>
            <a:r>
              <a:rPr lang="en-US" sz="1800" b="1" dirty="0">
                <a:solidFill>
                  <a:srgbClr val="1B2433"/>
                </a:solidFill>
                <a:latin typeface="Cambria" pitchFamily="34" charset="0"/>
                <a:ea typeface="Cambria" pitchFamily="34" charset="-122"/>
                <a:cs typeface="Cambria" pitchFamily="34" charset="-120"/>
              </a:rPr>
              <a:t>1</a:t>
            </a:r>
            <a:endParaRPr lang="en-US" sz="1800" dirty="0"/>
          </a:p>
        </p:txBody>
      </p:sp>
      <p:sp>
        <p:nvSpPr>
          <p:cNvPr id="9" name="Text 7"/>
          <p:cNvSpPr txBox="1"/>
          <p:nvPr/>
        </p:nvSpPr>
        <p:spPr>
          <a:xfrm>
            <a:off x="1417320" y="2441448"/>
            <a:ext cx="2651760" cy="502920"/>
          </a:xfrm>
          <a:prstGeom prst="rect">
            <a:avLst/>
          </a:prstGeom>
          <a:noFill/>
          <a:ln/>
        </p:spPr>
        <p:txBody>
          <a:bodyPr wrap="square" lIns="0" tIns="0" rIns="0" bIns="0" rtlCol="0" anchor="ctr"/>
          <a:lstStyle/>
          <a:p>
            <a:pPr indent="0" marL="0">
              <a:buNone/>
            </a:pPr>
            <a:r>
              <a:rPr lang="en-US" sz="2400" b="1" dirty="0">
                <a:solidFill>
                  <a:srgbClr val="1B2433"/>
                </a:solidFill>
                <a:latin typeface="Cambria" pitchFamily="34" charset="0"/>
                <a:ea typeface="Cambria" pitchFamily="34" charset="-122"/>
                <a:cs typeface="Cambria" pitchFamily="34" charset="-120"/>
              </a:rPr>
              <a:t>Log it</a:t>
            </a:r>
            <a:endParaRPr lang="en-US" sz="2400" dirty="0"/>
          </a:p>
        </p:txBody>
      </p:sp>
      <p:sp>
        <p:nvSpPr>
          <p:cNvPr id="10" name="Text 8"/>
          <p:cNvSpPr txBox="1"/>
          <p:nvPr/>
        </p:nvSpPr>
        <p:spPr>
          <a:xfrm>
            <a:off x="548640" y="3291840"/>
            <a:ext cx="3520440" cy="274320"/>
          </a:xfrm>
          <a:prstGeom prst="rect">
            <a:avLst/>
          </a:prstGeom>
          <a:noFill/>
          <a:ln/>
        </p:spPr>
        <p:txBody>
          <a:bodyPr wrap="square" lIns="0" tIns="0" rIns="0" bIns="0" rtlCol="0" anchor="ctr"/>
          <a:lstStyle/>
          <a:p>
            <a:pPr indent="0" marL="0">
              <a:buNone/>
            </a:pPr>
            <a:r>
              <a:rPr lang="en-US" sz="1200" b="1" dirty="0">
                <a:solidFill>
                  <a:srgbClr val="3A4353"/>
                </a:solidFill>
                <a:latin typeface="Calibri" pitchFamily="34" charset="0"/>
                <a:ea typeface="Calibri" pitchFamily="34" charset="-122"/>
                <a:cs typeface="Calibri" pitchFamily="34" charset="-120"/>
              </a:rPr>
              <a:t>When</a:t>
            </a:r>
            <a:endParaRPr lang="en-US" sz="1200" dirty="0"/>
          </a:p>
        </p:txBody>
      </p:sp>
      <p:sp>
        <p:nvSpPr>
          <p:cNvPr id="11" name="Text 9"/>
          <p:cNvSpPr txBox="1"/>
          <p:nvPr/>
        </p:nvSpPr>
        <p:spPr>
          <a:xfrm>
            <a:off x="548640" y="3566160"/>
            <a:ext cx="3520440" cy="548640"/>
          </a:xfrm>
          <a:prstGeom prst="rect">
            <a:avLst/>
          </a:prstGeom>
          <a:noFill/>
          <a:ln/>
        </p:spPr>
        <p:txBody>
          <a:bodyPr wrap="square" lIns="0" tIns="0" rIns="0" bIns="0" rtlCol="0" anchor="t"/>
          <a:lstStyle/>
          <a:p>
            <a:pPr indent="0" marL="0">
              <a:spcAft>
                <a:spcPts val="400"/>
              </a:spcAft>
              <a:buNone/>
            </a:pPr>
            <a:r>
              <a:rPr lang="en-US" sz="1400" dirty="0">
                <a:solidFill>
                  <a:srgbClr val="3A4353"/>
                </a:solidFill>
                <a:latin typeface="Calibri" pitchFamily="34" charset="0"/>
                <a:ea typeface="Calibri" pitchFamily="34" charset="-122"/>
                <a:cs typeface="Calibri" pitchFamily="34" charset="-120"/>
              </a:rPr>
              <a:t>Score above threshold 1</a:t>
            </a:r>
            <a:endParaRPr lang="en-US" sz="1400" dirty="0"/>
          </a:p>
        </p:txBody>
      </p:sp>
      <p:sp>
        <p:nvSpPr>
          <p:cNvPr id="12" name="Text 10"/>
          <p:cNvSpPr txBox="1"/>
          <p:nvPr/>
        </p:nvSpPr>
        <p:spPr>
          <a:xfrm>
            <a:off x="548640" y="4160520"/>
            <a:ext cx="3520440" cy="274320"/>
          </a:xfrm>
          <a:prstGeom prst="rect">
            <a:avLst/>
          </a:prstGeom>
          <a:noFill/>
          <a:ln/>
        </p:spPr>
        <p:txBody>
          <a:bodyPr wrap="square" lIns="0" tIns="0" rIns="0" bIns="0" rtlCol="0" anchor="ctr"/>
          <a:lstStyle/>
          <a:p>
            <a:pPr indent="0" marL="0">
              <a:buNone/>
            </a:pPr>
            <a:r>
              <a:rPr lang="en-US" sz="1200" b="1" dirty="0">
                <a:solidFill>
                  <a:srgbClr val="3A4353"/>
                </a:solidFill>
                <a:latin typeface="Calibri" pitchFamily="34" charset="0"/>
                <a:ea typeface="Calibri" pitchFamily="34" charset="-122"/>
                <a:cs typeface="Calibri" pitchFamily="34" charset="-120"/>
              </a:rPr>
              <a:t>Customer sees</a:t>
            </a:r>
            <a:endParaRPr lang="en-US" sz="1200" dirty="0"/>
          </a:p>
        </p:txBody>
      </p:sp>
      <p:sp>
        <p:nvSpPr>
          <p:cNvPr id="13" name="Text 11"/>
          <p:cNvSpPr txBox="1"/>
          <p:nvPr/>
        </p:nvSpPr>
        <p:spPr>
          <a:xfrm>
            <a:off x="548640" y="4434840"/>
            <a:ext cx="3520440" cy="777240"/>
          </a:xfrm>
          <a:prstGeom prst="rect">
            <a:avLst/>
          </a:prstGeom>
          <a:noFill/>
          <a:ln/>
        </p:spPr>
        <p:txBody>
          <a:bodyPr wrap="square" lIns="0" tIns="0" rIns="0" bIns="0" rtlCol="0" anchor="t"/>
          <a:lstStyle/>
          <a:p>
            <a:pPr indent="0" marL="0">
              <a:spcAft>
                <a:spcPts val="400"/>
              </a:spcAft>
              <a:buNone/>
            </a:pPr>
            <a:r>
              <a:rPr lang="en-US" sz="1400" dirty="0">
                <a:solidFill>
                  <a:srgbClr val="3A4353"/>
                </a:solidFill>
                <a:latin typeface="Calibri" pitchFamily="34" charset="0"/>
                <a:ea typeface="Calibri" pitchFamily="34" charset="-122"/>
                <a:cs typeface="Calibri" pitchFamily="34" charset="-120"/>
              </a:rPr>
              <a:t>Nothing. The session goes to the bank’s fraud team for later review.</a:t>
            </a:r>
            <a:endParaRPr lang="en-US" sz="1400" dirty="0"/>
          </a:p>
        </p:txBody>
      </p:sp>
      <p:sp>
        <p:nvSpPr>
          <p:cNvPr id="14" name="Shape 12"/>
          <p:cNvSpPr/>
          <p:nvPr/>
        </p:nvSpPr>
        <p:spPr>
          <a:xfrm>
            <a:off x="548640" y="5303520"/>
            <a:ext cx="3520440" cy="0"/>
          </a:xfrm>
          <a:prstGeom prst="line">
            <a:avLst/>
          </a:prstGeom>
          <a:noFill/>
          <a:ln w="12700">
            <a:solidFill>
              <a:srgbClr val="D9DCE1"/>
            </a:solidFill>
            <a:prstDash val="solid"/>
          </a:ln>
        </p:spPr>
      </p:sp>
      <p:sp>
        <p:nvSpPr>
          <p:cNvPr id="15" name="Text 13"/>
          <p:cNvSpPr txBox="1"/>
          <p:nvPr/>
        </p:nvSpPr>
        <p:spPr>
          <a:xfrm>
            <a:off x="548640" y="5394960"/>
            <a:ext cx="1097280" cy="502920"/>
          </a:xfrm>
          <a:prstGeom prst="rect">
            <a:avLst/>
          </a:prstGeom>
          <a:noFill/>
          <a:ln/>
        </p:spPr>
        <p:txBody>
          <a:bodyPr wrap="square" lIns="0" tIns="0" rIns="0" bIns="0" rtlCol="0" anchor="ctr"/>
          <a:lstStyle/>
          <a:p>
            <a:pPr indent="0" marL="0">
              <a:buNone/>
            </a:pPr>
            <a:r>
              <a:rPr lang="en-US" sz="2800" b="1" dirty="0">
                <a:solidFill>
                  <a:srgbClr val="1B2433"/>
                </a:solidFill>
                <a:latin typeface="Cambria" pitchFamily="34" charset="0"/>
                <a:ea typeface="Cambria" pitchFamily="34" charset="-122"/>
                <a:cs typeface="Cambria" pitchFamily="34" charset="-120"/>
              </a:rPr>
              <a:t>20.4</a:t>
            </a:r>
            <a:endParaRPr lang="en-US" sz="2800" dirty="0"/>
          </a:p>
        </p:txBody>
      </p:sp>
      <p:sp>
        <p:nvSpPr>
          <p:cNvPr id="16" name="Text 14"/>
          <p:cNvSpPr txBox="1"/>
          <p:nvPr/>
        </p:nvSpPr>
        <p:spPr>
          <a:xfrm>
            <a:off x="1691640" y="5458968"/>
            <a:ext cx="2377440" cy="502920"/>
          </a:xfrm>
          <a:prstGeom prst="rect">
            <a:avLst/>
          </a:prstGeom>
          <a:noFill/>
          <a:ln/>
        </p:spPr>
        <p:txBody>
          <a:bodyPr wrap="square" lIns="0" tIns="0" rIns="0" bIns="0" rtlCol="0" anchor="t"/>
          <a:lstStyle/>
          <a:p>
            <a:pPr indent="0" marL="0">
              <a:spcAft>
                <a:spcPts val="400"/>
              </a:spcAft>
              <a:buNone/>
            </a:pPr>
            <a:r>
              <a:rPr lang="en-US" sz="1200" dirty="0">
                <a:solidFill>
                  <a:srgbClr val="6E747E"/>
                </a:solidFill>
                <a:latin typeface="Calibri" pitchFamily="34" charset="0"/>
                <a:ea typeface="Calibri" pitchFamily="34" charset="-122"/>
                <a:cs typeface="Calibri" pitchFamily="34" charset="-120"/>
              </a:rPr>
              <a:t>genuine sessions per 1,000</a:t>
            </a:r>
            <a:endParaRPr lang="en-US" sz="1200" dirty="0"/>
          </a:p>
          <a:p>
            <a:pPr indent="0" marL="0">
              <a:spcAft>
                <a:spcPts val="400"/>
              </a:spcAft>
              <a:buNone/>
            </a:pPr>
            <a:r>
              <a:rPr lang="en-US" sz="1200" dirty="0">
                <a:solidFill>
                  <a:srgbClr val="6E747E"/>
                </a:solidFill>
                <a:latin typeface="Calibri" pitchFamily="34" charset="0"/>
                <a:ea typeface="Calibri" pitchFamily="34" charset="-122"/>
                <a:cs typeface="Calibri" pitchFamily="34" charset="-120"/>
              </a:rPr>
              <a:t>measured on synthetic data (target 20)</a:t>
            </a:r>
            <a:endParaRPr lang="en-US" sz="1200" dirty="0"/>
          </a:p>
        </p:txBody>
      </p:sp>
      <p:sp>
        <p:nvSpPr>
          <p:cNvPr id="17" name="Shape 15"/>
          <p:cNvSpPr/>
          <p:nvPr/>
        </p:nvSpPr>
        <p:spPr>
          <a:xfrm>
            <a:off x="4343400" y="2386584"/>
            <a:ext cx="612648" cy="612648"/>
          </a:xfrm>
          <a:prstGeom prst="ellipse">
            <a:avLst/>
          </a:prstGeom>
          <a:solidFill>
            <a:srgbClr val="1B2433"/>
          </a:solidFill>
          <a:ln w="12700">
            <a:solidFill>
              <a:srgbClr val="1B2433"/>
            </a:solidFill>
            <a:prstDash val="solid"/>
          </a:ln>
        </p:spPr>
      </p:sp>
      <p:sp>
        <p:nvSpPr>
          <p:cNvPr id="18" name="Text 16"/>
          <p:cNvSpPr txBox="1"/>
          <p:nvPr/>
        </p:nvSpPr>
        <p:spPr>
          <a:xfrm>
            <a:off x="4343400" y="2386584"/>
            <a:ext cx="612648" cy="612648"/>
          </a:xfrm>
          <a:prstGeom prst="rect">
            <a:avLst/>
          </a:prstGeom>
          <a:noFill/>
          <a:ln/>
        </p:spPr>
        <p:txBody>
          <a:bodyPr wrap="square" lIns="0" tIns="0" rIns="0" bIns="0" rtlCol="0" anchor="ctr"/>
          <a:lstStyle/>
          <a:p>
            <a:pPr algn="ctr" indent="0" marL="0">
              <a:buNone/>
            </a:pPr>
            <a:r>
              <a:rPr lang="en-US" sz="2100" b="1" dirty="0">
                <a:solidFill>
                  <a:srgbClr val="FFFFFF"/>
                </a:solidFill>
                <a:latin typeface="Cambria" pitchFamily="34" charset="0"/>
                <a:ea typeface="Cambria" pitchFamily="34" charset="-122"/>
                <a:cs typeface="Cambria" pitchFamily="34" charset="-120"/>
              </a:rPr>
              <a:t>2</a:t>
            </a:r>
            <a:endParaRPr lang="en-US" sz="2100" dirty="0"/>
          </a:p>
        </p:txBody>
      </p:sp>
      <p:sp>
        <p:nvSpPr>
          <p:cNvPr id="19" name="Text 17"/>
          <p:cNvSpPr txBox="1"/>
          <p:nvPr/>
        </p:nvSpPr>
        <p:spPr>
          <a:xfrm>
            <a:off x="5212080" y="2441448"/>
            <a:ext cx="2651760" cy="502920"/>
          </a:xfrm>
          <a:prstGeom prst="rect">
            <a:avLst/>
          </a:prstGeom>
          <a:noFill/>
          <a:ln/>
        </p:spPr>
        <p:txBody>
          <a:bodyPr wrap="square" lIns="0" tIns="0" rIns="0" bIns="0" rtlCol="0" anchor="ctr"/>
          <a:lstStyle/>
          <a:p>
            <a:pPr indent="0" marL="0">
              <a:buNone/>
            </a:pPr>
            <a:r>
              <a:rPr lang="en-US" sz="2400" b="1" dirty="0">
                <a:solidFill>
                  <a:srgbClr val="1B2433"/>
                </a:solidFill>
                <a:latin typeface="Cambria" pitchFamily="34" charset="0"/>
                <a:ea typeface="Cambria" pitchFamily="34" charset="-122"/>
                <a:cs typeface="Cambria" pitchFamily="34" charset="-120"/>
              </a:rPr>
              <a:t>Warn and ask</a:t>
            </a:r>
            <a:endParaRPr lang="en-US" sz="2400" dirty="0"/>
          </a:p>
        </p:txBody>
      </p:sp>
      <p:sp>
        <p:nvSpPr>
          <p:cNvPr id="20" name="Text 18"/>
          <p:cNvSpPr txBox="1"/>
          <p:nvPr/>
        </p:nvSpPr>
        <p:spPr>
          <a:xfrm>
            <a:off x="4343400" y="3291840"/>
            <a:ext cx="3520440" cy="274320"/>
          </a:xfrm>
          <a:prstGeom prst="rect">
            <a:avLst/>
          </a:prstGeom>
          <a:noFill/>
          <a:ln/>
        </p:spPr>
        <p:txBody>
          <a:bodyPr wrap="square" lIns="0" tIns="0" rIns="0" bIns="0" rtlCol="0" anchor="ctr"/>
          <a:lstStyle/>
          <a:p>
            <a:pPr indent="0" marL="0">
              <a:buNone/>
            </a:pPr>
            <a:r>
              <a:rPr lang="en-US" sz="1200" b="1" dirty="0">
                <a:solidFill>
                  <a:srgbClr val="3A4353"/>
                </a:solidFill>
                <a:latin typeface="Calibri" pitchFamily="34" charset="0"/>
                <a:ea typeface="Calibri" pitchFamily="34" charset="-122"/>
                <a:cs typeface="Calibri" pitchFamily="34" charset="-120"/>
              </a:rPr>
              <a:t>When</a:t>
            </a:r>
            <a:endParaRPr lang="en-US" sz="1200" dirty="0"/>
          </a:p>
        </p:txBody>
      </p:sp>
      <p:sp>
        <p:nvSpPr>
          <p:cNvPr id="21" name="Text 19"/>
          <p:cNvSpPr txBox="1"/>
          <p:nvPr/>
        </p:nvSpPr>
        <p:spPr>
          <a:xfrm>
            <a:off x="4343400" y="3566160"/>
            <a:ext cx="3520440" cy="548640"/>
          </a:xfrm>
          <a:prstGeom prst="rect">
            <a:avLst/>
          </a:prstGeom>
          <a:noFill/>
          <a:ln/>
        </p:spPr>
        <p:txBody>
          <a:bodyPr wrap="square" lIns="0" tIns="0" rIns="0" bIns="0" rtlCol="0" anchor="t"/>
          <a:lstStyle/>
          <a:p>
            <a:pPr indent="0" marL="0">
              <a:spcAft>
                <a:spcPts val="400"/>
              </a:spcAft>
              <a:buNone/>
            </a:pPr>
            <a:r>
              <a:rPr lang="en-US" sz="1400" dirty="0">
                <a:solidFill>
                  <a:srgbClr val="3A4353"/>
                </a:solidFill>
                <a:latin typeface="Calibri" pitchFamily="34" charset="0"/>
                <a:ea typeface="Calibri" pitchFamily="34" charset="-122"/>
                <a:cs typeface="Calibri" pitchFamily="34" charset="-120"/>
              </a:rPr>
              <a:t>Score above threshold 2, and at least 2 stages active</a:t>
            </a:r>
            <a:endParaRPr lang="en-US" sz="1400" dirty="0"/>
          </a:p>
        </p:txBody>
      </p:sp>
      <p:sp>
        <p:nvSpPr>
          <p:cNvPr id="22" name="Text 20"/>
          <p:cNvSpPr txBox="1"/>
          <p:nvPr/>
        </p:nvSpPr>
        <p:spPr>
          <a:xfrm>
            <a:off x="4343400" y="4160520"/>
            <a:ext cx="3520440" cy="274320"/>
          </a:xfrm>
          <a:prstGeom prst="rect">
            <a:avLst/>
          </a:prstGeom>
          <a:noFill/>
          <a:ln/>
        </p:spPr>
        <p:txBody>
          <a:bodyPr wrap="square" lIns="0" tIns="0" rIns="0" bIns="0" rtlCol="0" anchor="ctr"/>
          <a:lstStyle/>
          <a:p>
            <a:pPr indent="0" marL="0">
              <a:buNone/>
            </a:pPr>
            <a:r>
              <a:rPr lang="en-US" sz="1200" b="1" dirty="0">
                <a:solidFill>
                  <a:srgbClr val="3A4353"/>
                </a:solidFill>
                <a:latin typeface="Calibri" pitchFamily="34" charset="0"/>
                <a:ea typeface="Calibri" pitchFamily="34" charset="-122"/>
                <a:cs typeface="Calibri" pitchFamily="34" charset="-120"/>
              </a:rPr>
              <a:t>Customer sees</a:t>
            </a:r>
            <a:endParaRPr lang="en-US" sz="1200" dirty="0"/>
          </a:p>
        </p:txBody>
      </p:sp>
      <p:sp>
        <p:nvSpPr>
          <p:cNvPr id="23" name="Text 21"/>
          <p:cNvSpPr txBox="1"/>
          <p:nvPr/>
        </p:nvSpPr>
        <p:spPr>
          <a:xfrm>
            <a:off x="4343400" y="4434840"/>
            <a:ext cx="3520440" cy="777240"/>
          </a:xfrm>
          <a:prstGeom prst="rect">
            <a:avLst/>
          </a:prstGeom>
          <a:noFill/>
          <a:ln/>
        </p:spPr>
        <p:txBody>
          <a:bodyPr wrap="square" lIns="0" tIns="0" rIns="0" bIns="0" rtlCol="0" anchor="t"/>
          <a:lstStyle/>
          <a:p>
            <a:pPr indent="0" marL="0">
              <a:spcAft>
                <a:spcPts val="400"/>
              </a:spcAft>
              <a:buNone/>
            </a:pPr>
            <a:r>
              <a:rPr lang="en-US" sz="1400" dirty="0">
                <a:solidFill>
                  <a:srgbClr val="3A4353"/>
                </a:solidFill>
                <a:latin typeface="Calibri" pitchFamily="34" charset="0"/>
                <a:ea typeface="Calibri" pitchFamily="34" charset="-122"/>
                <a:cs typeface="Calibri" pitchFamily="34" charset="-120"/>
              </a:rPr>
              <a:t>A warning that names the likely scam, and two questions. The customer can still pay.</a:t>
            </a:r>
            <a:endParaRPr lang="en-US" sz="1400" dirty="0"/>
          </a:p>
        </p:txBody>
      </p:sp>
      <p:sp>
        <p:nvSpPr>
          <p:cNvPr id="24" name="Shape 22"/>
          <p:cNvSpPr/>
          <p:nvPr/>
        </p:nvSpPr>
        <p:spPr>
          <a:xfrm>
            <a:off x="4343400" y="5303520"/>
            <a:ext cx="3520440" cy="0"/>
          </a:xfrm>
          <a:prstGeom prst="line">
            <a:avLst/>
          </a:prstGeom>
          <a:noFill/>
          <a:ln w="12700">
            <a:solidFill>
              <a:srgbClr val="D9DCE1"/>
            </a:solidFill>
            <a:prstDash val="solid"/>
          </a:ln>
        </p:spPr>
      </p:sp>
      <p:sp>
        <p:nvSpPr>
          <p:cNvPr id="25" name="Text 23"/>
          <p:cNvSpPr txBox="1"/>
          <p:nvPr/>
        </p:nvSpPr>
        <p:spPr>
          <a:xfrm>
            <a:off x="4343400" y="5394960"/>
            <a:ext cx="1097280" cy="502920"/>
          </a:xfrm>
          <a:prstGeom prst="rect">
            <a:avLst/>
          </a:prstGeom>
          <a:noFill/>
          <a:ln/>
        </p:spPr>
        <p:txBody>
          <a:bodyPr wrap="square" lIns="0" tIns="0" rIns="0" bIns="0" rtlCol="0" anchor="ctr"/>
          <a:lstStyle/>
          <a:p>
            <a:pPr indent="0" marL="0">
              <a:buNone/>
            </a:pPr>
            <a:r>
              <a:rPr lang="en-US" sz="2800" b="1" dirty="0">
                <a:solidFill>
                  <a:srgbClr val="1B2433"/>
                </a:solidFill>
                <a:latin typeface="Cambria" pitchFamily="34" charset="0"/>
                <a:ea typeface="Cambria" pitchFamily="34" charset="-122"/>
                <a:cs typeface="Cambria" pitchFamily="34" charset="-120"/>
              </a:rPr>
              <a:t>2.77</a:t>
            </a:r>
            <a:endParaRPr lang="en-US" sz="2800" dirty="0"/>
          </a:p>
        </p:txBody>
      </p:sp>
      <p:sp>
        <p:nvSpPr>
          <p:cNvPr id="26" name="Text 24"/>
          <p:cNvSpPr txBox="1"/>
          <p:nvPr/>
        </p:nvSpPr>
        <p:spPr>
          <a:xfrm>
            <a:off x="5486400" y="5458968"/>
            <a:ext cx="2377440" cy="502920"/>
          </a:xfrm>
          <a:prstGeom prst="rect">
            <a:avLst/>
          </a:prstGeom>
          <a:noFill/>
          <a:ln/>
        </p:spPr>
        <p:txBody>
          <a:bodyPr wrap="square" lIns="0" tIns="0" rIns="0" bIns="0" rtlCol="0" anchor="t"/>
          <a:lstStyle/>
          <a:p>
            <a:pPr indent="0" marL="0">
              <a:spcAft>
                <a:spcPts val="400"/>
              </a:spcAft>
              <a:buNone/>
            </a:pPr>
            <a:r>
              <a:rPr lang="en-US" sz="1200" dirty="0">
                <a:solidFill>
                  <a:srgbClr val="6E747E"/>
                </a:solidFill>
                <a:latin typeface="Calibri" pitchFamily="34" charset="0"/>
                <a:ea typeface="Calibri" pitchFamily="34" charset="-122"/>
                <a:cs typeface="Calibri" pitchFamily="34" charset="-120"/>
              </a:rPr>
              <a:t>genuine sessions per 1,000</a:t>
            </a:r>
            <a:endParaRPr lang="en-US" sz="1200" dirty="0"/>
          </a:p>
          <a:p>
            <a:pPr indent="0" marL="0">
              <a:spcAft>
                <a:spcPts val="400"/>
              </a:spcAft>
              <a:buNone/>
            </a:pPr>
            <a:r>
              <a:rPr lang="en-US" sz="1200" dirty="0">
                <a:solidFill>
                  <a:srgbClr val="6E747E"/>
                </a:solidFill>
                <a:latin typeface="Calibri" pitchFamily="34" charset="0"/>
                <a:ea typeface="Calibri" pitchFamily="34" charset="-122"/>
                <a:cs typeface="Calibri" pitchFamily="34" charset="-120"/>
              </a:rPr>
              <a:t>measured on synthetic data (target 3)</a:t>
            </a:r>
            <a:endParaRPr lang="en-US" sz="1200" dirty="0"/>
          </a:p>
        </p:txBody>
      </p:sp>
      <p:sp>
        <p:nvSpPr>
          <p:cNvPr id="27" name="Shape 25"/>
          <p:cNvSpPr/>
          <p:nvPr/>
        </p:nvSpPr>
        <p:spPr>
          <a:xfrm>
            <a:off x="8138160" y="2331720"/>
            <a:ext cx="722376" cy="722376"/>
          </a:xfrm>
          <a:prstGeom prst="ellipse">
            <a:avLst/>
          </a:prstGeom>
          <a:solidFill>
            <a:srgbClr val="D9480F"/>
          </a:solidFill>
          <a:ln w="12700">
            <a:solidFill>
              <a:srgbClr val="D9480F"/>
            </a:solidFill>
            <a:prstDash val="solid"/>
          </a:ln>
        </p:spPr>
      </p:sp>
      <p:sp>
        <p:nvSpPr>
          <p:cNvPr id="28" name="Text 26"/>
          <p:cNvSpPr txBox="1"/>
          <p:nvPr/>
        </p:nvSpPr>
        <p:spPr>
          <a:xfrm>
            <a:off x="8138160" y="2331720"/>
            <a:ext cx="722376" cy="72237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9" name="Text 27"/>
          <p:cNvSpPr txBox="1"/>
          <p:nvPr/>
        </p:nvSpPr>
        <p:spPr>
          <a:xfrm>
            <a:off x="9006840" y="2441448"/>
            <a:ext cx="2651760" cy="502920"/>
          </a:xfrm>
          <a:prstGeom prst="rect">
            <a:avLst/>
          </a:prstGeom>
          <a:noFill/>
          <a:ln/>
        </p:spPr>
        <p:txBody>
          <a:bodyPr wrap="square" lIns="0" tIns="0" rIns="0" bIns="0" rtlCol="0" anchor="ctr"/>
          <a:lstStyle/>
          <a:p>
            <a:pPr indent="0" marL="0">
              <a:buNone/>
            </a:pPr>
            <a:r>
              <a:rPr lang="en-US" sz="2400" b="1" dirty="0">
                <a:solidFill>
                  <a:srgbClr val="D9480F"/>
                </a:solidFill>
                <a:latin typeface="Cambria" pitchFamily="34" charset="0"/>
                <a:ea typeface="Cambria" pitchFamily="34" charset="-122"/>
                <a:cs typeface="Cambria" pitchFamily="34" charset="-120"/>
              </a:rPr>
              <a:t>Hold and review</a:t>
            </a:r>
            <a:endParaRPr lang="en-US" sz="2400" dirty="0"/>
          </a:p>
        </p:txBody>
      </p:sp>
      <p:sp>
        <p:nvSpPr>
          <p:cNvPr id="30" name="Text 28"/>
          <p:cNvSpPr txBox="1"/>
          <p:nvPr/>
        </p:nvSpPr>
        <p:spPr>
          <a:xfrm>
            <a:off x="8138160" y="3291840"/>
            <a:ext cx="3520440" cy="274320"/>
          </a:xfrm>
          <a:prstGeom prst="rect">
            <a:avLst/>
          </a:prstGeom>
          <a:noFill/>
          <a:ln/>
        </p:spPr>
        <p:txBody>
          <a:bodyPr wrap="square" lIns="0" tIns="0" rIns="0" bIns="0" rtlCol="0" anchor="ctr"/>
          <a:lstStyle/>
          <a:p>
            <a:pPr indent="0" marL="0">
              <a:buNone/>
            </a:pPr>
            <a:r>
              <a:rPr lang="en-US" sz="1200" b="1" dirty="0">
                <a:solidFill>
                  <a:srgbClr val="3A4353"/>
                </a:solidFill>
                <a:latin typeface="Calibri" pitchFamily="34" charset="0"/>
                <a:ea typeface="Calibri" pitchFamily="34" charset="-122"/>
                <a:cs typeface="Calibri" pitchFamily="34" charset="-120"/>
              </a:rPr>
              <a:t>When</a:t>
            </a:r>
            <a:endParaRPr lang="en-US" sz="1200" dirty="0"/>
          </a:p>
        </p:txBody>
      </p:sp>
      <p:sp>
        <p:nvSpPr>
          <p:cNvPr id="31" name="Text 29"/>
          <p:cNvSpPr txBox="1"/>
          <p:nvPr/>
        </p:nvSpPr>
        <p:spPr>
          <a:xfrm>
            <a:off x="8138160" y="3566160"/>
            <a:ext cx="3520440" cy="548640"/>
          </a:xfrm>
          <a:prstGeom prst="rect">
            <a:avLst/>
          </a:prstGeom>
          <a:noFill/>
          <a:ln/>
        </p:spPr>
        <p:txBody>
          <a:bodyPr wrap="square" lIns="0" tIns="0" rIns="0" bIns="0" rtlCol="0" anchor="t"/>
          <a:lstStyle/>
          <a:p>
            <a:pPr indent="0" marL="0">
              <a:spcAft>
                <a:spcPts val="400"/>
              </a:spcAft>
              <a:buNone/>
            </a:pPr>
            <a:r>
              <a:rPr lang="en-US" sz="1400" dirty="0">
                <a:solidFill>
                  <a:srgbClr val="3A4353"/>
                </a:solidFill>
                <a:latin typeface="Calibri" pitchFamily="34" charset="0"/>
                <a:ea typeface="Calibri" pitchFamily="34" charset="-122"/>
                <a:cs typeface="Calibri" pitchFamily="34" charset="-120"/>
              </a:rPr>
              <a:t>Score above threshold 3, and 3 stages (or 2 plus a suspect-list match)</a:t>
            </a:r>
            <a:endParaRPr lang="en-US" sz="1400" dirty="0"/>
          </a:p>
        </p:txBody>
      </p:sp>
      <p:sp>
        <p:nvSpPr>
          <p:cNvPr id="32" name="Text 30"/>
          <p:cNvSpPr txBox="1"/>
          <p:nvPr/>
        </p:nvSpPr>
        <p:spPr>
          <a:xfrm>
            <a:off x="8138160" y="4160520"/>
            <a:ext cx="3520440" cy="274320"/>
          </a:xfrm>
          <a:prstGeom prst="rect">
            <a:avLst/>
          </a:prstGeom>
          <a:noFill/>
          <a:ln/>
        </p:spPr>
        <p:txBody>
          <a:bodyPr wrap="square" lIns="0" tIns="0" rIns="0" bIns="0" rtlCol="0" anchor="ctr"/>
          <a:lstStyle/>
          <a:p>
            <a:pPr indent="0" marL="0">
              <a:buNone/>
            </a:pPr>
            <a:r>
              <a:rPr lang="en-US" sz="1200" b="1" dirty="0">
                <a:solidFill>
                  <a:srgbClr val="3A4353"/>
                </a:solidFill>
                <a:latin typeface="Calibri" pitchFamily="34" charset="0"/>
                <a:ea typeface="Calibri" pitchFamily="34" charset="-122"/>
                <a:cs typeface="Calibri" pitchFamily="34" charset="-120"/>
              </a:rPr>
              <a:t>Customer sees</a:t>
            </a:r>
            <a:endParaRPr lang="en-US" sz="1200" dirty="0"/>
          </a:p>
        </p:txBody>
      </p:sp>
      <p:sp>
        <p:nvSpPr>
          <p:cNvPr id="33" name="Text 31"/>
          <p:cNvSpPr txBox="1"/>
          <p:nvPr/>
        </p:nvSpPr>
        <p:spPr>
          <a:xfrm>
            <a:off x="8138160" y="4434840"/>
            <a:ext cx="3520440" cy="777240"/>
          </a:xfrm>
          <a:prstGeom prst="rect">
            <a:avLst/>
          </a:prstGeom>
          <a:noFill/>
          <a:ln/>
        </p:spPr>
        <p:txBody>
          <a:bodyPr wrap="square" lIns="0" tIns="0" rIns="0" bIns="0" rtlCol="0" anchor="t"/>
          <a:lstStyle/>
          <a:p>
            <a:pPr indent="0" marL="0">
              <a:spcAft>
                <a:spcPts val="400"/>
              </a:spcAft>
              <a:buNone/>
            </a:pPr>
            <a:r>
              <a:rPr lang="en-US" sz="1400" dirty="0">
                <a:solidFill>
                  <a:srgbClr val="3A4353"/>
                </a:solidFill>
                <a:latin typeface="Calibri" pitchFamily="34" charset="0"/>
                <a:ea typeface="Calibri" pitchFamily="34" charset="-122"/>
                <a:cs typeface="Calibri" pitchFamily="34" charset="-120"/>
              </a:rPr>
              <a:t>The payment is held for up to 30 minutes and a bank agent calls. Two staff must approve a release.</a:t>
            </a:r>
            <a:endParaRPr lang="en-US" sz="1400" dirty="0"/>
          </a:p>
        </p:txBody>
      </p:sp>
      <p:sp>
        <p:nvSpPr>
          <p:cNvPr id="34" name="Shape 32"/>
          <p:cNvSpPr/>
          <p:nvPr/>
        </p:nvSpPr>
        <p:spPr>
          <a:xfrm>
            <a:off x="8138160" y="5303520"/>
            <a:ext cx="3520440" cy="0"/>
          </a:xfrm>
          <a:prstGeom prst="line">
            <a:avLst/>
          </a:prstGeom>
          <a:noFill/>
          <a:ln w="12700">
            <a:solidFill>
              <a:srgbClr val="D9DCE1"/>
            </a:solidFill>
            <a:prstDash val="solid"/>
          </a:ln>
        </p:spPr>
      </p:sp>
      <p:sp>
        <p:nvSpPr>
          <p:cNvPr id="35" name="Text 33"/>
          <p:cNvSpPr txBox="1"/>
          <p:nvPr/>
        </p:nvSpPr>
        <p:spPr>
          <a:xfrm>
            <a:off x="8138160" y="5394960"/>
            <a:ext cx="1097280" cy="502920"/>
          </a:xfrm>
          <a:prstGeom prst="rect">
            <a:avLst/>
          </a:prstGeom>
          <a:noFill/>
          <a:ln/>
        </p:spPr>
        <p:txBody>
          <a:bodyPr wrap="square" lIns="0" tIns="0" rIns="0" bIns="0" rtlCol="0" anchor="ctr"/>
          <a:lstStyle/>
          <a:p>
            <a:pPr indent="0" marL="0">
              <a:buNone/>
            </a:pPr>
            <a:r>
              <a:rPr lang="en-US" sz="2800" b="1" dirty="0">
                <a:solidFill>
                  <a:srgbClr val="1B2433"/>
                </a:solidFill>
                <a:latin typeface="Cambria" pitchFamily="34" charset="0"/>
                <a:ea typeface="Cambria" pitchFamily="34" charset="-122"/>
                <a:cs typeface="Cambria" pitchFamily="34" charset="-120"/>
              </a:rPr>
              <a:t>0.07</a:t>
            </a:r>
            <a:endParaRPr lang="en-US" sz="2800" dirty="0"/>
          </a:p>
        </p:txBody>
      </p:sp>
      <p:sp>
        <p:nvSpPr>
          <p:cNvPr id="36" name="Text 34"/>
          <p:cNvSpPr txBox="1"/>
          <p:nvPr/>
        </p:nvSpPr>
        <p:spPr>
          <a:xfrm>
            <a:off x="9281160" y="5458968"/>
            <a:ext cx="2377440" cy="502920"/>
          </a:xfrm>
          <a:prstGeom prst="rect">
            <a:avLst/>
          </a:prstGeom>
          <a:noFill/>
          <a:ln/>
        </p:spPr>
        <p:txBody>
          <a:bodyPr wrap="square" lIns="0" tIns="0" rIns="0" bIns="0" rtlCol="0" anchor="t"/>
          <a:lstStyle/>
          <a:p>
            <a:pPr indent="0" marL="0">
              <a:spcAft>
                <a:spcPts val="400"/>
              </a:spcAft>
              <a:buNone/>
            </a:pPr>
            <a:r>
              <a:rPr lang="en-US" sz="1200" dirty="0">
                <a:solidFill>
                  <a:srgbClr val="6E747E"/>
                </a:solidFill>
                <a:latin typeface="Calibri" pitchFamily="34" charset="0"/>
                <a:ea typeface="Calibri" pitchFamily="34" charset="-122"/>
                <a:cs typeface="Calibri" pitchFamily="34" charset="-120"/>
              </a:rPr>
              <a:t>genuine sessions per 1,000</a:t>
            </a:r>
            <a:endParaRPr lang="en-US" sz="1200" dirty="0"/>
          </a:p>
          <a:p>
            <a:pPr indent="0" marL="0">
              <a:spcAft>
                <a:spcPts val="400"/>
              </a:spcAft>
              <a:buNone/>
            </a:pPr>
            <a:r>
              <a:rPr lang="en-US" sz="1200" dirty="0">
                <a:solidFill>
                  <a:srgbClr val="6E747E"/>
                </a:solidFill>
                <a:latin typeface="Calibri" pitchFamily="34" charset="0"/>
                <a:ea typeface="Calibri" pitchFamily="34" charset="-122"/>
                <a:cs typeface="Calibri" pitchFamily="34" charset="-120"/>
              </a:rPr>
              <a:t>measured on synthetic data (target 0.5)</a:t>
            </a:r>
            <a:endParaRPr lang="en-US" sz="1200" dirty="0"/>
          </a:p>
        </p:txBody>
      </p:sp>
      <p:sp>
        <p:nvSpPr>
          <p:cNvPr id="37" name="Text 35"/>
          <p:cNvSpPr txBox="1"/>
          <p:nvPr/>
        </p:nvSpPr>
        <p:spPr>
          <a:xfrm>
            <a:off x="548640" y="6080760"/>
            <a:ext cx="8229600" cy="320040"/>
          </a:xfrm>
          <a:prstGeom prst="rect">
            <a:avLst/>
          </a:prstGeom>
          <a:noFill/>
          <a:ln/>
        </p:spPr>
        <p:txBody>
          <a:bodyPr wrap="square" lIns="0" tIns="0" rIns="0" bIns="0" rtlCol="0" anchor="ctr"/>
          <a:lstStyle/>
          <a:p>
            <a:pPr indent="0" marL="0">
              <a:buNone/>
            </a:pPr>
            <a:r>
              <a:rPr lang="en-US" sz="1600" i="1" dirty="0">
                <a:solidFill>
                  <a:srgbClr val="1B2433"/>
                </a:solidFill>
                <a:latin typeface="Cambria" pitchFamily="34" charset="0"/>
                <a:ea typeface="Cambria" pitchFamily="34" charset="-122"/>
                <a:cs typeface="Cambria" pitchFamily="34" charset="-120"/>
              </a:rPr>
              <a:t>Nothing is blocked permanently. A person decides every hold.</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5486400" cy="274320"/>
          </a:xfrm>
          <a:prstGeom prst="rect">
            <a:avLst/>
          </a:prstGeom>
          <a:noFill/>
          <a:ln/>
        </p:spPr>
        <p:txBody>
          <a:bodyPr wrap="square" lIns="0" tIns="0" rIns="0" bIns="0" rtlCol="0" anchor="ctr"/>
          <a:lstStyle/>
          <a:p>
            <a:pPr indent="0" marL="0">
              <a:buNone/>
            </a:pPr>
            <a:r>
              <a:rPr lang="en-US" sz="1100" dirty="0">
                <a:solidFill>
                  <a:srgbClr val="6E747E"/>
                </a:solidFill>
                <a:latin typeface="Calibri" pitchFamily="34" charset="0"/>
                <a:ea typeface="Calibri" pitchFamily="34" charset="-122"/>
                <a:cs typeface="Calibri" pitchFamily="34" charset="-120"/>
              </a:rPr>
              <a:t>4  ·  Example</a:t>
            </a:r>
            <a:endParaRPr lang="en-US" sz="1100" dirty="0"/>
          </a:p>
        </p:txBody>
      </p:sp>
      <p:sp>
        <p:nvSpPr>
          <p:cNvPr id="3" name="Text 1"/>
          <p:cNvSpPr txBox="1"/>
          <p:nvPr/>
        </p:nvSpPr>
        <p:spPr>
          <a:xfrm>
            <a:off x="8899855" y="256032"/>
            <a:ext cx="2743200" cy="274320"/>
          </a:xfrm>
          <a:prstGeom prst="rect">
            <a:avLst/>
          </a:prstGeom>
          <a:noFill/>
          <a:ln/>
        </p:spPr>
        <p:txBody>
          <a:bodyPr wrap="square" lIns="0" tIns="0" rIns="0" bIns="0" rtlCol="0" anchor="ctr"/>
          <a:lstStyle/>
          <a:p>
            <a:pPr algn="r" indent="0" marL="0">
              <a:buNone/>
            </a:pPr>
            <a:r>
              <a:rPr lang="en-US" sz="1100" dirty="0">
                <a:solidFill>
                  <a:srgbClr val="6E747E"/>
                </a:solidFill>
                <a:latin typeface="Calibri" pitchFamily="34" charset="0"/>
                <a:ea typeface="Calibri" pitchFamily="34" charset="-122"/>
                <a:cs typeface="Calibri" pitchFamily="34" charset="-120"/>
              </a:rPr>
              <a:t>Chakravyuh</a:t>
            </a:r>
            <a:endParaRPr lang="en-US" sz="1100" dirty="0"/>
          </a:p>
        </p:txBody>
      </p:sp>
      <p:sp>
        <p:nvSpPr>
          <p:cNvPr id="4" name="Text 2"/>
          <p:cNvSpPr txBox="1"/>
          <p:nvPr/>
        </p:nvSpPr>
        <p:spPr>
          <a:xfrm>
            <a:off x="9814255" y="6446520"/>
            <a:ext cx="1828800" cy="228600"/>
          </a:xfrm>
          <a:prstGeom prst="rect">
            <a:avLst/>
          </a:prstGeom>
          <a:noFill/>
          <a:ln/>
        </p:spPr>
        <p:txBody>
          <a:bodyPr wrap="square" lIns="0" tIns="0" rIns="0" bIns="0" rtlCol="0" anchor="ctr"/>
          <a:lstStyle/>
          <a:p>
            <a:pPr algn="r" indent="0" marL="0">
              <a:buNone/>
            </a:pPr>
            <a:r>
              <a:rPr lang="en-US" sz="1000" dirty="0">
                <a:solidFill>
                  <a:srgbClr val="6E747E"/>
                </a:solidFill>
                <a:latin typeface="Calibri" pitchFamily="34" charset="0"/>
                <a:ea typeface="Calibri" pitchFamily="34" charset="-122"/>
                <a:cs typeface="Calibri" pitchFamily="34" charset="-120"/>
              </a:rPr>
              <a:t>5 / 16</a:t>
            </a:r>
            <a:endParaRPr lang="en-US" sz="1000" dirty="0"/>
          </a:p>
        </p:txBody>
      </p:sp>
      <p:sp>
        <p:nvSpPr>
          <p:cNvPr id="5" name="Text 3"/>
          <p:cNvSpPr txBox="1"/>
          <p:nvPr/>
        </p:nvSpPr>
        <p:spPr>
          <a:xfrm>
            <a:off x="548640" y="640080"/>
            <a:ext cx="11094415" cy="731520"/>
          </a:xfrm>
          <a:prstGeom prst="rect">
            <a:avLst/>
          </a:prstGeom>
          <a:noFill/>
          <a:ln/>
        </p:spPr>
        <p:txBody>
          <a:bodyPr wrap="square" lIns="0" tIns="0" rIns="0" bIns="0" rtlCol="0" anchor="t"/>
          <a:lstStyle/>
          <a:p>
            <a:pPr indent="0" marL="0">
              <a:buNone/>
            </a:pPr>
            <a:r>
              <a:rPr lang="en-US" sz="3400" b="1" dirty="0">
                <a:solidFill>
                  <a:srgbClr val="1B2433"/>
                </a:solidFill>
                <a:latin typeface="Cambria" pitchFamily="34" charset="0"/>
                <a:ea typeface="Cambria" pitchFamily="34" charset="-122"/>
                <a:cs typeface="Cambria" pitchFamily="34" charset="-120"/>
              </a:rPr>
              <a:t>Example: Mrs R., 68</a:t>
            </a:r>
            <a:endParaRPr lang="en-US" sz="3400" dirty="0"/>
          </a:p>
        </p:txBody>
      </p:sp>
      <p:sp>
        <p:nvSpPr>
          <p:cNvPr id="6" name="Text 4"/>
          <p:cNvSpPr txBox="1"/>
          <p:nvPr/>
        </p:nvSpPr>
        <p:spPr>
          <a:xfrm>
            <a:off x="548640" y="1261872"/>
            <a:ext cx="7315200" cy="320040"/>
          </a:xfrm>
          <a:prstGeom prst="rect">
            <a:avLst/>
          </a:prstGeom>
          <a:noFill/>
          <a:ln/>
        </p:spPr>
        <p:txBody>
          <a:bodyPr wrap="square" lIns="0" tIns="0" rIns="0" bIns="0" rtlCol="0" anchor="ctr"/>
          <a:lstStyle/>
          <a:p>
            <a:pPr indent="0" marL="0">
              <a:buNone/>
            </a:pPr>
            <a:r>
              <a:rPr lang="en-US" sz="1400" i="1" dirty="0">
                <a:solidFill>
                  <a:srgbClr val="6E747E"/>
                </a:solidFill>
                <a:latin typeface="Calibri" pitchFamily="34" charset="0"/>
                <a:ea typeface="Calibri" pitchFamily="34" charset="-122"/>
                <a:cs typeface="Calibri" pitchFamily="34" charset="-120"/>
              </a:rPr>
              <a:t>A made-up case based on reported digital-arrest scams.</a:t>
            </a:r>
            <a:endParaRPr lang="en-US" sz="1400" dirty="0"/>
          </a:p>
        </p:txBody>
      </p:sp>
      <p:sp>
        <p:nvSpPr>
          <p:cNvPr id="7" name="Shape 5"/>
          <p:cNvSpPr/>
          <p:nvPr/>
        </p:nvSpPr>
        <p:spPr>
          <a:xfrm>
            <a:off x="640080" y="2011680"/>
            <a:ext cx="6629400" cy="0"/>
          </a:xfrm>
          <a:prstGeom prst="line">
            <a:avLst/>
          </a:prstGeom>
          <a:noFill/>
          <a:ln w="15875">
            <a:solidFill>
              <a:srgbClr val="3A4353"/>
            </a:solidFill>
            <a:prstDash val="solid"/>
          </a:ln>
        </p:spPr>
      </p:sp>
      <p:sp>
        <p:nvSpPr>
          <p:cNvPr id="8" name="Shape 6"/>
          <p:cNvSpPr/>
          <p:nvPr/>
        </p:nvSpPr>
        <p:spPr>
          <a:xfrm>
            <a:off x="548640" y="1920240"/>
            <a:ext cx="182880" cy="182880"/>
          </a:xfrm>
          <a:prstGeom prst="ellipse">
            <a:avLst/>
          </a:prstGeom>
          <a:solidFill>
            <a:srgbClr val="FFFFFF"/>
          </a:solidFill>
          <a:ln w="19050">
            <a:solidFill>
              <a:srgbClr val="3A4353"/>
            </a:solidFill>
            <a:prstDash val="solid"/>
          </a:ln>
        </p:spPr>
      </p:sp>
      <p:sp>
        <p:nvSpPr>
          <p:cNvPr id="9" name="Text 7"/>
          <p:cNvSpPr txBox="1"/>
          <p:nvPr/>
        </p:nvSpPr>
        <p:spPr>
          <a:xfrm>
            <a:off x="548640" y="2240280"/>
            <a:ext cx="1234440" cy="548640"/>
          </a:xfrm>
          <a:prstGeom prst="rect">
            <a:avLst/>
          </a:prstGeom>
          <a:noFill/>
          <a:ln/>
        </p:spPr>
        <p:txBody>
          <a:bodyPr wrap="square" lIns="0" tIns="0" rIns="0" bIns="0" rtlCol="0" anchor="ctr"/>
          <a:lstStyle/>
          <a:p>
            <a:pPr indent="0" marL="0">
              <a:buNone/>
            </a:pPr>
            <a:r>
              <a:rPr lang="en-US" sz="1400" b="1" dirty="0">
                <a:solidFill>
                  <a:srgbClr val="1B2433"/>
                </a:solidFill>
                <a:latin typeface="Calibri" pitchFamily="34" charset="0"/>
                <a:ea typeface="Calibri" pitchFamily="34" charset="-122"/>
                <a:cs typeface="Calibri" pitchFamily="34" charset="-120"/>
              </a:rPr>
              <a:t>Fake CBI video call</a:t>
            </a:r>
            <a:endParaRPr lang="en-US" sz="1400" dirty="0"/>
          </a:p>
        </p:txBody>
      </p:sp>
      <p:sp>
        <p:nvSpPr>
          <p:cNvPr id="10" name="Text 8"/>
          <p:cNvSpPr txBox="1"/>
          <p:nvPr/>
        </p:nvSpPr>
        <p:spPr>
          <a:xfrm>
            <a:off x="548640" y="2788920"/>
            <a:ext cx="1234440" cy="274320"/>
          </a:xfrm>
          <a:prstGeom prst="rect">
            <a:avLst/>
          </a:prstGeom>
          <a:noFill/>
          <a:ln/>
        </p:spPr>
        <p:txBody>
          <a:bodyPr wrap="square" lIns="0" tIns="0" rIns="0" bIns="0" rtlCol="0" anchor="ctr"/>
          <a:lstStyle/>
          <a:p>
            <a:pPr indent="0" marL="0">
              <a:buNone/>
            </a:pPr>
            <a:r>
              <a:rPr lang="en-US" sz="1200" dirty="0">
                <a:solidFill>
                  <a:srgbClr val="6E747E"/>
                </a:solidFill>
                <a:latin typeface="Calibri" pitchFamily="34" charset="0"/>
                <a:ea typeface="Calibri" pitchFamily="34" charset="-122"/>
                <a:cs typeface="Calibri" pitchFamily="34" charset="-120"/>
              </a:rPr>
              <a:t>contact</a:t>
            </a:r>
            <a:endParaRPr lang="en-US" sz="1200" dirty="0"/>
          </a:p>
        </p:txBody>
      </p:sp>
      <p:sp>
        <p:nvSpPr>
          <p:cNvPr id="11" name="Shape 9"/>
          <p:cNvSpPr/>
          <p:nvPr/>
        </p:nvSpPr>
        <p:spPr>
          <a:xfrm>
            <a:off x="1874520" y="1920240"/>
            <a:ext cx="182880" cy="182880"/>
          </a:xfrm>
          <a:prstGeom prst="ellipse">
            <a:avLst/>
          </a:prstGeom>
          <a:solidFill>
            <a:srgbClr val="FFFFFF"/>
          </a:solidFill>
          <a:ln w="19050">
            <a:solidFill>
              <a:srgbClr val="3A4353"/>
            </a:solidFill>
            <a:prstDash val="solid"/>
          </a:ln>
        </p:spPr>
      </p:sp>
      <p:sp>
        <p:nvSpPr>
          <p:cNvPr id="12" name="Text 10"/>
          <p:cNvSpPr txBox="1"/>
          <p:nvPr/>
        </p:nvSpPr>
        <p:spPr>
          <a:xfrm>
            <a:off x="1874520" y="2240280"/>
            <a:ext cx="1234440" cy="548640"/>
          </a:xfrm>
          <a:prstGeom prst="rect">
            <a:avLst/>
          </a:prstGeom>
          <a:noFill/>
          <a:ln/>
        </p:spPr>
        <p:txBody>
          <a:bodyPr wrap="square" lIns="0" tIns="0" rIns="0" bIns="0" rtlCol="0" anchor="ctr"/>
          <a:lstStyle/>
          <a:p>
            <a:pPr indent="0" marL="0">
              <a:buNone/>
            </a:pPr>
            <a:r>
              <a:rPr lang="en-US" sz="1400" b="1" dirty="0">
                <a:solidFill>
                  <a:srgbClr val="1B2433"/>
                </a:solidFill>
                <a:latin typeface="Calibri" pitchFamily="34" charset="0"/>
                <a:ea typeface="Calibri" pitchFamily="34" charset="-122"/>
                <a:cs typeface="Calibri" pitchFamily="34" charset="-120"/>
              </a:rPr>
              <a:t>Remote-access app</a:t>
            </a:r>
            <a:endParaRPr lang="en-US" sz="1400" dirty="0"/>
          </a:p>
        </p:txBody>
      </p:sp>
      <p:sp>
        <p:nvSpPr>
          <p:cNvPr id="13" name="Text 11"/>
          <p:cNvSpPr txBox="1"/>
          <p:nvPr/>
        </p:nvSpPr>
        <p:spPr>
          <a:xfrm>
            <a:off x="1874520" y="2788920"/>
            <a:ext cx="1234440" cy="274320"/>
          </a:xfrm>
          <a:prstGeom prst="rect">
            <a:avLst/>
          </a:prstGeom>
          <a:noFill/>
          <a:ln/>
        </p:spPr>
        <p:txBody>
          <a:bodyPr wrap="square" lIns="0" tIns="0" rIns="0" bIns="0" rtlCol="0" anchor="ctr"/>
          <a:lstStyle/>
          <a:p>
            <a:pPr indent="0" marL="0">
              <a:buNone/>
            </a:pPr>
            <a:r>
              <a:rPr lang="en-US" sz="1200" dirty="0">
                <a:solidFill>
                  <a:srgbClr val="6E747E"/>
                </a:solidFill>
                <a:latin typeface="Calibri" pitchFamily="34" charset="0"/>
                <a:ea typeface="Calibri" pitchFamily="34" charset="-122"/>
                <a:cs typeface="Calibri" pitchFamily="34" charset="-120"/>
              </a:rPr>
              <a:t>control</a:t>
            </a:r>
            <a:endParaRPr lang="en-US" sz="1200" dirty="0"/>
          </a:p>
        </p:txBody>
      </p:sp>
      <p:sp>
        <p:nvSpPr>
          <p:cNvPr id="14" name="Shape 12"/>
          <p:cNvSpPr/>
          <p:nvPr/>
        </p:nvSpPr>
        <p:spPr>
          <a:xfrm>
            <a:off x="3200400" y="1920240"/>
            <a:ext cx="182880" cy="182880"/>
          </a:xfrm>
          <a:prstGeom prst="ellipse">
            <a:avLst/>
          </a:prstGeom>
          <a:solidFill>
            <a:srgbClr val="FFFFFF"/>
          </a:solidFill>
          <a:ln w="19050">
            <a:solidFill>
              <a:srgbClr val="3A4353"/>
            </a:solidFill>
            <a:prstDash val="solid"/>
          </a:ln>
        </p:spPr>
      </p:sp>
      <p:sp>
        <p:nvSpPr>
          <p:cNvPr id="15" name="Text 13"/>
          <p:cNvSpPr txBox="1"/>
          <p:nvPr/>
        </p:nvSpPr>
        <p:spPr>
          <a:xfrm>
            <a:off x="3200400" y="2240280"/>
            <a:ext cx="1234440" cy="548640"/>
          </a:xfrm>
          <a:prstGeom prst="rect">
            <a:avLst/>
          </a:prstGeom>
          <a:noFill/>
          <a:ln/>
        </p:spPr>
        <p:txBody>
          <a:bodyPr wrap="square" lIns="0" tIns="0" rIns="0" bIns="0" rtlCol="0" anchor="ctr"/>
          <a:lstStyle/>
          <a:p>
            <a:pPr indent="0" marL="0">
              <a:buNone/>
            </a:pPr>
            <a:r>
              <a:rPr lang="en-US" sz="1400" b="1" dirty="0">
                <a:solidFill>
                  <a:srgbClr val="1B2433"/>
                </a:solidFill>
                <a:latin typeface="Calibri" pitchFamily="34" charset="0"/>
                <a:ea typeface="Calibri" pitchFamily="34" charset="-122"/>
                <a:cs typeface="Calibri" pitchFamily="34" charset="-120"/>
              </a:rPr>
              <a:t>FD broken</a:t>
            </a:r>
            <a:endParaRPr lang="en-US" sz="1400" dirty="0"/>
          </a:p>
        </p:txBody>
      </p:sp>
      <p:sp>
        <p:nvSpPr>
          <p:cNvPr id="16" name="Text 14"/>
          <p:cNvSpPr txBox="1"/>
          <p:nvPr/>
        </p:nvSpPr>
        <p:spPr>
          <a:xfrm>
            <a:off x="3200400" y="2788920"/>
            <a:ext cx="1234440" cy="274320"/>
          </a:xfrm>
          <a:prstGeom prst="rect">
            <a:avLst/>
          </a:prstGeom>
          <a:noFill/>
          <a:ln/>
        </p:spPr>
        <p:txBody>
          <a:bodyPr wrap="square" lIns="0" tIns="0" rIns="0" bIns="0" rtlCol="0" anchor="ctr"/>
          <a:lstStyle/>
          <a:p>
            <a:pPr indent="0" marL="0">
              <a:buNone/>
            </a:pPr>
            <a:r>
              <a:rPr lang="en-US" sz="1200" dirty="0">
                <a:solidFill>
                  <a:srgbClr val="6E747E"/>
                </a:solidFill>
                <a:latin typeface="Calibri" pitchFamily="34" charset="0"/>
                <a:ea typeface="Calibri" pitchFamily="34" charset="-122"/>
                <a:cs typeface="Calibri" pitchFamily="34" charset="-120"/>
              </a:rPr>
              <a:t>extraction</a:t>
            </a:r>
            <a:endParaRPr lang="en-US" sz="1200" dirty="0"/>
          </a:p>
        </p:txBody>
      </p:sp>
      <p:sp>
        <p:nvSpPr>
          <p:cNvPr id="17" name="Shape 15"/>
          <p:cNvSpPr/>
          <p:nvPr/>
        </p:nvSpPr>
        <p:spPr>
          <a:xfrm>
            <a:off x="4526280" y="1920240"/>
            <a:ext cx="182880" cy="182880"/>
          </a:xfrm>
          <a:prstGeom prst="ellipse">
            <a:avLst/>
          </a:prstGeom>
          <a:solidFill>
            <a:srgbClr val="FFFFFF"/>
          </a:solidFill>
          <a:ln w="19050">
            <a:solidFill>
              <a:srgbClr val="3A4353"/>
            </a:solidFill>
            <a:prstDash val="solid"/>
          </a:ln>
        </p:spPr>
      </p:sp>
      <p:sp>
        <p:nvSpPr>
          <p:cNvPr id="18" name="Text 16"/>
          <p:cNvSpPr txBox="1"/>
          <p:nvPr/>
        </p:nvSpPr>
        <p:spPr>
          <a:xfrm>
            <a:off x="4526280" y="2240280"/>
            <a:ext cx="1234440" cy="548640"/>
          </a:xfrm>
          <a:prstGeom prst="rect">
            <a:avLst/>
          </a:prstGeom>
          <a:noFill/>
          <a:ln/>
        </p:spPr>
        <p:txBody>
          <a:bodyPr wrap="square" lIns="0" tIns="0" rIns="0" bIns="0" rtlCol="0" anchor="ctr"/>
          <a:lstStyle/>
          <a:p>
            <a:pPr indent="0" marL="0">
              <a:buNone/>
            </a:pPr>
            <a:r>
              <a:rPr lang="en-US" sz="1400" b="1" dirty="0">
                <a:solidFill>
                  <a:srgbClr val="1B2433"/>
                </a:solidFill>
                <a:latin typeface="Calibri" pitchFamily="34" charset="0"/>
                <a:ea typeface="Calibri" pitchFamily="34" charset="-122"/>
                <a:cs typeface="Calibri" pitchFamily="34" charset="-120"/>
              </a:rPr>
              <a:t>First-time payee</a:t>
            </a:r>
            <a:endParaRPr lang="en-US" sz="1400" dirty="0"/>
          </a:p>
        </p:txBody>
      </p:sp>
      <p:sp>
        <p:nvSpPr>
          <p:cNvPr id="19" name="Text 17"/>
          <p:cNvSpPr txBox="1"/>
          <p:nvPr/>
        </p:nvSpPr>
        <p:spPr>
          <a:xfrm>
            <a:off x="4526280" y="2788920"/>
            <a:ext cx="1234440" cy="274320"/>
          </a:xfrm>
          <a:prstGeom prst="rect">
            <a:avLst/>
          </a:prstGeom>
          <a:noFill/>
          <a:ln/>
        </p:spPr>
        <p:txBody>
          <a:bodyPr wrap="square" lIns="0" tIns="0" rIns="0" bIns="0" rtlCol="0" anchor="ctr"/>
          <a:lstStyle/>
          <a:p>
            <a:pPr indent="0" marL="0">
              <a:buNone/>
            </a:pPr>
            <a:r>
              <a:rPr lang="en-US" sz="1200" dirty="0">
                <a:solidFill>
                  <a:srgbClr val="6E747E"/>
                </a:solidFill>
                <a:latin typeface="Calibri" pitchFamily="34" charset="0"/>
                <a:ea typeface="Calibri" pitchFamily="34" charset="-122"/>
                <a:cs typeface="Calibri" pitchFamily="34" charset="-120"/>
              </a:rPr>
              <a:t>extraction</a:t>
            </a:r>
            <a:endParaRPr lang="en-US" sz="1200" dirty="0"/>
          </a:p>
        </p:txBody>
      </p:sp>
      <p:sp>
        <p:nvSpPr>
          <p:cNvPr id="20" name="Shape 18"/>
          <p:cNvSpPr/>
          <p:nvPr/>
        </p:nvSpPr>
        <p:spPr>
          <a:xfrm>
            <a:off x="5852160" y="1920240"/>
            <a:ext cx="182880" cy="182880"/>
          </a:xfrm>
          <a:prstGeom prst="ellipse">
            <a:avLst/>
          </a:prstGeom>
          <a:solidFill>
            <a:srgbClr val="FFFFFF"/>
          </a:solidFill>
          <a:ln w="19050">
            <a:solidFill>
              <a:srgbClr val="3A4353"/>
            </a:solidFill>
            <a:prstDash val="solid"/>
          </a:ln>
        </p:spPr>
      </p:sp>
      <p:sp>
        <p:nvSpPr>
          <p:cNvPr id="21" name="Text 19"/>
          <p:cNvSpPr txBox="1"/>
          <p:nvPr/>
        </p:nvSpPr>
        <p:spPr>
          <a:xfrm>
            <a:off x="5852160" y="2240280"/>
            <a:ext cx="1234440" cy="548640"/>
          </a:xfrm>
          <a:prstGeom prst="rect">
            <a:avLst/>
          </a:prstGeom>
          <a:noFill/>
          <a:ln/>
        </p:spPr>
        <p:txBody>
          <a:bodyPr wrap="square" lIns="0" tIns="0" rIns="0" bIns="0" rtlCol="0" anchor="ctr"/>
          <a:lstStyle/>
          <a:p>
            <a:pPr indent="0" marL="0">
              <a:buNone/>
            </a:pPr>
            <a:r>
              <a:rPr lang="en-US" sz="1400" b="1" dirty="0">
                <a:solidFill>
                  <a:srgbClr val="1B2433"/>
                </a:solidFill>
                <a:latin typeface="Calibri" pitchFamily="34" charset="0"/>
                <a:ea typeface="Calibri" pitchFamily="34" charset="-122"/>
                <a:cs typeface="Calibri" pitchFamily="34" charset="-120"/>
              </a:rPr>
              <a:t>Mule-like account</a:t>
            </a:r>
            <a:endParaRPr lang="en-US" sz="1400" dirty="0"/>
          </a:p>
        </p:txBody>
      </p:sp>
      <p:sp>
        <p:nvSpPr>
          <p:cNvPr id="22" name="Text 20"/>
          <p:cNvSpPr txBox="1"/>
          <p:nvPr/>
        </p:nvSpPr>
        <p:spPr>
          <a:xfrm>
            <a:off x="5852160" y="2788920"/>
            <a:ext cx="1234440" cy="274320"/>
          </a:xfrm>
          <a:prstGeom prst="rect">
            <a:avLst/>
          </a:prstGeom>
          <a:noFill/>
          <a:ln/>
        </p:spPr>
        <p:txBody>
          <a:bodyPr wrap="square" lIns="0" tIns="0" rIns="0" bIns="0" rtlCol="0" anchor="ctr"/>
          <a:lstStyle/>
          <a:p>
            <a:pPr indent="0" marL="0">
              <a:buNone/>
            </a:pPr>
            <a:r>
              <a:rPr lang="en-US" sz="1200" dirty="0">
                <a:solidFill>
                  <a:srgbClr val="6E747E"/>
                </a:solidFill>
                <a:latin typeface="Calibri" pitchFamily="34" charset="0"/>
                <a:ea typeface="Calibri" pitchFamily="34" charset="-122"/>
                <a:cs typeface="Calibri" pitchFamily="34" charset="-120"/>
              </a:rPr>
              <a:t>cash-out</a:t>
            </a:r>
            <a:endParaRPr lang="en-US" sz="1200" dirty="0"/>
          </a:p>
        </p:txBody>
      </p:sp>
      <p:sp>
        <p:nvSpPr>
          <p:cNvPr id="23" name="Shape 21"/>
          <p:cNvSpPr/>
          <p:nvPr/>
        </p:nvSpPr>
        <p:spPr>
          <a:xfrm>
            <a:off x="7178040" y="1920240"/>
            <a:ext cx="182880" cy="182880"/>
          </a:xfrm>
          <a:prstGeom prst="ellipse">
            <a:avLst/>
          </a:prstGeom>
          <a:solidFill>
            <a:srgbClr val="D9480F"/>
          </a:solidFill>
          <a:ln w="19050">
            <a:solidFill>
              <a:srgbClr val="D9480F"/>
            </a:solidFill>
            <a:prstDash val="solid"/>
          </a:ln>
        </p:spPr>
      </p:sp>
      <p:sp>
        <p:nvSpPr>
          <p:cNvPr id="24" name="Text 22"/>
          <p:cNvSpPr txBox="1"/>
          <p:nvPr/>
        </p:nvSpPr>
        <p:spPr>
          <a:xfrm>
            <a:off x="7178040" y="2240280"/>
            <a:ext cx="1234440" cy="548640"/>
          </a:xfrm>
          <a:prstGeom prst="rect">
            <a:avLst/>
          </a:prstGeom>
          <a:noFill/>
          <a:ln/>
        </p:spPr>
        <p:txBody>
          <a:bodyPr wrap="square" lIns="0" tIns="0" rIns="0" bIns="0" rtlCol="0" anchor="ctr"/>
          <a:lstStyle/>
          <a:p>
            <a:pPr indent="0" marL="0">
              <a:buNone/>
            </a:pPr>
            <a:r>
              <a:rPr lang="en-US" sz="1400" b="1" dirty="0">
                <a:solidFill>
                  <a:srgbClr val="D9480F"/>
                </a:solidFill>
                <a:latin typeface="Calibri" pitchFamily="34" charset="0"/>
                <a:ea typeface="Calibri" pitchFamily="34" charset="-122"/>
                <a:cs typeface="Calibri" pitchFamily="34" charset="-120"/>
              </a:rPr>
              <a:t>₹2,50,000 payment</a:t>
            </a:r>
            <a:endParaRPr lang="en-US" sz="1400" dirty="0"/>
          </a:p>
        </p:txBody>
      </p:sp>
      <p:sp>
        <p:nvSpPr>
          <p:cNvPr id="25" name="Text 23"/>
          <p:cNvSpPr txBox="1"/>
          <p:nvPr/>
        </p:nvSpPr>
        <p:spPr>
          <a:xfrm>
            <a:off x="7178040" y="2788920"/>
            <a:ext cx="1234440" cy="274320"/>
          </a:xfrm>
          <a:prstGeom prst="rect">
            <a:avLst/>
          </a:prstGeom>
          <a:noFill/>
          <a:ln/>
        </p:spPr>
        <p:txBody>
          <a:bodyPr wrap="square" lIns="0" tIns="0" rIns="0" bIns="0" rtlCol="0" anchor="ctr"/>
          <a:lstStyle/>
          <a:p>
            <a:pPr indent="0" marL="0">
              <a:buNone/>
            </a:pPr>
            <a:r>
              <a:rPr lang="en-US" sz="1200" dirty="0">
                <a:solidFill>
                  <a:srgbClr val="6E747E"/>
                </a:solidFill>
                <a:latin typeface="Calibri" pitchFamily="34" charset="0"/>
                <a:ea typeface="Calibri" pitchFamily="34" charset="-122"/>
                <a:cs typeface="Calibri" pitchFamily="34" charset="-120"/>
              </a:rPr>
              <a:t>payment</a:t>
            </a:r>
            <a:endParaRPr lang="en-US" sz="1200" dirty="0"/>
          </a:p>
        </p:txBody>
      </p:sp>
      <p:sp>
        <p:nvSpPr>
          <p:cNvPr id="26" name="Text 24"/>
          <p:cNvSpPr txBox="1"/>
          <p:nvPr/>
        </p:nvSpPr>
        <p:spPr>
          <a:xfrm>
            <a:off x="548640" y="3429000"/>
            <a:ext cx="3749040" cy="274320"/>
          </a:xfrm>
          <a:prstGeom prst="rect">
            <a:avLst/>
          </a:prstGeom>
          <a:noFill/>
          <a:ln/>
        </p:spPr>
        <p:txBody>
          <a:bodyPr wrap="square" lIns="0" tIns="0" rIns="0" bIns="0" rtlCol="0" anchor="ctr"/>
          <a:lstStyle/>
          <a:p>
            <a:pPr indent="0" marL="0">
              <a:buNone/>
            </a:pPr>
            <a:r>
              <a:rPr lang="en-US" sz="1300" b="1" dirty="0">
                <a:solidFill>
                  <a:srgbClr val="6E747E"/>
                </a:solidFill>
                <a:latin typeface="Calibri" pitchFamily="34" charset="0"/>
                <a:ea typeface="Calibri" pitchFamily="34" charset="-122"/>
                <a:cs typeface="Calibri" pitchFamily="34" charset="-120"/>
              </a:rPr>
              <a:t>Today</a:t>
            </a:r>
            <a:endParaRPr lang="en-US" sz="1300" dirty="0"/>
          </a:p>
        </p:txBody>
      </p:sp>
      <p:sp>
        <p:nvSpPr>
          <p:cNvPr id="27" name="Text 25"/>
          <p:cNvSpPr txBox="1"/>
          <p:nvPr/>
        </p:nvSpPr>
        <p:spPr>
          <a:xfrm>
            <a:off x="548640" y="3703320"/>
            <a:ext cx="3749040" cy="502920"/>
          </a:xfrm>
          <a:prstGeom prst="rect">
            <a:avLst/>
          </a:prstGeom>
          <a:noFill/>
          <a:ln/>
        </p:spPr>
        <p:txBody>
          <a:bodyPr wrap="square" lIns="0" tIns="0" rIns="0" bIns="0" rtlCol="0" anchor="ctr"/>
          <a:lstStyle/>
          <a:p>
            <a:pPr indent="0" marL="0">
              <a:buNone/>
            </a:pPr>
            <a:r>
              <a:rPr lang="en-US" sz="2400" b="1" dirty="0">
                <a:solidFill>
                  <a:srgbClr val="1B2433"/>
                </a:solidFill>
                <a:latin typeface="Cambria" pitchFamily="34" charset="0"/>
                <a:ea typeface="Cambria" pitchFamily="34" charset="-122"/>
                <a:cs typeface="Cambria" pitchFamily="34" charset="-120"/>
              </a:rPr>
              <a:t>The money is gone.</a:t>
            </a:r>
            <a:endParaRPr lang="en-US" sz="2400" dirty="0"/>
          </a:p>
        </p:txBody>
      </p:sp>
      <p:sp>
        <p:nvSpPr>
          <p:cNvPr id="28" name="Text 26"/>
          <p:cNvSpPr txBox="1"/>
          <p:nvPr/>
        </p:nvSpPr>
        <p:spPr>
          <a:xfrm>
            <a:off x="548640" y="4297680"/>
            <a:ext cx="3566160" cy="1280160"/>
          </a:xfrm>
          <a:prstGeom prst="rect">
            <a:avLst/>
          </a:prstGeom>
          <a:noFill/>
          <a:ln/>
        </p:spPr>
        <p:txBody>
          <a:bodyPr wrap="square" lIns="0" tIns="0" rIns="0" bIns="0" rtlCol="0" anchor="t"/>
          <a:lstStyle/>
          <a:p>
            <a:pPr indent="0" marL="0">
              <a:spcAft>
                <a:spcPts val="400"/>
              </a:spcAft>
              <a:buNone/>
            </a:pPr>
            <a:r>
              <a:rPr lang="en-US" sz="1500" dirty="0">
                <a:solidFill>
                  <a:srgbClr val="3A4353"/>
                </a:solidFill>
                <a:latin typeface="Calibri" pitchFamily="34" charset="0"/>
                <a:ea typeface="Calibri" pitchFamily="34" charset="-122"/>
                <a:cs typeface="Calibri" pitchFamily="34" charset="-120"/>
              </a:rPr>
              <a:t>A “new payee and high amount” rule shows a general warning. The caller tells her to ignore it and she pays. The money goes to a mule account and moves on within hours.</a:t>
            </a:r>
            <a:endParaRPr lang="en-US" sz="1500" dirty="0"/>
          </a:p>
        </p:txBody>
      </p:sp>
      <p:sp>
        <p:nvSpPr>
          <p:cNvPr id="29" name="Shape 27"/>
          <p:cNvSpPr/>
          <p:nvPr/>
        </p:nvSpPr>
        <p:spPr>
          <a:xfrm>
            <a:off x="4389120" y="3246120"/>
            <a:ext cx="4023360" cy="2514600"/>
          </a:xfrm>
          <a:prstGeom prst="rect">
            <a:avLst/>
          </a:prstGeom>
          <a:solidFill>
            <a:srgbClr val="FDF1EA"/>
          </a:solidFill>
          <a:ln w="12700">
            <a:solidFill>
              <a:srgbClr val="FDF1EA"/>
            </a:solidFill>
            <a:prstDash val="solid"/>
          </a:ln>
        </p:spPr>
      </p:sp>
      <p:sp>
        <p:nvSpPr>
          <p:cNvPr id="30" name="Text 28"/>
          <p:cNvSpPr txBox="1"/>
          <p:nvPr/>
        </p:nvSpPr>
        <p:spPr>
          <a:xfrm>
            <a:off x="4572000" y="3429000"/>
            <a:ext cx="3749040" cy="274320"/>
          </a:xfrm>
          <a:prstGeom prst="rect">
            <a:avLst/>
          </a:prstGeom>
          <a:noFill/>
          <a:ln/>
        </p:spPr>
        <p:txBody>
          <a:bodyPr wrap="square" lIns="0" tIns="0" rIns="0" bIns="0" rtlCol="0" anchor="ctr"/>
          <a:lstStyle/>
          <a:p>
            <a:pPr indent="0" marL="0">
              <a:buNone/>
            </a:pPr>
            <a:r>
              <a:rPr lang="en-US" sz="1300" b="1" dirty="0">
                <a:solidFill>
                  <a:srgbClr val="D9480F"/>
                </a:solidFill>
                <a:latin typeface="Calibri" pitchFamily="34" charset="0"/>
                <a:ea typeface="Calibri" pitchFamily="34" charset="-122"/>
                <a:cs typeface="Calibri" pitchFamily="34" charset="-120"/>
              </a:rPr>
              <a:t>With Chakravyuh</a:t>
            </a:r>
            <a:endParaRPr lang="en-US" sz="1300" dirty="0"/>
          </a:p>
        </p:txBody>
      </p:sp>
      <p:sp>
        <p:nvSpPr>
          <p:cNvPr id="31" name="Text 29"/>
          <p:cNvSpPr txBox="1"/>
          <p:nvPr/>
        </p:nvSpPr>
        <p:spPr>
          <a:xfrm>
            <a:off x="4572000" y="3703320"/>
            <a:ext cx="3749040" cy="502920"/>
          </a:xfrm>
          <a:prstGeom prst="rect">
            <a:avLst/>
          </a:prstGeom>
          <a:noFill/>
          <a:ln/>
        </p:spPr>
        <p:txBody>
          <a:bodyPr wrap="square" lIns="0" tIns="0" rIns="0" bIns="0" rtlCol="0" anchor="ctr"/>
          <a:lstStyle/>
          <a:p>
            <a:pPr indent="0" marL="0">
              <a:buNone/>
            </a:pPr>
            <a:r>
              <a:rPr lang="en-US" sz="2400" b="1" dirty="0">
                <a:solidFill>
                  <a:srgbClr val="D9480F"/>
                </a:solidFill>
                <a:latin typeface="Cambria" pitchFamily="34" charset="0"/>
                <a:ea typeface="Cambria" pitchFamily="34" charset="-122"/>
                <a:cs typeface="Cambria" pitchFamily="34" charset="-120"/>
              </a:rPr>
              <a:t>The payment is held.</a:t>
            </a:r>
            <a:endParaRPr lang="en-US" sz="2400" dirty="0"/>
          </a:p>
        </p:txBody>
      </p:sp>
      <p:sp>
        <p:nvSpPr>
          <p:cNvPr id="32" name="Text 30"/>
          <p:cNvSpPr txBox="1"/>
          <p:nvPr/>
        </p:nvSpPr>
        <p:spPr>
          <a:xfrm>
            <a:off x="4572000" y="4297680"/>
            <a:ext cx="3566160" cy="1280160"/>
          </a:xfrm>
          <a:prstGeom prst="rect">
            <a:avLst/>
          </a:prstGeom>
          <a:noFill/>
          <a:ln/>
        </p:spPr>
        <p:txBody>
          <a:bodyPr wrap="square" lIns="0" tIns="0" rIns="0" bIns="0" rtlCol="0" anchor="t"/>
          <a:lstStyle/>
          <a:p>
            <a:pPr indent="0" marL="0">
              <a:spcAft>
                <a:spcPts val="400"/>
              </a:spcAft>
              <a:buNone/>
            </a:pPr>
            <a:r>
              <a:rPr lang="en-US" sz="1500" dirty="0">
                <a:solidFill>
                  <a:srgbClr val="3A4353"/>
                </a:solidFill>
                <a:latin typeface="Calibri" pitchFamily="34" charset="0"/>
                <a:ea typeface="Calibri" pitchFamily="34" charset="-122"/>
                <a:cs typeface="Calibri" pitchFamily="34" charset="-120"/>
              </a:rPr>
              <a:t>All four stages show up, so it goes to level 3. The screen tells her real officials never ask for money on a call, and a bank agent calls her before anything is released.</a:t>
            </a:r>
            <a:endParaRPr lang="en-US" sz="1500" dirty="0"/>
          </a:p>
        </p:txBody>
      </p:sp>
      <p:pic>
        <p:nvPicPr>
          <p:cNvPr id="33" name="Image 0" descr="Mock-up of the level 3 hold screen on a phone">    </p:cNvPr>
          <p:cNvPicPr>
            <a:picLocks noChangeAspect="1"/>
          </p:cNvPicPr>
          <p:nvPr/>
        </p:nvPicPr>
        <p:blipFill>
          <a:blip r:embed="rId1"/>
          <a:stretch>
            <a:fillRect/>
          </a:stretch>
        </p:blipFill>
        <p:spPr>
          <a:xfrm>
            <a:off x="9372600" y="1097280"/>
            <a:ext cx="2240280" cy="4629912"/>
          </a:xfrm>
          <a:prstGeom prst="rect">
            <a:avLst/>
          </a:prstGeom>
        </p:spPr>
      </p:pic>
      <p:sp>
        <p:nvSpPr>
          <p:cNvPr id="34" name="Text 31"/>
          <p:cNvSpPr txBox="1"/>
          <p:nvPr/>
        </p:nvSpPr>
        <p:spPr>
          <a:xfrm>
            <a:off x="9372600" y="5852160"/>
            <a:ext cx="2240280" cy="274320"/>
          </a:xfrm>
          <a:prstGeom prst="rect">
            <a:avLst/>
          </a:prstGeom>
          <a:noFill/>
          <a:ln/>
        </p:spPr>
        <p:txBody>
          <a:bodyPr wrap="square" lIns="0" tIns="0" rIns="0" bIns="0" rtlCol="0" anchor="ctr"/>
          <a:lstStyle/>
          <a:p>
            <a:pPr algn="ctr" indent="0" marL="0">
              <a:buNone/>
            </a:pPr>
            <a:r>
              <a:rPr lang="en-US" sz="1100" dirty="0">
                <a:solidFill>
                  <a:srgbClr val="6E747E"/>
                </a:solidFill>
                <a:latin typeface="Calibri" pitchFamily="34" charset="0"/>
                <a:ea typeface="Calibri" pitchFamily="34" charset="-122"/>
                <a:cs typeface="Calibri" pitchFamily="34" charset="-120"/>
              </a:rPr>
              <a:t>Level 3 screen (mock-up)</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5486400" cy="274320"/>
          </a:xfrm>
          <a:prstGeom prst="rect">
            <a:avLst/>
          </a:prstGeom>
          <a:noFill/>
          <a:ln/>
        </p:spPr>
        <p:txBody>
          <a:bodyPr wrap="square" lIns="0" tIns="0" rIns="0" bIns="0" rtlCol="0" anchor="ctr"/>
          <a:lstStyle/>
          <a:p>
            <a:pPr indent="0" marL="0">
              <a:buNone/>
            </a:pPr>
            <a:r>
              <a:rPr lang="en-US" sz="1100" dirty="0">
                <a:solidFill>
                  <a:srgbClr val="6E747E"/>
                </a:solidFill>
                <a:latin typeface="Calibri" pitchFamily="34" charset="0"/>
                <a:ea typeface="Calibri" pitchFamily="34" charset="-122"/>
                <a:cs typeface="Calibri" pitchFamily="34" charset="-120"/>
              </a:rPr>
              <a:t>5  ·  Model</a:t>
            </a:r>
            <a:endParaRPr lang="en-US" sz="1100" dirty="0"/>
          </a:p>
        </p:txBody>
      </p:sp>
      <p:sp>
        <p:nvSpPr>
          <p:cNvPr id="3" name="Text 1"/>
          <p:cNvSpPr txBox="1"/>
          <p:nvPr/>
        </p:nvSpPr>
        <p:spPr>
          <a:xfrm>
            <a:off x="8899855" y="256032"/>
            <a:ext cx="2743200" cy="274320"/>
          </a:xfrm>
          <a:prstGeom prst="rect">
            <a:avLst/>
          </a:prstGeom>
          <a:noFill/>
          <a:ln/>
        </p:spPr>
        <p:txBody>
          <a:bodyPr wrap="square" lIns="0" tIns="0" rIns="0" bIns="0" rtlCol="0" anchor="ctr"/>
          <a:lstStyle/>
          <a:p>
            <a:pPr algn="r" indent="0" marL="0">
              <a:buNone/>
            </a:pPr>
            <a:r>
              <a:rPr lang="en-US" sz="1100" dirty="0">
                <a:solidFill>
                  <a:srgbClr val="6E747E"/>
                </a:solidFill>
                <a:latin typeface="Calibri" pitchFamily="34" charset="0"/>
                <a:ea typeface="Calibri" pitchFamily="34" charset="-122"/>
                <a:cs typeface="Calibri" pitchFamily="34" charset="-120"/>
              </a:rPr>
              <a:t>Chakravyuh</a:t>
            </a:r>
            <a:endParaRPr lang="en-US" sz="1100" dirty="0"/>
          </a:p>
        </p:txBody>
      </p:sp>
      <p:sp>
        <p:nvSpPr>
          <p:cNvPr id="4" name="Text 2"/>
          <p:cNvSpPr txBox="1"/>
          <p:nvPr/>
        </p:nvSpPr>
        <p:spPr>
          <a:xfrm>
            <a:off x="9814255" y="6446520"/>
            <a:ext cx="1828800" cy="228600"/>
          </a:xfrm>
          <a:prstGeom prst="rect">
            <a:avLst/>
          </a:prstGeom>
          <a:noFill/>
          <a:ln/>
        </p:spPr>
        <p:txBody>
          <a:bodyPr wrap="square" lIns="0" tIns="0" rIns="0" bIns="0" rtlCol="0" anchor="ctr"/>
          <a:lstStyle/>
          <a:p>
            <a:pPr algn="r" indent="0" marL="0">
              <a:buNone/>
            </a:pPr>
            <a:r>
              <a:rPr lang="en-US" sz="1000" dirty="0">
                <a:solidFill>
                  <a:srgbClr val="6E747E"/>
                </a:solidFill>
                <a:latin typeface="Calibri" pitchFamily="34" charset="0"/>
                <a:ea typeface="Calibri" pitchFamily="34" charset="-122"/>
                <a:cs typeface="Calibri" pitchFamily="34" charset="-120"/>
              </a:rPr>
              <a:t>6 / 16</a:t>
            </a:r>
            <a:endParaRPr lang="en-US" sz="1000" dirty="0"/>
          </a:p>
        </p:txBody>
      </p:sp>
      <p:sp>
        <p:nvSpPr>
          <p:cNvPr id="5" name="Text 3"/>
          <p:cNvSpPr txBox="1"/>
          <p:nvPr/>
        </p:nvSpPr>
        <p:spPr>
          <a:xfrm>
            <a:off x="548640" y="640080"/>
            <a:ext cx="11094415" cy="731520"/>
          </a:xfrm>
          <a:prstGeom prst="rect">
            <a:avLst/>
          </a:prstGeom>
          <a:noFill/>
          <a:ln/>
        </p:spPr>
        <p:txBody>
          <a:bodyPr wrap="square" lIns="0" tIns="0" rIns="0" bIns="0" rtlCol="0" anchor="t"/>
          <a:lstStyle/>
          <a:p>
            <a:pPr indent="0" marL="0">
              <a:buNone/>
            </a:pPr>
            <a:r>
              <a:rPr lang="en-US" sz="3400" b="1" dirty="0">
                <a:solidFill>
                  <a:srgbClr val="1B2433"/>
                </a:solidFill>
                <a:latin typeface="Cambria" pitchFamily="34" charset="0"/>
                <a:ea typeface="Cambria" pitchFamily="34" charset="-122"/>
                <a:cs typeface="Cambria" pitchFamily="34" charset="-120"/>
              </a:rPr>
              <a:t>How the score works</a:t>
            </a:r>
            <a:endParaRPr lang="en-US" sz="3400" dirty="0"/>
          </a:p>
        </p:txBody>
      </p:sp>
      <p:sp>
        <p:nvSpPr>
          <p:cNvPr id="6" name="Shape 4"/>
          <p:cNvSpPr/>
          <p:nvPr/>
        </p:nvSpPr>
        <p:spPr>
          <a:xfrm>
            <a:off x="548640" y="1463040"/>
            <a:ext cx="2514600" cy="1417320"/>
          </a:xfrm>
          <a:prstGeom prst="rect">
            <a:avLst/>
          </a:prstGeom>
          <a:solidFill>
            <a:srgbClr val="F3F4F6"/>
          </a:solidFill>
          <a:ln w="12700">
            <a:solidFill>
              <a:srgbClr val="F3F4F6"/>
            </a:solidFill>
            <a:prstDash val="solid"/>
          </a:ln>
        </p:spPr>
      </p:sp>
      <p:sp>
        <p:nvSpPr>
          <p:cNvPr id="7" name="Text 5"/>
          <p:cNvSpPr txBox="1"/>
          <p:nvPr/>
        </p:nvSpPr>
        <p:spPr>
          <a:xfrm>
            <a:off x="731520" y="1600200"/>
            <a:ext cx="2148840" cy="594360"/>
          </a:xfrm>
          <a:prstGeom prst="rect">
            <a:avLst/>
          </a:prstGeom>
          <a:noFill/>
          <a:ln/>
        </p:spPr>
        <p:txBody>
          <a:bodyPr wrap="square" lIns="0" tIns="0" rIns="0" bIns="0" rtlCol="0" anchor="ctr"/>
          <a:lstStyle/>
          <a:p>
            <a:pPr indent="0" marL="0">
              <a:buNone/>
            </a:pPr>
            <a:r>
              <a:rPr lang="en-US" sz="3400" b="1" dirty="0">
                <a:solidFill>
                  <a:srgbClr val="1B2433"/>
                </a:solidFill>
                <a:latin typeface="Cambria" pitchFamily="34" charset="0"/>
                <a:ea typeface="Cambria" pitchFamily="34" charset="-122"/>
                <a:cs typeface="Cambria" pitchFamily="34" charset="-120"/>
              </a:rPr>
              <a:t>20</a:t>
            </a:r>
            <a:endParaRPr lang="en-US" sz="3400" dirty="0"/>
          </a:p>
        </p:txBody>
      </p:sp>
      <p:sp>
        <p:nvSpPr>
          <p:cNvPr id="8" name="Text 6"/>
          <p:cNvSpPr txBox="1"/>
          <p:nvPr/>
        </p:nvSpPr>
        <p:spPr>
          <a:xfrm>
            <a:off x="731520" y="2194560"/>
            <a:ext cx="2148840" cy="274320"/>
          </a:xfrm>
          <a:prstGeom prst="rect">
            <a:avLst/>
          </a:prstGeom>
          <a:noFill/>
          <a:ln/>
        </p:spPr>
        <p:txBody>
          <a:bodyPr wrap="square" lIns="0" tIns="0" rIns="0" bIns="0" rtlCol="0" anchor="ctr"/>
          <a:lstStyle/>
          <a:p>
            <a:pPr indent="0" marL="0">
              <a:buNone/>
            </a:pPr>
            <a:r>
              <a:rPr lang="en-US" sz="1500" b="1" dirty="0">
                <a:solidFill>
                  <a:srgbClr val="1B2433"/>
                </a:solidFill>
                <a:latin typeface="Calibri" pitchFamily="34" charset="0"/>
                <a:ea typeface="Calibri" pitchFamily="34" charset="-122"/>
                <a:cs typeface="Calibri" pitchFamily="34" charset="-120"/>
              </a:rPr>
              <a:t>yes/no signals</a:t>
            </a:r>
            <a:endParaRPr lang="en-US" sz="1500" dirty="0"/>
          </a:p>
        </p:txBody>
      </p:sp>
      <p:sp>
        <p:nvSpPr>
          <p:cNvPr id="9" name="Text 7"/>
          <p:cNvSpPr txBox="1"/>
          <p:nvPr/>
        </p:nvSpPr>
        <p:spPr>
          <a:xfrm>
            <a:off x="731520" y="2468880"/>
            <a:ext cx="2148840" cy="320040"/>
          </a:xfrm>
          <a:prstGeom prst="rect">
            <a:avLst/>
          </a:prstGeom>
          <a:noFill/>
          <a:ln/>
        </p:spPr>
        <p:txBody>
          <a:bodyPr wrap="square" lIns="0" tIns="0" rIns="0" bIns="0" rtlCol="0" anchor="t"/>
          <a:lstStyle/>
          <a:p>
            <a:pPr indent="0" marL="0">
              <a:spcAft>
                <a:spcPts val="400"/>
              </a:spcAft>
              <a:buNone/>
            </a:pPr>
            <a:r>
              <a:rPr lang="en-US" sz="1200" dirty="0">
                <a:solidFill>
                  <a:srgbClr val="6E747E"/>
                </a:solidFill>
                <a:latin typeface="Calibri" pitchFamily="34" charset="0"/>
                <a:ea typeface="Calibri" pitchFamily="34" charset="-122"/>
                <a:cs typeface="Calibri" pitchFamily="34" charset="-120"/>
              </a:rPr>
              <a:t>9 phone · 7 bank · 4 receiving account</a:t>
            </a:r>
            <a:endParaRPr lang="en-US" sz="1200" dirty="0"/>
          </a:p>
        </p:txBody>
      </p:sp>
      <p:sp>
        <p:nvSpPr>
          <p:cNvPr id="10" name="Text 8"/>
          <p:cNvSpPr txBox="1"/>
          <p:nvPr/>
        </p:nvSpPr>
        <p:spPr>
          <a:xfrm>
            <a:off x="3081528" y="1965960"/>
            <a:ext cx="301752" cy="365760"/>
          </a:xfrm>
          <a:prstGeom prst="rect">
            <a:avLst/>
          </a:prstGeom>
          <a:noFill/>
          <a:ln/>
        </p:spPr>
        <p:txBody>
          <a:bodyPr wrap="square" lIns="0" tIns="0" rIns="0" bIns="0" rtlCol="0" anchor="ctr"/>
          <a:lstStyle/>
          <a:p>
            <a:pPr algn="ctr" indent="0" marL="0">
              <a:buNone/>
            </a:pPr>
            <a:r>
              <a:rPr lang="en-US" sz="2000" dirty="0">
                <a:solidFill>
                  <a:srgbClr val="6E747E"/>
                </a:solidFill>
                <a:latin typeface="Calibri" pitchFamily="34" charset="0"/>
                <a:ea typeface="Calibri" pitchFamily="34" charset="-122"/>
                <a:cs typeface="Calibri" pitchFamily="34" charset="-120"/>
              </a:rPr>
              <a:t>→</a:t>
            </a:r>
            <a:endParaRPr lang="en-US" sz="2000" dirty="0"/>
          </a:p>
        </p:txBody>
      </p:sp>
      <p:sp>
        <p:nvSpPr>
          <p:cNvPr id="11" name="Shape 9"/>
          <p:cNvSpPr/>
          <p:nvPr/>
        </p:nvSpPr>
        <p:spPr>
          <a:xfrm>
            <a:off x="3401568" y="1463040"/>
            <a:ext cx="2514600" cy="1417320"/>
          </a:xfrm>
          <a:prstGeom prst="rect">
            <a:avLst/>
          </a:prstGeom>
          <a:solidFill>
            <a:srgbClr val="F3F4F6"/>
          </a:solidFill>
          <a:ln w="12700">
            <a:solidFill>
              <a:srgbClr val="F3F4F6"/>
            </a:solidFill>
            <a:prstDash val="solid"/>
          </a:ln>
        </p:spPr>
      </p:sp>
      <p:sp>
        <p:nvSpPr>
          <p:cNvPr id="12" name="Text 10"/>
          <p:cNvSpPr txBox="1"/>
          <p:nvPr/>
        </p:nvSpPr>
        <p:spPr>
          <a:xfrm>
            <a:off x="3584448" y="1600200"/>
            <a:ext cx="2148840" cy="594360"/>
          </a:xfrm>
          <a:prstGeom prst="rect">
            <a:avLst/>
          </a:prstGeom>
          <a:noFill/>
          <a:ln/>
        </p:spPr>
        <p:txBody>
          <a:bodyPr wrap="square" lIns="0" tIns="0" rIns="0" bIns="0" rtlCol="0" anchor="ctr"/>
          <a:lstStyle/>
          <a:p>
            <a:pPr indent="0" marL="0">
              <a:buNone/>
            </a:pPr>
            <a:r>
              <a:rPr lang="en-US" sz="3400" b="1" dirty="0">
                <a:solidFill>
                  <a:srgbClr val="1B2433"/>
                </a:solidFill>
                <a:latin typeface="Cambria" pitchFamily="34" charset="0"/>
                <a:ea typeface="Cambria" pitchFamily="34" charset="-122"/>
                <a:cs typeface="Cambria" pitchFamily="34" charset="-120"/>
              </a:rPr>
              <a:t>4</a:t>
            </a:r>
            <a:endParaRPr lang="en-US" sz="3400" dirty="0"/>
          </a:p>
        </p:txBody>
      </p:sp>
      <p:sp>
        <p:nvSpPr>
          <p:cNvPr id="13" name="Text 11"/>
          <p:cNvSpPr txBox="1"/>
          <p:nvPr/>
        </p:nvSpPr>
        <p:spPr>
          <a:xfrm>
            <a:off x="3584448" y="2194560"/>
            <a:ext cx="2148840" cy="274320"/>
          </a:xfrm>
          <a:prstGeom prst="rect">
            <a:avLst/>
          </a:prstGeom>
          <a:noFill/>
          <a:ln/>
        </p:spPr>
        <p:txBody>
          <a:bodyPr wrap="square" lIns="0" tIns="0" rIns="0" bIns="0" rtlCol="0" anchor="ctr"/>
          <a:lstStyle/>
          <a:p>
            <a:pPr indent="0" marL="0">
              <a:buNone/>
            </a:pPr>
            <a:r>
              <a:rPr lang="en-US" sz="1500" b="1" dirty="0">
                <a:solidFill>
                  <a:srgbClr val="1B2433"/>
                </a:solidFill>
                <a:latin typeface="Calibri" pitchFamily="34" charset="0"/>
                <a:ea typeface="Calibri" pitchFamily="34" charset="-122"/>
                <a:cs typeface="Calibri" pitchFamily="34" charset="-120"/>
              </a:rPr>
              <a:t>stage scores</a:t>
            </a:r>
            <a:endParaRPr lang="en-US" sz="1500" dirty="0"/>
          </a:p>
        </p:txBody>
      </p:sp>
      <p:sp>
        <p:nvSpPr>
          <p:cNvPr id="14" name="Text 12"/>
          <p:cNvSpPr txBox="1"/>
          <p:nvPr/>
        </p:nvSpPr>
        <p:spPr>
          <a:xfrm>
            <a:off x="3584448" y="2468880"/>
            <a:ext cx="2148840" cy="320040"/>
          </a:xfrm>
          <a:prstGeom prst="rect">
            <a:avLst/>
          </a:prstGeom>
          <a:noFill/>
          <a:ln/>
        </p:spPr>
        <p:txBody>
          <a:bodyPr wrap="square" lIns="0" tIns="0" rIns="0" bIns="0" rtlCol="0" anchor="t"/>
          <a:lstStyle/>
          <a:p>
            <a:pPr indent="0" marL="0">
              <a:spcAft>
                <a:spcPts val="400"/>
              </a:spcAft>
              <a:buNone/>
            </a:pPr>
            <a:r>
              <a:rPr lang="en-US" sz="1200" dirty="0">
                <a:solidFill>
                  <a:srgbClr val="6E747E"/>
                </a:solidFill>
                <a:latin typeface="Calibri" pitchFamily="34" charset="0"/>
                <a:ea typeface="Calibri" pitchFamily="34" charset="-122"/>
                <a:cs typeface="Calibri" pitchFamily="34" charset="-120"/>
              </a:rPr>
              <a:t>weighted sum per stage, with a cap</a:t>
            </a:r>
            <a:endParaRPr lang="en-US" sz="1200" dirty="0"/>
          </a:p>
        </p:txBody>
      </p:sp>
      <p:sp>
        <p:nvSpPr>
          <p:cNvPr id="15" name="Text 13"/>
          <p:cNvSpPr txBox="1"/>
          <p:nvPr/>
        </p:nvSpPr>
        <p:spPr>
          <a:xfrm>
            <a:off x="5934456" y="1965960"/>
            <a:ext cx="301752" cy="365760"/>
          </a:xfrm>
          <a:prstGeom prst="rect">
            <a:avLst/>
          </a:prstGeom>
          <a:noFill/>
          <a:ln/>
        </p:spPr>
        <p:txBody>
          <a:bodyPr wrap="square" lIns="0" tIns="0" rIns="0" bIns="0" rtlCol="0" anchor="ctr"/>
          <a:lstStyle/>
          <a:p>
            <a:pPr algn="ctr" indent="0" marL="0">
              <a:buNone/>
            </a:pPr>
            <a:r>
              <a:rPr lang="en-US" sz="2000" dirty="0">
                <a:solidFill>
                  <a:srgbClr val="6E747E"/>
                </a:solidFill>
                <a:latin typeface="Calibri" pitchFamily="34" charset="0"/>
                <a:ea typeface="Calibri" pitchFamily="34" charset="-122"/>
                <a:cs typeface="Calibri" pitchFamily="34" charset="-120"/>
              </a:rPr>
              <a:t>→</a:t>
            </a:r>
            <a:endParaRPr lang="en-US" sz="2000" dirty="0"/>
          </a:p>
        </p:txBody>
      </p:sp>
      <p:sp>
        <p:nvSpPr>
          <p:cNvPr id="16" name="Shape 14"/>
          <p:cNvSpPr/>
          <p:nvPr/>
        </p:nvSpPr>
        <p:spPr>
          <a:xfrm>
            <a:off x="6254496" y="1463040"/>
            <a:ext cx="2514600" cy="1417320"/>
          </a:xfrm>
          <a:prstGeom prst="rect">
            <a:avLst/>
          </a:prstGeom>
          <a:solidFill>
            <a:srgbClr val="F3F4F6"/>
          </a:solidFill>
          <a:ln w="12700">
            <a:solidFill>
              <a:srgbClr val="F3F4F6"/>
            </a:solidFill>
            <a:prstDash val="solid"/>
          </a:ln>
        </p:spPr>
      </p:sp>
      <p:sp>
        <p:nvSpPr>
          <p:cNvPr id="17" name="Text 15"/>
          <p:cNvSpPr txBox="1"/>
          <p:nvPr/>
        </p:nvSpPr>
        <p:spPr>
          <a:xfrm>
            <a:off x="6437376" y="1600200"/>
            <a:ext cx="2148840" cy="594360"/>
          </a:xfrm>
          <a:prstGeom prst="rect">
            <a:avLst/>
          </a:prstGeom>
          <a:noFill/>
          <a:ln/>
        </p:spPr>
        <p:txBody>
          <a:bodyPr wrap="square" lIns="0" tIns="0" rIns="0" bIns="0" rtlCol="0" anchor="ctr"/>
          <a:lstStyle/>
          <a:p>
            <a:pPr indent="0" marL="0">
              <a:buNone/>
            </a:pPr>
            <a:r>
              <a:rPr lang="en-US" sz="3400" b="1" dirty="0">
                <a:solidFill>
                  <a:srgbClr val="1B2433"/>
                </a:solidFill>
                <a:latin typeface="Cambria" pitchFamily="34" charset="0"/>
                <a:ea typeface="Cambria" pitchFamily="34" charset="-122"/>
                <a:cs typeface="Cambria" pitchFamily="34" charset="-120"/>
              </a:rPr>
              <a:t>≥ 2</a:t>
            </a:r>
            <a:endParaRPr lang="en-US" sz="3400" dirty="0"/>
          </a:p>
        </p:txBody>
      </p:sp>
      <p:sp>
        <p:nvSpPr>
          <p:cNvPr id="18" name="Text 16"/>
          <p:cNvSpPr txBox="1"/>
          <p:nvPr/>
        </p:nvSpPr>
        <p:spPr>
          <a:xfrm>
            <a:off x="6437376" y="2194560"/>
            <a:ext cx="2148840" cy="274320"/>
          </a:xfrm>
          <a:prstGeom prst="rect">
            <a:avLst/>
          </a:prstGeom>
          <a:noFill/>
          <a:ln/>
        </p:spPr>
        <p:txBody>
          <a:bodyPr wrap="square" lIns="0" tIns="0" rIns="0" bIns="0" rtlCol="0" anchor="ctr"/>
          <a:lstStyle/>
          <a:p>
            <a:pPr indent="0" marL="0">
              <a:buNone/>
            </a:pPr>
            <a:r>
              <a:rPr lang="en-US" sz="1500" b="1" dirty="0">
                <a:solidFill>
                  <a:srgbClr val="1B2433"/>
                </a:solidFill>
                <a:latin typeface="Calibri" pitchFamily="34" charset="0"/>
                <a:ea typeface="Calibri" pitchFamily="34" charset="-122"/>
                <a:cs typeface="Calibri" pitchFamily="34" charset="-120"/>
              </a:rPr>
              <a:t>stages needed</a:t>
            </a:r>
            <a:endParaRPr lang="en-US" sz="1500" dirty="0"/>
          </a:p>
        </p:txBody>
      </p:sp>
      <p:sp>
        <p:nvSpPr>
          <p:cNvPr id="19" name="Text 17"/>
          <p:cNvSpPr txBox="1"/>
          <p:nvPr/>
        </p:nvSpPr>
        <p:spPr>
          <a:xfrm>
            <a:off x="6437376" y="2468880"/>
            <a:ext cx="2148840" cy="320040"/>
          </a:xfrm>
          <a:prstGeom prst="rect">
            <a:avLst/>
          </a:prstGeom>
          <a:noFill/>
          <a:ln/>
        </p:spPr>
        <p:txBody>
          <a:bodyPr wrap="square" lIns="0" tIns="0" rIns="0" bIns="0" rtlCol="0" anchor="t"/>
          <a:lstStyle/>
          <a:p>
            <a:pPr indent="0" marL="0">
              <a:spcAft>
                <a:spcPts val="400"/>
              </a:spcAft>
              <a:buNone/>
            </a:pPr>
            <a:r>
              <a:rPr lang="en-US" sz="1200" dirty="0">
                <a:solidFill>
                  <a:srgbClr val="6E747E"/>
                </a:solidFill>
                <a:latin typeface="Calibri" pitchFamily="34" charset="0"/>
                <a:ea typeface="Calibri" pitchFamily="34" charset="-122"/>
                <a:cs typeface="Calibri" pitchFamily="34" charset="-120"/>
              </a:rPr>
              <a:t>before we interrupt a payment</a:t>
            </a:r>
            <a:endParaRPr lang="en-US" sz="1200" dirty="0"/>
          </a:p>
        </p:txBody>
      </p:sp>
      <p:sp>
        <p:nvSpPr>
          <p:cNvPr id="20" name="Text 18"/>
          <p:cNvSpPr txBox="1"/>
          <p:nvPr/>
        </p:nvSpPr>
        <p:spPr>
          <a:xfrm>
            <a:off x="8787384" y="1965960"/>
            <a:ext cx="301752" cy="365760"/>
          </a:xfrm>
          <a:prstGeom prst="rect">
            <a:avLst/>
          </a:prstGeom>
          <a:noFill/>
          <a:ln/>
        </p:spPr>
        <p:txBody>
          <a:bodyPr wrap="square" lIns="0" tIns="0" rIns="0" bIns="0" rtlCol="0" anchor="ctr"/>
          <a:lstStyle/>
          <a:p>
            <a:pPr algn="ctr" indent="0" marL="0">
              <a:buNone/>
            </a:pPr>
            <a:r>
              <a:rPr lang="en-US" sz="2000" dirty="0">
                <a:solidFill>
                  <a:srgbClr val="6E747E"/>
                </a:solidFill>
                <a:latin typeface="Calibri" pitchFamily="34" charset="0"/>
                <a:ea typeface="Calibri" pitchFamily="34" charset="-122"/>
                <a:cs typeface="Calibri" pitchFamily="34" charset="-120"/>
              </a:rPr>
              <a:t>→</a:t>
            </a:r>
            <a:endParaRPr lang="en-US" sz="2000" dirty="0"/>
          </a:p>
        </p:txBody>
      </p:sp>
      <p:sp>
        <p:nvSpPr>
          <p:cNvPr id="21" name="Shape 19"/>
          <p:cNvSpPr/>
          <p:nvPr/>
        </p:nvSpPr>
        <p:spPr>
          <a:xfrm>
            <a:off x="9107424" y="1463040"/>
            <a:ext cx="2514600" cy="1417320"/>
          </a:xfrm>
          <a:prstGeom prst="rect">
            <a:avLst/>
          </a:prstGeom>
          <a:solidFill>
            <a:srgbClr val="FDF1EA"/>
          </a:solidFill>
          <a:ln w="12700">
            <a:solidFill>
              <a:srgbClr val="FDF1EA"/>
            </a:solidFill>
            <a:prstDash val="solid"/>
          </a:ln>
        </p:spPr>
      </p:sp>
      <p:sp>
        <p:nvSpPr>
          <p:cNvPr id="22" name="Text 20"/>
          <p:cNvSpPr txBox="1"/>
          <p:nvPr/>
        </p:nvSpPr>
        <p:spPr>
          <a:xfrm>
            <a:off x="9290304" y="1600200"/>
            <a:ext cx="2148840" cy="594360"/>
          </a:xfrm>
          <a:prstGeom prst="rect">
            <a:avLst/>
          </a:prstGeom>
          <a:noFill/>
          <a:ln/>
        </p:spPr>
        <p:txBody>
          <a:bodyPr wrap="square" lIns="0" tIns="0" rIns="0" bIns="0" rtlCol="0" anchor="ctr"/>
          <a:lstStyle/>
          <a:p>
            <a:pPr indent="0" marL="0">
              <a:buNone/>
            </a:pPr>
            <a:r>
              <a:rPr lang="en-US" sz="3400" b="1" dirty="0">
                <a:solidFill>
                  <a:srgbClr val="D9480F"/>
                </a:solidFill>
                <a:latin typeface="Cambria" pitchFamily="34" charset="0"/>
                <a:ea typeface="Cambria" pitchFamily="34" charset="-122"/>
                <a:cs typeface="Cambria" pitchFamily="34" charset="-120"/>
              </a:rPr>
              <a:t>0–3</a:t>
            </a:r>
            <a:endParaRPr lang="en-US" sz="3400" dirty="0"/>
          </a:p>
        </p:txBody>
      </p:sp>
      <p:sp>
        <p:nvSpPr>
          <p:cNvPr id="23" name="Text 21"/>
          <p:cNvSpPr txBox="1"/>
          <p:nvPr/>
        </p:nvSpPr>
        <p:spPr>
          <a:xfrm>
            <a:off x="9290304" y="2194560"/>
            <a:ext cx="2148840" cy="274320"/>
          </a:xfrm>
          <a:prstGeom prst="rect">
            <a:avLst/>
          </a:prstGeom>
          <a:noFill/>
          <a:ln/>
        </p:spPr>
        <p:txBody>
          <a:bodyPr wrap="square" lIns="0" tIns="0" rIns="0" bIns="0" rtlCol="0" anchor="ctr"/>
          <a:lstStyle/>
          <a:p>
            <a:pPr indent="0" marL="0">
              <a:buNone/>
            </a:pPr>
            <a:r>
              <a:rPr lang="en-US" sz="1500" b="1" dirty="0">
                <a:solidFill>
                  <a:srgbClr val="1B2433"/>
                </a:solidFill>
                <a:latin typeface="Calibri" pitchFamily="34" charset="0"/>
                <a:ea typeface="Calibri" pitchFamily="34" charset="-122"/>
                <a:cs typeface="Calibri" pitchFamily="34" charset="-120"/>
              </a:rPr>
              <a:t>response level</a:t>
            </a:r>
            <a:endParaRPr lang="en-US" sz="1500" dirty="0"/>
          </a:p>
        </p:txBody>
      </p:sp>
      <p:sp>
        <p:nvSpPr>
          <p:cNvPr id="24" name="Text 22"/>
          <p:cNvSpPr txBox="1"/>
          <p:nvPr/>
        </p:nvSpPr>
        <p:spPr>
          <a:xfrm>
            <a:off x="9290304" y="2468880"/>
            <a:ext cx="2148840" cy="320040"/>
          </a:xfrm>
          <a:prstGeom prst="rect">
            <a:avLst/>
          </a:prstGeom>
          <a:noFill/>
          <a:ln/>
        </p:spPr>
        <p:txBody>
          <a:bodyPr wrap="square" lIns="0" tIns="0" rIns="0" bIns="0" rtlCol="0" anchor="t"/>
          <a:lstStyle/>
          <a:p>
            <a:pPr indent="0" marL="0">
              <a:spcAft>
                <a:spcPts val="400"/>
              </a:spcAft>
              <a:buNone/>
            </a:pPr>
            <a:r>
              <a:rPr lang="en-US" sz="1200" dirty="0">
                <a:solidFill>
                  <a:srgbClr val="6E747E"/>
                </a:solidFill>
                <a:latin typeface="Calibri" pitchFamily="34" charset="0"/>
                <a:ea typeface="Calibri" pitchFamily="34" charset="-122"/>
                <a:cs typeface="Calibri" pitchFamily="34" charset="-120"/>
              </a:rPr>
              <a:t>plus the reasons and a signed record</a:t>
            </a:r>
            <a:endParaRPr lang="en-US" sz="1200" dirty="0"/>
          </a:p>
        </p:txBody>
      </p:sp>
      <p:sp>
        <p:nvSpPr>
          <p:cNvPr id="25" name="Text 23"/>
          <p:cNvSpPr txBox="1"/>
          <p:nvPr/>
        </p:nvSpPr>
        <p:spPr>
          <a:xfrm>
            <a:off x="548640" y="3246120"/>
            <a:ext cx="4572000" cy="274320"/>
          </a:xfrm>
          <a:prstGeom prst="rect">
            <a:avLst/>
          </a:prstGeom>
          <a:noFill/>
          <a:ln/>
        </p:spPr>
        <p:txBody>
          <a:bodyPr wrap="square" lIns="0" tIns="0" rIns="0" bIns="0" rtlCol="0" anchor="ctr"/>
          <a:lstStyle/>
          <a:p>
            <a:pPr indent="0" marL="0">
              <a:buNone/>
            </a:pPr>
            <a:r>
              <a:rPr lang="en-US" sz="1300" b="1" dirty="0">
                <a:solidFill>
                  <a:srgbClr val="3A4353"/>
                </a:solidFill>
                <a:latin typeface="Calibri" pitchFamily="34" charset="0"/>
                <a:ea typeface="Calibri" pitchFamily="34" charset="-122"/>
                <a:cs typeface="Calibri" pitchFamily="34" charset="-120"/>
              </a:rPr>
              <a:t>Score</a:t>
            </a:r>
            <a:endParaRPr lang="en-US" sz="1300" dirty="0"/>
          </a:p>
        </p:txBody>
      </p:sp>
      <p:sp>
        <p:nvSpPr>
          <p:cNvPr id="26" name="Text 24"/>
          <p:cNvSpPr txBox="1"/>
          <p:nvPr/>
        </p:nvSpPr>
        <p:spPr>
          <a:xfrm>
            <a:off x="548640" y="3566160"/>
            <a:ext cx="5486400" cy="548640"/>
          </a:xfrm>
          <a:prstGeom prst="rect">
            <a:avLst/>
          </a:prstGeom>
          <a:noFill/>
          <a:ln/>
        </p:spPr>
        <p:txBody>
          <a:bodyPr wrap="square" lIns="0" tIns="0" rIns="0" bIns="0" rtlCol="0" anchor="ctr"/>
          <a:lstStyle/>
          <a:p>
            <a:pPr indent="0" marL="0">
              <a:buNone/>
            </a:pPr>
            <a:r>
              <a:rPr lang="en-US" sz="2400" dirty="0">
                <a:solidFill>
                  <a:srgbClr val="1B2433"/>
                </a:solidFill>
                <a:latin typeface="Cambria" pitchFamily="34" charset="0"/>
                <a:ea typeface="Cambria" pitchFamily="34" charset="-122"/>
                <a:cs typeface="Cambria" pitchFamily="34" charset="-120"/>
              </a:rPr>
              <a:t>s(x) = b + Σ</a:t>
            </a:r>
            <a:pPr indent="0" marL="0">
              <a:buNone/>
            </a:pPr>
            <a:r>
              <a:rPr lang="en-US" sz="2400" baseline="-40000" dirty="0">
                <a:solidFill>
                  <a:srgbClr val="1B2433"/>
                </a:solidFill>
                <a:latin typeface="Cambria" pitchFamily="34" charset="0"/>
                <a:ea typeface="Cambria" pitchFamily="34" charset="-122"/>
                <a:cs typeface="Cambria" pitchFamily="34" charset="-120"/>
              </a:rPr>
              <a:t>g</a:t>
            </a:r>
            <a:pPr indent="0" marL="0">
              <a:buNone/>
            </a:pPr>
            <a:r>
              <a:rPr lang="en-US" sz="2400" dirty="0">
                <a:solidFill>
                  <a:srgbClr val="1B2433"/>
                </a:solidFill>
                <a:latin typeface="Cambria" pitchFamily="34" charset="0"/>
                <a:ea typeface="Cambria" pitchFamily="34" charset="-122"/>
                <a:cs typeface="Cambria" pitchFamily="34" charset="-120"/>
              </a:rPr>
              <a:t> min( C</a:t>
            </a:r>
            <a:pPr indent="0" marL="0">
              <a:buNone/>
            </a:pPr>
            <a:r>
              <a:rPr lang="en-US" sz="2400" baseline="-40000" dirty="0">
                <a:solidFill>
                  <a:srgbClr val="1B2433"/>
                </a:solidFill>
                <a:latin typeface="Cambria" pitchFamily="34" charset="0"/>
                <a:ea typeface="Cambria" pitchFamily="34" charset="-122"/>
                <a:cs typeface="Cambria" pitchFamily="34" charset="-120"/>
              </a:rPr>
              <a:t>g</a:t>
            </a:r>
            <a:pPr indent="0" marL="0">
              <a:buNone/>
            </a:pPr>
            <a:r>
              <a:rPr lang="en-US" sz="2400" dirty="0">
                <a:solidFill>
                  <a:srgbClr val="1B2433"/>
                </a:solidFill>
                <a:latin typeface="Cambria" pitchFamily="34" charset="0"/>
                <a:ea typeface="Cambria" pitchFamily="34" charset="-122"/>
                <a:cs typeface="Cambria" pitchFamily="34" charset="-120"/>
              </a:rPr>
              <a:t> ,  Σ</a:t>
            </a:r>
            <a:pPr indent="0" marL="0">
              <a:buNone/>
            </a:pPr>
            <a:r>
              <a:rPr lang="en-US" sz="2400" baseline="-40000" dirty="0">
                <a:solidFill>
                  <a:srgbClr val="1B2433"/>
                </a:solidFill>
                <a:latin typeface="Cambria" pitchFamily="34" charset="0"/>
                <a:ea typeface="Cambria" pitchFamily="34" charset="-122"/>
                <a:cs typeface="Cambria" pitchFamily="34" charset="-120"/>
              </a:rPr>
              <a:t>k in g</a:t>
            </a:r>
            <a:pPr indent="0" marL="0">
              <a:buNone/>
            </a:pPr>
            <a:r>
              <a:rPr lang="en-US" sz="2400" dirty="0">
                <a:solidFill>
                  <a:srgbClr val="1B2433"/>
                </a:solidFill>
                <a:latin typeface="Cambria" pitchFamily="34" charset="0"/>
                <a:ea typeface="Cambria" pitchFamily="34" charset="-122"/>
                <a:cs typeface="Cambria" pitchFamily="34" charset="-120"/>
              </a:rPr>
              <a:t> w</a:t>
            </a:r>
            <a:pPr indent="0" marL="0">
              <a:buNone/>
            </a:pPr>
            <a:r>
              <a:rPr lang="en-US" sz="2400" baseline="-40000" dirty="0">
                <a:solidFill>
                  <a:srgbClr val="1B2433"/>
                </a:solidFill>
                <a:latin typeface="Cambria" pitchFamily="34" charset="0"/>
                <a:ea typeface="Cambria" pitchFamily="34" charset="-122"/>
                <a:cs typeface="Cambria" pitchFamily="34" charset="-120"/>
              </a:rPr>
              <a:t>k</a:t>
            </a:r>
            <a:pPr indent="0" marL="0">
              <a:buNone/>
            </a:pPr>
            <a:r>
              <a:rPr lang="en-US" sz="2400" dirty="0">
                <a:solidFill>
                  <a:srgbClr val="1B2433"/>
                </a:solidFill>
                <a:latin typeface="Cambria" pitchFamily="34" charset="0"/>
                <a:ea typeface="Cambria" pitchFamily="34" charset="-122"/>
                <a:cs typeface="Cambria" pitchFamily="34" charset="-120"/>
              </a:rPr>
              <a:t> x</a:t>
            </a:r>
            <a:pPr indent="0" marL="0">
              <a:buNone/>
            </a:pPr>
            <a:r>
              <a:rPr lang="en-US" sz="2400" baseline="-40000" dirty="0">
                <a:solidFill>
                  <a:srgbClr val="1B2433"/>
                </a:solidFill>
                <a:latin typeface="Cambria" pitchFamily="34" charset="0"/>
                <a:ea typeface="Cambria" pitchFamily="34" charset="-122"/>
                <a:cs typeface="Cambria" pitchFamily="34" charset="-120"/>
              </a:rPr>
              <a:t>k</a:t>
            </a:r>
            <a:pPr indent="0" marL="0">
              <a:buNone/>
            </a:pPr>
            <a:r>
              <a:rPr lang="en-US" sz="2400" dirty="0">
                <a:solidFill>
                  <a:srgbClr val="1B2433"/>
                </a:solidFill>
                <a:latin typeface="Cambria" pitchFamily="34" charset="0"/>
                <a:ea typeface="Cambria" pitchFamily="34" charset="-122"/>
                <a:cs typeface="Cambria" pitchFamily="34" charset="-120"/>
              </a:rPr>
              <a:t> )</a:t>
            </a:r>
            <a:endParaRPr lang="en-US" sz="2400" dirty="0"/>
          </a:p>
        </p:txBody>
      </p:sp>
      <p:sp>
        <p:nvSpPr>
          <p:cNvPr id="27" name="Text 25"/>
          <p:cNvSpPr txBox="1"/>
          <p:nvPr/>
        </p:nvSpPr>
        <p:spPr>
          <a:xfrm>
            <a:off x="548640" y="4251960"/>
            <a:ext cx="4572000" cy="274320"/>
          </a:xfrm>
          <a:prstGeom prst="rect">
            <a:avLst/>
          </a:prstGeom>
          <a:noFill/>
          <a:ln/>
        </p:spPr>
        <p:txBody>
          <a:bodyPr wrap="square" lIns="0" tIns="0" rIns="0" bIns="0" rtlCol="0" anchor="ctr"/>
          <a:lstStyle/>
          <a:p>
            <a:pPr indent="0" marL="0">
              <a:buNone/>
            </a:pPr>
            <a:r>
              <a:rPr lang="en-US" sz="1300" b="1" dirty="0">
                <a:solidFill>
                  <a:srgbClr val="3A4353"/>
                </a:solidFill>
                <a:latin typeface="Calibri" pitchFamily="34" charset="0"/>
                <a:ea typeface="Calibri" pitchFamily="34" charset="-122"/>
                <a:cs typeface="Calibri" pitchFamily="34" charset="-120"/>
              </a:rPr>
              <a:t>Decision</a:t>
            </a:r>
            <a:endParaRPr lang="en-US" sz="1300" dirty="0"/>
          </a:p>
        </p:txBody>
      </p:sp>
      <p:sp>
        <p:nvSpPr>
          <p:cNvPr id="28" name="Text 26"/>
          <p:cNvSpPr txBox="1"/>
          <p:nvPr/>
        </p:nvSpPr>
        <p:spPr>
          <a:xfrm>
            <a:off x="548640" y="4526280"/>
            <a:ext cx="5486400" cy="731520"/>
          </a:xfrm>
          <a:prstGeom prst="rect">
            <a:avLst/>
          </a:prstGeom>
          <a:noFill/>
          <a:ln/>
        </p:spPr>
        <p:txBody>
          <a:bodyPr wrap="square" lIns="0" tIns="0" rIns="0" bIns="0" rtlCol="0" anchor="t"/>
          <a:lstStyle/>
          <a:p>
            <a:pPr indent="0" marL="0">
              <a:spcAft>
                <a:spcPts val="400"/>
              </a:spcAft>
              <a:buNone/>
            </a:pPr>
            <a:r>
              <a:rPr lang="en-US" sz="1500" b="1" dirty="0">
                <a:solidFill>
                  <a:srgbClr val="1B2433"/>
                </a:solidFill>
                <a:latin typeface="Calibri" pitchFamily="34" charset="0"/>
                <a:ea typeface="Calibri" pitchFamily="34" charset="-122"/>
                <a:cs typeface="Calibri" pitchFamily="34" charset="-120"/>
              </a:rPr>
              <a:t>Level 2</a:t>
            </a:r>
            <a:pPr indent="0" marL="0">
              <a:spcAft>
                <a:spcPts val="400"/>
              </a:spcAft>
              <a:buNone/>
            </a:pPr>
            <a:r>
              <a:rPr lang="en-US" sz="1500" dirty="0">
                <a:solidFill>
                  <a:srgbClr val="3A4353"/>
                </a:solidFill>
                <a:latin typeface="Calibri" pitchFamily="34" charset="0"/>
                <a:ea typeface="Calibri" pitchFamily="34" charset="-122"/>
                <a:cs typeface="Calibri" pitchFamily="34" charset="-120"/>
              </a:rPr>
              <a:t> if s ≥ τ2 and at least 2 stages are active</a:t>
            </a:r>
            <a:endParaRPr lang="en-US" sz="1500" dirty="0"/>
          </a:p>
          <a:p>
            <a:pPr indent="0" marL="0">
              <a:spcAft>
                <a:spcPts val="400"/>
              </a:spcAft>
              <a:buNone/>
            </a:pPr>
            <a:r>
              <a:rPr lang="en-US" sz="1500" b="1" dirty="0">
                <a:solidFill>
                  <a:srgbClr val="1B2433"/>
                </a:solidFill>
                <a:latin typeface="Calibri" pitchFamily="34" charset="0"/>
                <a:ea typeface="Calibri" pitchFamily="34" charset="-122"/>
                <a:cs typeface="Calibri" pitchFamily="34" charset="-120"/>
              </a:rPr>
              <a:t>Level 3</a:t>
            </a:r>
            <a:pPr indent="0" marL="0">
              <a:spcAft>
                <a:spcPts val="400"/>
              </a:spcAft>
              <a:buNone/>
            </a:pPr>
            <a:r>
              <a:rPr lang="en-US" sz="1500" dirty="0">
                <a:solidFill>
                  <a:srgbClr val="3A4353"/>
                </a:solidFill>
                <a:latin typeface="Calibri" pitchFamily="34" charset="0"/>
                <a:ea typeface="Calibri" pitchFamily="34" charset="-122"/>
                <a:cs typeface="Calibri" pitchFamily="34" charset="-120"/>
              </a:rPr>
              <a:t> if s ≥ τ3 and 3 stages are active (or 2 plus a suspect-list match)</a:t>
            </a:r>
            <a:endParaRPr lang="en-US" sz="1500" dirty="0"/>
          </a:p>
        </p:txBody>
      </p:sp>
      <p:sp>
        <p:nvSpPr>
          <p:cNvPr id="29" name="Text 27"/>
          <p:cNvSpPr txBox="1"/>
          <p:nvPr/>
        </p:nvSpPr>
        <p:spPr>
          <a:xfrm>
            <a:off x="548640" y="5394960"/>
            <a:ext cx="5394960" cy="640080"/>
          </a:xfrm>
          <a:prstGeom prst="rect">
            <a:avLst/>
          </a:prstGeom>
          <a:noFill/>
          <a:ln/>
        </p:spPr>
        <p:txBody>
          <a:bodyPr wrap="square" lIns="0" tIns="0" rIns="0" bIns="0" rtlCol="0" anchor="t"/>
          <a:lstStyle/>
          <a:p>
            <a:pPr indent="0" marL="0">
              <a:spcAft>
                <a:spcPts val="400"/>
              </a:spcAft>
              <a:buNone/>
            </a:pPr>
            <a:r>
              <a:rPr lang="en-US" sz="1200" dirty="0">
                <a:solidFill>
                  <a:srgbClr val="6E747E"/>
                </a:solidFill>
                <a:latin typeface="Calibri" pitchFamily="34" charset="0"/>
                <a:ea typeface="Calibri" pitchFamily="34" charset="-122"/>
                <a:cs typeface="Calibri" pitchFamily="34" charset="-120"/>
              </a:rPr>
              <a:t>g is one of the four stages; x is 1 when a signal is present and 0 when it is not. Weights come from a logistic regression (L2) on labelled sessions and are kept at zero or above.</a:t>
            </a:r>
            <a:endParaRPr lang="en-US" sz="12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6492240" y="3246120"/>
          <a:ext cx="5148072" cy="914400"/>
        </p:xfrm>
        <a:graphic>
          <a:graphicData uri="http://schemas.openxmlformats.org/drawingml/2006/table">
            <a:tbl>
              <a:tblPr/>
              <a:tblGrid>
                <a:gridCol w="1691640"/>
                <a:gridCol w="3456432"/>
              </a:tblGrid>
              <a:tr h="512064">
                <a:tc>
                  <a:txBody>
                    <a:bodyPr/>
                    <a:lstStyle/>
                    <a:p>
                      <a:pPr indent="0" marL="0">
                        <a:buNone/>
                      </a:pPr>
                      <a:r>
                        <a:rPr lang="en-US" sz="1300" b="1" dirty="0">
                          <a:solidFill>
                            <a:srgbClr val="1B2433"/>
                          </a:solidFill>
                          <a:latin typeface="Calibri" pitchFamily="34" charset="0"/>
                          <a:ea typeface="Calibri" pitchFamily="34" charset="-122"/>
                          <a:cs typeface="Calibri" pitchFamily="34" charset="-120"/>
                        </a:rPr>
                        <a:t>Non-negative weights</a:t>
                      </a:r>
                      <a:endParaRPr lang="en-US" sz="1300" dirty="0">
                        <a:latin typeface="Calibri" charset="0"/>
                        <a:ea typeface="Calibri" charset="0"/>
                        <a:cs typeface="Calibri" charset="0"/>
                      </a:endParaRPr>
                    </a:p>
                  </a:txBody>
                  <a:tcPr marL="0" marR="73152" marT="64008" marB="64008" anchor="t">
                    <a:lnL w="0" cap="flat" cmpd="sng" algn="ctr">
                      <a:noFill/>
                    </a:lnL>
                    <a:lnR w="0" cap="flat" cmpd="sng" algn="ctr">
                      <a:noFill/>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300" dirty="0">
                          <a:solidFill>
                            <a:srgbClr val="3A4353"/>
                          </a:solidFill>
                          <a:latin typeface="Calibri" pitchFamily="34" charset="0"/>
                          <a:ea typeface="Calibri" pitchFamily="34" charset="-122"/>
                          <a:cs typeface="Calibri" pitchFamily="34" charset="-120"/>
                        </a:rPr>
                        <a:t>A missing signal does not change the score, because a fraudster can always hide one.</a:t>
                      </a:r>
                      <a:endParaRPr lang="en-US" sz="1300" dirty="0">
                        <a:latin typeface="Calibri" charset="0"/>
                        <a:ea typeface="Calibri" charset="0"/>
                        <a:cs typeface="Calibri" charset="0"/>
                      </a:endParaRPr>
                    </a:p>
                  </a:txBody>
                  <a:tcPr marL="0" marR="73152" marT="64008" marB="64008" anchor="t">
                    <a:lnL w="0" cap="flat" cmpd="sng" algn="ctr">
                      <a:noFill/>
                    </a:lnL>
                    <a:lnR w="0" cap="flat" cmpd="sng" algn="ctr">
                      <a:noFill/>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r>
              <a:tr h="512064">
                <a:tc>
                  <a:txBody>
                    <a:bodyPr/>
                    <a:lstStyle/>
                    <a:p>
                      <a:pPr indent="0" marL="0">
                        <a:buNone/>
                      </a:pPr>
                      <a:r>
                        <a:rPr lang="en-US" sz="1300" b="1" dirty="0">
                          <a:solidFill>
                            <a:srgbClr val="1B2433"/>
                          </a:solidFill>
                          <a:latin typeface="Calibri" pitchFamily="34" charset="0"/>
                          <a:ea typeface="Calibri" pitchFamily="34" charset="-122"/>
                          <a:cs typeface="Calibri" pitchFamily="34" charset="-120"/>
                        </a:rPr>
                        <a:t>Stage caps</a:t>
                      </a:r>
                      <a:endParaRPr lang="en-US" sz="1300" dirty="0">
                        <a:latin typeface="Calibri" charset="0"/>
                        <a:ea typeface="Calibri" charset="0"/>
                        <a:cs typeface="Calibri" charset="0"/>
                      </a:endParaRPr>
                    </a:p>
                  </a:txBody>
                  <a:tcPr marL="0" marR="73152" marT="64008" marB="64008" anchor="t">
                    <a:lnL w="0" cap="flat" cmpd="sng" algn="ctr">
                      <a:noFill/>
                    </a:lnL>
                    <a:lnR w="0" cap="flat" cmpd="sng" algn="ctr">
                      <a:noFill/>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300" dirty="0">
                          <a:solidFill>
                            <a:srgbClr val="3A4353"/>
                          </a:solidFill>
                          <a:latin typeface="Calibri" pitchFamily="34" charset="0"/>
                          <a:ea typeface="Calibri" pitchFamily="34" charset="-122"/>
                          <a:cs typeface="Calibri" pitchFamily="34" charset="-120"/>
                        </a:rPr>
                        <a:t>One stage cannot push the score up on its own (C = 5, 5, 6, 6).</a:t>
                      </a:r>
                      <a:endParaRPr lang="en-US" sz="1300" dirty="0">
                        <a:latin typeface="Calibri" charset="0"/>
                        <a:ea typeface="Calibri" charset="0"/>
                        <a:cs typeface="Calibri" charset="0"/>
                      </a:endParaRPr>
                    </a:p>
                  </a:txBody>
                  <a:tcPr marL="0" marR="73152" marT="64008" marB="64008" anchor="t">
                    <a:lnL w="0" cap="flat" cmpd="sng" algn="ctr">
                      <a:noFill/>
                    </a:lnL>
                    <a:lnR w="0" cap="flat" cmpd="sng" algn="ctr">
                      <a:noFill/>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r>
              <a:tr h="512064">
                <a:tc>
                  <a:txBody>
                    <a:bodyPr/>
                    <a:lstStyle/>
                    <a:p>
                      <a:pPr indent="0" marL="0">
                        <a:buNone/>
                      </a:pPr>
                      <a:r>
                        <a:rPr lang="en-US" sz="1300" b="1" dirty="0">
                          <a:solidFill>
                            <a:srgbClr val="1B2433"/>
                          </a:solidFill>
                          <a:latin typeface="Calibri" pitchFamily="34" charset="0"/>
                          <a:ea typeface="Calibri" pitchFamily="34" charset="-122"/>
                          <a:cs typeface="Calibri" pitchFamily="34" charset="-120"/>
                        </a:rPr>
                        <a:t>Two-stage rule</a:t>
                      </a:r>
                      <a:endParaRPr lang="en-US" sz="1300" dirty="0">
                        <a:latin typeface="Calibri" charset="0"/>
                        <a:ea typeface="Calibri" charset="0"/>
                        <a:cs typeface="Calibri" charset="0"/>
                      </a:endParaRPr>
                    </a:p>
                  </a:txBody>
                  <a:tcPr marL="0" marR="73152" marT="64008" marB="64008" anchor="t">
                    <a:lnL w="0" cap="flat" cmpd="sng" algn="ctr">
                      <a:noFill/>
                    </a:lnL>
                    <a:lnR w="0" cap="flat" cmpd="sng" algn="ctr">
                      <a:noFill/>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300" dirty="0">
                          <a:solidFill>
                            <a:srgbClr val="3A4353"/>
                          </a:solidFill>
                          <a:latin typeface="Calibri" pitchFamily="34" charset="0"/>
                          <a:ea typeface="Calibri" pitchFamily="34" charset="-122"/>
                          <a:cs typeface="Calibri" pitchFamily="34" charset="-120"/>
                        </a:rPr>
                        <a:t>We only interrupt when at least two stages are active.</a:t>
                      </a:r>
                      <a:endParaRPr lang="en-US" sz="1300" dirty="0">
                        <a:latin typeface="Calibri" charset="0"/>
                        <a:ea typeface="Calibri" charset="0"/>
                        <a:cs typeface="Calibri" charset="0"/>
                      </a:endParaRPr>
                    </a:p>
                  </a:txBody>
                  <a:tcPr marL="0" marR="73152" marT="64008" marB="64008" anchor="t">
                    <a:lnL w="0" cap="flat" cmpd="sng" algn="ctr">
                      <a:noFill/>
                    </a:lnL>
                    <a:lnR w="0" cap="flat" cmpd="sng" algn="ctr">
                      <a:noFill/>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r>
              <a:tr h="512064">
                <a:tc>
                  <a:txBody>
                    <a:bodyPr/>
                    <a:lstStyle/>
                    <a:p>
                      <a:pPr indent="0" marL="0">
                        <a:buNone/>
                      </a:pPr>
                      <a:r>
                        <a:rPr lang="en-US" sz="1300" b="1" dirty="0">
                          <a:solidFill>
                            <a:srgbClr val="1B2433"/>
                          </a:solidFill>
                          <a:latin typeface="Calibri" pitchFamily="34" charset="0"/>
                          <a:ea typeface="Calibri" pitchFamily="34" charset="-122"/>
                          <a:cs typeface="Calibri" pitchFamily="34" charset="-120"/>
                        </a:rPr>
                        <a:t>Real-world scam rate</a:t>
                      </a:r>
                      <a:endParaRPr lang="en-US" sz="1300" dirty="0">
                        <a:latin typeface="Calibri" charset="0"/>
                        <a:ea typeface="Calibri" charset="0"/>
                        <a:cs typeface="Calibri" charset="0"/>
                      </a:endParaRPr>
                    </a:p>
                  </a:txBody>
                  <a:tcPr marL="0" marR="73152" marT="64008" marB="64008" anchor="t">
                    <a:lnL w="0" cap="flat" cmpd="sng" algn="ctr">
                      <a:noFill/>
                    </a:lnL>
                    <a:lnR w="0" cap="flat" cmpd="sng" algn="ctr">
                      <a:noFill/>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300" dirty="0">
                          <a:solidFill>
                            <a:srgbClr val="3A4353"/>
                          </a:solidFill>
                          <a:latin typeface="Calibri" pitchFamily="34" charset="0"/>
                          <a:ea typeface="Calibri" pitchFamily="34" charset="-122"/>
                          <a:cs typeface="Calibri" pitchFamily="34" charset="-120"/>
                        </a:rPr>
                        <a:t>Training data is 3.8% scams; we adjust to an assumed 1 in 5,000.</a:t>
                      </a:r>
                      <a:endParaRPr lang="en-US" sz="1300" dirty="0">
                        <a:latin typeface="Calibri" charset="0"/>
                        <a:ea typeface="Calibri" charset="0"/>
                        <a:cs typeface="Calibri" charset="0"/>
                      </a:endParaRPr>
                    </a:p>
                  </a:txBody>
                  <a:tcPr marL="0" marR="73152" marT="64008" marB="64008" anchor="t">
                    <a:lnL w="0" cap="flat" cmpd="sng" algn="ctr">
                      <a:noFill/>
                    </a:lnL>
                    <a:lnR w="0" cap="flat" cmpd="sng" algn="ctr">
                      <a:noFill/>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r>
              <a:tr h="512064">
                <a:tc>
                  <a:txBody>
                    <a:bodyPr/>
                    <a:lstStyle/>
                    <a:p>
                      <a:pPr indent="0" marL="0">
                        <a:buNone/>
                      </a:pPr>
                      <a:r>
                        <a:rPr lang="en-US" sz="1300" b="1" dirty="0">
                          <a:solidFill>
                            <a:srgbClr val="1B2433"/>
                          </a:solidFill>
                          <a:latin typeface="Calibri" pitchFamily="34" charset="0"/>
                          <a:ea typeface="Calibri" pitchFamily="34" charset="-122"/>
                          <a:cs typeface="Calibri" pitchFamily="34" charset="-120"/>
                        </a:rPr>
                        <a:t>Fixed thresholds</a:t>
                      </a:r>
                      <a:endParaRPr lang="en-US" sz="1300" dirty="0">
                        <a:latin typeface="Calibri" charset="0"/>
                        <a:ea typeface="Calibri" charset="0"/>
                        <a:cs typeface="Calibri" charset="0"/>
                      </a:endParaRPr>
                    </a:p>
                  </a:txBody>
                  <a:tcPr marL="0" marR="73152" marT="64008" marB="64008" anchor="t">
                    <a:lnL w="0" cap="flat" cmpd="sng" algn="ctr">
                      <a:noFill/>
                    </a:lnL>
                    <a:lnR w="0" cap="flat" cmpd="sng" algn="ctr">
                      <a:noFill/>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300" dirty="0">
                          <a:solidFill>
                            <a:srgbClr val="3A4353"/>
                          </a:solidFill>
                          <a:latin typeface="Calibri" pitchFamily="34" charset="0"/>
                          <a:ea typeface="Calibri" pitchFamily="34" charset="-122"/>
                          <a:cs typeface="Calibri" pitchFamily="34" charset="-120"/>
                        </a:rPr>
                        <a:t>Set on a separate dataset to meet the bank’s alert limit, then fixed.</a:t>
                      </a:r>
                      <a:endParaRPr lang="en-US" sz="1300" dirty="0">
                        <a:latin typeface="Calibri" charset="0"/>
                        <a:ea typeface="Calibri" charset="0"/>
                        <a:cs typeface="Calibri" charset="0"/>
                      </a:endParaRPr>
                    </a:p>
                  </a:txBody>
                  <a:tcPr marL="0" marR="73152" marT="64008" marB="64008" anchor="t">
                    <a:lnL w="0" cap="flat" cmpd="sng" algn="ctr">
                      <a:noFill/>
                    </a:lnL>
                    <a:lnR w="0" cap="flat" cmpd="sng" algn="ctr">
                      <a:noFill/>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r>
            </a:tbl>
          </a:graphicData>
        </a:graphic>
      </p:graphicFrame>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5486400" cy="274320"/>
          </a:xfrm>
          <a:prstGeom prst="rect">
            <a:avLst/>
          </a:prstGeom>
          <a:noFill/>
          <a:ln/>
        </p:spPr>
        <p:txBody>
          <a:bodyPr wrap="square" lIns="0" tIns="0" rIns="0" bIns="0" rtlCol="0" anchor="ctr"/>
          <a:lstStyle/>
          <a:p>
            <a:pPr indent="0" marL="0">
              <a:buNone/>
            </a:pPr>
            <a:r>
              <a:rPr lang="en-US" sz="1100" dirty="0">
                <a:solidFill>
                  <a:srgbClr val="6E747E"/>
                </a:solidFill>
                <a:latin typeface="Calibri" pitchFamily="34" charset="0"/>
                <a:ea typeface="Calibri" pitchFamily="34" charset="-122"/>
                <a:cs typeface="Calibri" pitchFamily="34" charset="-120"/>
              </a:rPr>
              <a:t>6  ·  Results</a:t>
            </a:r>
            <a:endParaRPr lang="en-US" sz="1100" dirty="0"/>
          </a:p>
        </p:txBody>
      </p:sp>
      <p:sp>
        <p:nvSpPr>
          <p:cNvPr id="3" name="Text 1"/>
          <p:cNvSpPr txBox="1"/>
          <p:nvPr/>
        </p:nvSpPr>
        <p:spPr>
          <a:xfrm>
            <a:off x="8899855" y="256032"/>
            <a:ext cx="2743200" cy="274320"/>
          </a:xfrm>
          <a:prstGeom prst="rect">
            <a:avLst/>
          </a:prstGeom>
          <a:noFill/>
          <a:ln/>
        </p:spPr>
        <p:txBody>
          <a:bodyPr wrap="square" lIns="0" tIns="0" rIns="0" bIns="0" rtlCol="0" anchor="ctr"/>
          <a:lstStyle/>
          <a:p>
            <a:pPr algn="r" indent="0" marL="0">
              <a:buNone/>
            </a:pPr>
            <a:r>
              <a:rPr lang="en-US" sz="1100" dirty="0">
                <a:solidFill>
                  <a:srgbClr val="6E747E"/>
                </a:solidFill>
                <a:latin typeface="Calibri" pitchFamily="34" charset="0"/>
                <a:ea typeface="Calibri" pitchFamily="34" charset="-122"/>
                <a:cs typeface="Calibri" pitchFamily="34" charset="-120"/>
              </a:rPr>
              <a:t>Chakravyuh</a:t>
            </a:r>
            <a:endParaRPr lang="en-US" sz="1100" dirty="0"/>
          </a:p>
        </p:txBody>
      </p:sp>
      <p:sp>
        <p:nvSpPr>
          <p:cNvPr id="4" name="Text 2"/>
          <p:cNvSpPr txBox="1"/>
          <p:nvPr/>
        </p:nvSpPr>
        <p:spPr>
          <a:xfrm>
            <a:off x="9814255" y="6446520"/>
            <a:ext cx="1828800" cy="228600"/>
          </a:xfrm>
          <a:prstGeom prst="rect">
            <a:avLst/>
          </a:prstGeom>
          <a:noFill/>
          <a:ln/>
        </p:spPr>
        <p:txBody>
          <a:bodyPr wrap="square" lIns="0" tIns="0" rIns="0" bIns="0" rtlCol="0" anchor="ctr"/>
          <a:lstStyle/>
          <a:p>
            <a:pPr algn="r" indent="0" marL="0">
              <a:buNone/>
            </a:pPr>
            <a:r>
              <a:rPr lang="en-US" sz="1000" dirty="0">
                <a:solidFill>
                  <a:srgbClr val="6E747E"/>
                </a:solidFill>
                <a:latin typeface="Calibri" pitchFamily="34" charset="0"/>
                <a:ea typeface="Calibri" pitchFamily="34" charset="-122"/>
                <a:cs typeface="Calibri" pitchFamily="34" charset="-120"/>
              </a:rPr>
              <a:t>7 / 16</a:t>
            </a:r>
            <a:endParaRPr lang="en-US" sz="1000" dirty="0"/>
          </a:p>
        </p:txBody>
      </p:sp>
      <p:sp>
        <p:nvSpPr>
          <p:cNvPr id="5" name="Text 3"/>
          <p:cNvSpPr txBox="1"/>
          <p:nvPr/>
        </p:nvSpPr>
        <p:spPr>
          <a:xfrm>
            <a:off x="548640" y="640080"/>
            <a:ext cx="11094415" cy="731520"/>
          </a:xfrm>
          <a:prstGeom prst="rect">
            <a:avLst/>
          </a:prstGeom>
          <a:noFill/>
          <a:ln/>
        </p:spPr>
        <p:txBody>
          <a:bodyPr wrap="square" lIns="0" tIns="0" rIns="0" bIns="0" rtlCol="0" anchor="t"/>
          <a:lstStyle/>
          <a:p>
            <a:pPr indent="0" marL="0">
              <a:buNone/>
            </a:pPr>
            <a:r>
              <a:rPr lang="en-US" sz="3400" b="1" dirty="0">
                <a:solidFill>
                  <a:srgbClr val="1B2433"/>
                </a:solidFill>
                <a:latin typeface="Cambria" pitchFamily="34" charset="0"/>
                <a:ea typeface="Cambria" pitchFamily="34" charset="-122"/>
                <a:cs typeface="Cambria" pitchFamily="34" charset="-120"/>
              </a:rPr>
              <a:t>Results on synthetic data</a:t>
            </a:r>
            <a:endParaRPr lang="en-US" sz="3400" dirty="0"/>
          </a:p>
        </p:txBody>
      </p:sp>
      <p:sp>
        <p:nvSpPr>
          <p:cNvPr id="6" name="Text 4"/>
          <p:cNvSpPr txBox="1"/>
          <p:nvPr/>
        </p:nvSpPr>
        <p:spPr>
          <a:xfrm>
            <a:off x="548640" y="1261872"/>
            <a:ext cx="10058400" cy="320040"/>
          </a:xfrm>
          <a:prstGeom prst="rect">
            <a:avLst/>
          </a:prstGeom>
          <a:noFill/>
          <a:ln/>
        </p:spPr>
        <p:txBody>
          <a:bodyPr wrap="square" lIns="0" tIns="0" rIns="0" bIns="0" rtlCol="0" anchor="ctr"/>
          <a:lstStyle/>
          <a:p>
            <a:pPr indent="0" marL="0">
              <a:buNone/>
            </a:pPr>
            <a:r>
              <a:rPr lang="en-US" sz="1400" i="1" dirty="0">
                <a:solidFill>
                  <a:srgbClr val="6E747E"/>
                </a:solidFill>
                <a:latin typeface="Calibri" pitchFamily="34" charset="0"/>
                <a:ea typeface="Calibri" pitchFamily="34" charset="-122"/>
                <a:cs typeface="Calibri" pitchFamily="34" charset="-120"/>
              </a:rPr>
              <a:t>These numbers come from 8 synthetic test sets the model never saw. They are not results from a real bank.</a:t>
            </a:r>
            <a:endParaRPr lang="en-US" sz="1400" dirty="0"/>
          </a:p>
        </p:txBody>
      </p:sp>
      <p:sp>
        <p:nvSpPr>
          <p:cNvPr id="7" name="Text 5"/>
          <p:cNvSpPr txBox="1"/>
          <p:nvPr/>
        </p:nvSpPr>
        <p:spPr>
          <a:xfrm>
            <a:off x="548640" y="1828800"/>
            <a:ext cx="3474720" cy="640080"/>
          </a:xfrm>
          <a:prstGeom prst="rect">
            <a:avLst/>
          </a:prstGeom>
          <a:noFill/>
          <a:ln/>
        </p:spPr>
        <p:txBody>
          <a:bodyPr wrap="square" lIns="0" tIns="0" rIns="0" bIns="0" rtlCol="0" anchor="ctr"/>
          <a:lstStyle/>
          <a:p>
            <a:pPr indent="0" marL="0">
              <a:buNone/>
            </a:pPr>
            <a:r>
              <a:rPr lang="en-US" sz="3800" b="1" dirty="0">
                <a:solidFill>
                  <a:srgbClr val="D9480F"/>
                </a:solidFill>
                <a:latin typeface="Cambria" pitchFamily="34" charset="0"/>
                <a:ea typeface="Cambria" pitchFamily="34" charset="-122"/>
                <a:cs typeface="Cambria" pitchFamily="34" charset="-120"/>
              </a:rPr>
              <a:t>92.3%</a:t>
            </a:r>
            <a:endParaRPr lang="en-US" sz="3800" dirty="0"/>
          </a:p>
        </p:txBody>
      </p:sp>
      <p:sp>
        <p:nvSpPr>
          <p:cNvPr id="8" name="Text 6"/>
          <p:cNvSpPr txBox="1"/>
          <p:nvPr/>
        </p:nvSpPr>
        <p:spPr>
          <a:xfrm>
            <a:off x="548640" y="2487168"/>
            <a:ext cx="3474720" cy="274320"/>
          </a:xfrm>
          <a:prstGeom prst="rect">
            <a:avLst/>
          </a:prstGeom>
          <a:noFill/>
          <a:ln/>
        </p:spPr>
        <p:txBody>
          <a:bodyPr wrap="square" lIns="0" tIns="0" rIns="0" bIns="0" rtlCol="0" anchor="t"/>
          <a:lstStyle/>
          <a:p>
            <a:pPr indent="0" marL="0">
              <a:spcAft>
                <a:spcPts val="400"/>
              </a:spcAft>
              <a:buNone/>
            </a:pPr>
            <a:r>
              <a:rPr lang="en-US" sz="1400" dirty="0">
                <a:solidFill>
                  <a:srgbClr val="1B2433"/>
                </a:solidFill>
                <a:latin typeface="Calibri" pitchFamily="34" charset="0"/>
                <a:ea typeface="Calibri" pitchFamily="34" charset="-122"/>
                <a:cs typeface="Calibri" pitchFamily="34" charset="-120"/>
              </a:rPr>
              <a:t>of scam sessions reach level 2 or 3</a:t>
            </a:r>
            <a:endParaRPr lang="en-US" sz="1400" dirty="0"/>
          </a:p>
        </p:txBody>
      </p:sp>
      <p:sp>
        <p:nvSpPr>
          <p:cNvPr id="9" name="Text 7"/>
          <p:cNvSpPr txBox="1"/>
          <p:nvPr/>
        </p:nvSpPr>
        <p:spPr>
          <a:xfrm>
            <a:off x="548640" y="2743200"/>
            <a:ext cx="3474720" cy="274320"/>
          </a:xfrm>
          <a:prstGeom prst="rect">
            <a:avLst/>
          </a:prstGeom>
          <a:noFill/>
          <a:ln/>
        </p:spPr>
        <p:txBody>
          <a:bodyPr wrap="square" lIns="0" tIns="0" rIns="0" bIns="0" rtlCol="0" anchor="t"/>
          <a:lstStyle/>
          <a:p>
            <a:pPr indent="0" marL="0">
              <a:spcAft>
                <a:spcPts val="400"/>
              </a:spcAft>
              <a:buNone/>
            </a:pPr>
            <a:r>
              <a:rPr lang="en-US" sz="1200" dirty="0">
                <a:solidFill>
                  <a:srgbClr val="6E747E"/>
                </a:solidFill>
                <a:latin typeface="Calibri" pitchFamily="34" charset="0"/>
                <a:ea typeface="Calibri" pitchFamily="34" charset="-122"/>
                <a:cs typeface="Calibri" pitchFamily="34" charset="-120"/>
              </a:rPr>
              <a:t>95% confidence interval [91.7%, 93.0%]</a:t>
            </a:r>
            <a:endParaRPr lang="en-US" sz="1200" dirty="0"/>
          </a:p>
        </p:txBody>
      </p:sp>
      <p:sp>
        <p:nvSpPr>
          <p:cNvPr id="10" name="Text 8"/>
          <p:cNvSpPr txBox="1"/>
          <p:nvPr/>
        </p:nvSpPr>
        <p:spPr>
          <a:xfrm>
            <a:off x="548640" y="3200400"/>
            <a:ext cx="3474720" cy="640080"/>
          </a:xfrm>
          <a:prstGeom prst="rect">
            <a:avLst/>
          </a:prstGeom>
          <a:noFill/>
          <a:ln/>
        </p:spPr>
        <p:txBody>
          <a:bodyPr wrap="square" lIns="0" tIns="0" rIns="0" bIns="0" rtlCol="0" anchor="ctr"/>
          <a:lstStyle/>
          <a:p>
            <a:pPr indent="0" marL="0">
              <a:buNone/>
            </a:pPr>
            <a:r>
              <a:rPr lang="en-US" sz="3800" b="1" dirty="0">
                <a:solidFill>
                  <a:srgbClr val="1B2433"/>
                </a:solidFill>
                <a:latin typeface="Cambria" pitchFamily="34" charset="0"/>
                <a:ea typeface="Cambria" pitchFamily="34" charset="-122"/>
                <a:cs typeface="Cambria" pitchFamily="34" charset="-120"/>
              </a:rPr>
              <a:t>2.77 / 1,000</a:t>
            </a:r>
            <a:endParaRPr lang="en-US" sz="3800" dirty="0"/>
          </a:p>
        </p:txBody>
      </p:sp>
      <p:sp>
        <p:nvSpPr>
          <p:cNvPr id="11" name="Text 9"/>
          <p:cNvSpPr txBox="1"/>
          <p:nvPr/>
        </p:nvSpPr>
        <p:spPr>
          <a:xfrm>
            <a:off x="548640" y="3858768"/>
            <a:ext cx="3474720" cy="274320"/>
          </a:xfrm>
          <a:prstGeom prst="rect">
            <a:avLst/>
          </a:prstGeom>
          <a:noFill/>
          <a:ln/>
        </p:spPr>
        <p:txBody>
          <a:bodyPr wrap="square" lIns="0" tIns="0" rIns="0" bIns="0" rtlCol="0" anchor="t"/>
          <a:lstStyle/>
          <a:p>
            <a:pPr indent="0" marL="0">
              <a:spcAft>
                <a:spcPts val="400"/>
              </a:spcAft>
              <a:buNone/>
            </a:pPr>
            <a:r>
              <a:rPr lang="en-US" sz="1400" dirty="0">
                <a:solidFill>
                  <a:srgbClr val="1B2433"/>
                </a:solidFill>
                <a:latin typeface="Calibri" pitchFamily="34" charset="0"/>
                <a:ea typeface="Calibri" pitchFamily="34" charset="-122"/>
                <a:cs typeface="Calibri" pitchFamily="34" charset="-120"/>
              </a:rPr>
              <a:t>genuine sessions interrupted</a:t>
            </a:r>
            <a:endParaRPr lang="en-US" sz="1400" dirty="0"/>
          </a:p>
        </p:txBody>
      </p:sp>
      <p:sp>
        <p:nvSpPr>
          <p:cNvPr id="12" name="Text 10"/>
          <p:cNvSpPr txBox="1"/>
          <p:nvPr/>
        </p:nvSpPr>
        <p:spPr>
          <a:xfrm>
            <a:off x="548640" y="4114800"/>
            <a:ext cx="3474720" cy="274320"/>
          </a:xfrm>
          <a:prstGeom prst="rect">
            <a:avLst/>
          </a:prstGeom>
          <a:noFill/>
          <a:ln/>
        </p:spPr>
        <p:txBody>
          <a:bodyPr wrap="square" lIns="0" tIns="0" rIns="0" bIns="0" rtlCol="0" anchor="t"/>
          <a:lstStyle/>
          <a:p>
            <a:pPr indent="0" marL="0">
              <a:spcAft>
                <a:spcPts val="400"/>
              </a:spcAft>
              <a:buNone/>
            </a:pPr>
            <a:r>
              <a:rPr lang="en-US" sz="1200" dirty="0">
                <a:solidFill>
                  <a:srgbClr val="6E747E"/>
                </a:solidFill>
                <a:latin typeface="Calibri" pitchFamily="34" charset="0"/>
                <a:ea typeface="Calibri" pitchFamily="34" charset="-122"/>
                <a:cs typeface="Calibri" pitchFamily="34" charset="-120"/>
              </a:rPr>
              <a:t>95% CI [2.64, 2.92] · target 3.0</a:t>
            </a:r>
            <a:endParaRPr lang="en-US" sz="1200" dirty="0"/>
          </a:p>
        </p:txBody>
      </p:sp>
      <p:sp>
        <p:nvSpPr>
          <p:cNvPr id="13" name="Text 11"/>
          <p:cNvSpPr txBox="1"/>
          <p:nvPr/>
        </p:nvSpPr>
        <p:spPr>
          <a:xfrm>
            <a:off x="548640" y="4572000"/>
            <a:ext cx="3474720" cy="640080"/>
          </a:xfrm>
          <a:prstGeom prst="rect">
            <a:avLst/>
          </a:prstGeom>
          <a:noFill/>
          <a:ln/>
        </p:spPr>
        <p:txBody>
          <a:bodyPr wrap="square" lIns="0" tIns="0" rIns="0" bIns="0" rtlCol="0" anchor="ctr"/>
          <a:lstStyle/>
          <a:p>
            <a:pPr indent="0" marL="0">
              <a:buNone/>
            </a:pPr>
            <a:r>
              <a:rPr lang="en-US" sz="3800" b="1" dirty="0">
                <a:solidFill>
                  <a:srgbClr val="1B2433"/>
                </a:solidFill>
                <a:latin typeface="Cambria" pitchFamily="34" charset="0"/>
                <a:ea typeface="Cambria" pitchFamily="34" charset="-122"/>
                <a:cs typeface="Cambria" pitchFamily="34" charset="-120"/>
              </a:rPr>
              <a:t>0.980</a:t>
            </a:r>
            <a:endParaRPr lang="en-US" sz="3800" dirty="0"/>
          </a:p>
        </p:txBody>
      </p:sp>
      <p:sp>
        <p:nvSpPr>
          <p:cNvPr id="14" name="Text 12"/>
          <p:cNvSpPr txBox="1"/>
          <p:nvPr/>
        </p:nvSpPr>
        <p:spPr>
          <a:xfrm>
            <a:off x="548640" y="5230368"/>
            <a:ext cx="3474720" cy="274320"/>
          </a:xfrm>
          <a:prstGeom prst="rect">
            <a:avLst/>
          </a:prstGeom>
          <a:noFill/>
          <a:ln/>
        </p:spPr>
        <p:txBody>
          <a:bodyPr wrap="square" lIns="0" tIns="0" rIns="0" bIns="0" rtlCol="0" anchor="t"/>
          <a:lstStyle/>
          <a:p>
            <a:pPr indent="0" marL="0">
              <a:spcAft>
                <a:spcPts val="400"/>
              </a:spcAft>
              <a:buNone/>
            </a:pPr>
            <a:r>
              <a:rPr lang="en-US" sz="1400" dirty="0">
                <a:solidFill>
                  <a:srgbClr val="1B2433"/>
                </a:solidFill>
                <a:latin typeface="Calibri" pitchFamily="34" charset="0"/>
                <a:ea typeface="Calibri" pitchFamily="34" charset="-122"/>
                <a:cs typeface="Calibri" pitchFamily="34" charset="-120"/>
              </a:rPr>
              <a:t>area under the precision-recall curve</a:t>
            </a:r>
            <a:endParaRPr lang="en-US" sz="1400" dirty="0"/>
          </a:p>
        </p:txBody>
      </p:sp>
      <p:sp>
        <p:nvSpPr>
          <p:cNvPr id="15" name="Text 13"/>
          <p:cNvSpPr txBox="1"/>
          <p:nvPr/>
        </p:nvSpPr>
        <p:spPr>
          <a:xfrm>
            <a:off x="548640" y="5486400"/>
            <a:ext cx="3474720" cy="274320"/>
          </a:xfrm>
          <a:prstGeom prst="rect">
            <a:avLst/>
          </a:prstGeom>
          <a:noFill/>
          <a:ln/>
        </p:spPr>
        <p:txBody>
          <a:bodyPr wrap="square" lIns="0" tIns="0" rIns="0" bIns="0" rtlCol="0" anchor="t"/>
          <a:lstStyle/>
          <a:p>
            <a:pPr indent="0" marL="0">
              <a:spcAft>
                <a:spcPts val="400"/>
              </a:spcAft>
              <a:buNone/>
            </a:pPr>
            <a:r>
              <a:rPr lang="en-US" sz="1200" dirty="0">
                <a:solidFill>
                  <a:srgbClr val="6E747E"/>
                </a:solidFill>
                <a:latin typeface="Calibri" pitchFamily="34" charset="0"/>
                <a:ea typeface="Calibri" pitchFamily="34" charset="-122"/>
                <a:cs typeface="Calibri" pitchFamily="34" charset="-120"/>
              </a:rPr>
              <a:t>95% CI [0.978, 0.982]</a:t>
            </a:r>
            <a:endParaRPr lang="en-US" sz="1200" dirty="0"/>
          </a:p>
        </p:txBody>
      </p:sp>
      <p:graphicFrame>
        <p:nvGraphicFramePr>
          <p:cNvPr id="16" name="Chart 0" descr=""/>
          <p:cNvGraphicFramePr/>
          <p:nvPr/>
        </p:nvGraphicFramePr>
        <p:xfrm>
          <a:off x="4206240" y="1737360"/>
          <a:ext cx="4114800" cy="3749040"/>
        </p:xfrm>
        <a:graphic xmlns:a="http://schemas.openxmlformats.org/drawingml/2006/main">
          <a:graphicData uri="http://schemas.openxmlformats.org/drawingml/2006/chart">
            <c:chart xmlns:c="http://schemas.openxmlformats.org/drawingml/2006/chart" r:id="rId1"/>
          </a:graphicData>
        </a:graphic>
      </p:graphicFrame>
      <p:graphicFrame>
        <p:nvGraphicFramePr>
          <p:cNvPr id="17" name="Chart 1" descr=""/>
          <p:cNvGraphicFramePr/>
          <p:nvPr/>
        </p:nvGraphicFramePr>
        <p:xfrm>
          <a:off x="8366760" y="1737360"/>
          <a:ext cx="3291840" cy="3749040"/>
        </p:xfrm>
        <a:graphic xmlns:a="http://schemas.openxmlformats.org/drawingml/2006/main">
          <a:graphicData uri="http://schemas.openxmlformats.org/drawingml/2006/chart">
            <c:chart xmlns:c="http://schemas.openxmlformats.org/drawingml/2006/chart" r:id="rId2"/>
          </a:graphicData>
        </a:graphic>
      </p:graphicFrame>
      <p:sp>
        <p:nvSpPr>
          <p:cNvPr id="18" name="Text 14"/>
          <p:cNvSpPr txBox="1"/>
          <p:nvPr/>
        </p:nvSpPr>
        <p:spPr>
          <a:xfrm>
            <a:off x="4206240" y="5623560"/>
            <a:ext cx="7406640" cy="685800"/>
          </a:xfrm>
          <a:prstGeom prst="rect">
            <a:avLst/>
          </a:prstGeom>
          <a:noFill/>
          <a:ln/>
        </p:spPr>
        <p:txBody>
          <a:bodyPr wrap="square" lIns="0" tIns="0" rIns="0" bIns="0" rtlCol="0" anchor="t"/>
          <a:lstStyle/>
          <a:p>
            <a:pPr indent="0" marL="0">
              <a:spcAft>
                <a:spcPts val="400"/>
              </a:spcAft>
              <a:buNone/>
            </a:pPr>
            <a:r>
              <a:rPr lang="en-US" sz="1300" b="1" dirty="0">
                <a:solidFill>
                  <a:srgbClr val="1B2433"/>
                </a:solidFill>
                <a:latin typeface="Calibri" pitchFamily="34" charset="0"/>
                <a:ea typeface="Calibri" pitchFamily="34" charset="-122"/>
                <a:cs typeface="Calibri" pitchFamily="34" charset="-120"/>
              </a:rPr>
              <a:t>What we give up. </a:t>
            </a:r>
            <a:pPr indent="0" marL="0">
              <a:spcAft>
                <a:spcPts val="400"/>
              </a:spcAft>
              <a:buNone/>
            </a:pPr>
            <a:r>
              <a:rPr lang="en-US" sz="1300" dirty="0">
                <a:solidFill>
                  <a:srgbClr val="3A4353"/>
                </a:solidFill>
                <a:latin typeface="Calibri" pitchFamily="34" charset="0"/>
                <a:ea typeface="Calibri" pitchFamily="34" charset="-122"/>
                <a:cs typeface="Calibri" pitchFamily="34" charset="-120"/>
              </a:rPr>
              <a:t>Standard classifiers catch 96.6–97.0% of scams but interrupt more genuine payments. The two-stage rule costs us 2.2 points of recall; in return there are 19% fewer interruptions and every alert lists the signals behind it.</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5486400" cy="274320"/>
          </a:xfrm>
          <a:prstGeom prst="rect">
            <a:avLst/>
          </a:prstGeom>
          <a:noFill/>
          <a:ln/>
        </p:spPr>
        <p:txBody>
          <a:bodyPr wrap="square" lIns="0" tIns="0" rIns="0" bIns="0" rtlCol="0" anchor="ctr"/>
          <a:lstStyle/>
          <a:p>
            <a:pPr indent="0" marL="0">
              <a:buNone/>
            </a:pPr>
            <a:r>
              <a:rPr lang="en-US" sz="1100" dirty="0">
                <a:solidFill>
                  <a:srgbClr val="6E747E"/>
                </a:solidFill>
                <a:latin typeface="Calibri" pitchFamily="34" charset="0"/>
                <a:ea typeface="Calibri" pitchFamily="34" charset="-122"/>
                <a:cs typeface="Calibri" pitchFamily="34" charset="-120"/>
              </a:rPr>
              <a:t>7  ·  Robustness</a:t>
            </a:r>
            <a:endParaRPr lang="en-US" sz="1100" dirty="0"/>
          </a:p>
        </p:txBody>
      </p:sp>
      <p:sp>
        <p:nvSpPr>
          <p:cNvPr id="3" name="Text 1"/>
          <p:cNvSpPr txBox="1"/>
          <p:nvPr/>
        </p:nvSpPr>
        <p:spPr>
          <a:xfrm>
            <a:off x="8899855" y="256032"/>
            <a:ext cx="2743200" cy="274320"/>
          </a:xfrm>
          <a:prstGeom prst="rect">
            <a:avLst/>
          </a:prstGeom>
          <a:noFill/>
          <a:ln/>
        </p:spPr>
        <p:txBody>
          <a:bodyPr wrap="square" lIns="0" tIns="0" rIns="0" bIns="0" rtlCol="0" anchor="ctr"/>
          <a:lstStyle/>
          <a:p>
            <a:pPr algn="r" indent="0" marL="0">
              <a:buNone/>
            </a:pPr>
            <a:r>
              <a:rPr lang="en-US" sz="1100" dirty="0">
                <a:solidFill>
                  <a:srgbClr val="6E747E"/>
                </a:solidFill>
                <a:latin typeface="Calibri" pitchFamily="34" charset="0"/>
                <a:ea typeface="Calibri" pitchFamily="34" charset="-122"/>
                <a:cs typeface="Calibri" pitchFamily="34" charset="-120"/>
              </a:rPr>
              <a:t>Chakravyuh</a:t>
            </a:r>
            <a:endParaRPr lang="en-US" sz="1100" dirty="0"/>
          </a:p>
        </p:txBody>
      </p:sp>
      <p:sp>
        <p:nvSpPr>
          <p:cNvPr id="4" name="Text 2"/>
          <p:cNvSpPr txBox="1"/>
          <p:nvPr/>
        </p:nvSpPr>
        <p:spPr>
          <a:xfrm>
            <a:off x="9814255" y="6446520"/>
            <a:ext cx="1828800" cy="228600"/>
          </a:xfrm>
          <a:prstGeom prst="rect">
            <a:avLst/>
          </a:prstGeom>
          <a:noFill/>
          <a:ln/>
        </p:spPr>
        <p:txBody>
          <a:bodyPr wrap="square" lIns="0" tIns="0" rIns="0" bIns="0" rtlCol="0" anchor="ctr"/>
          <a:lstStyle/>
          <a:p>
            <a:pPr algn="r" indent="0" marL="0">
              <a:buNone/>
            </a:pPr>
            <a:r>
              <a:rPr lang="en-US" sz="1000" dirty="0">
                <a:solidFill>
                  <a:srgbClr val="6E747E"/>
                </a:solidFill>
                <a:latin typeface="Calibri" pitchFamily="34" charset="0"/>
                <a:ea typeface="Calibri" pitchFamily="34" charset="-122"/>
                <a:cs typeface="Calibri" pitchFamily="34" charset="-120"/>
              </a:rPr>
              <a:t>8 / 16</a:t>
            </a:r>
            <a:endParaRPr lang="en-US" sz="1000" dirty="0"/>
          </a:p>
        </p:txBody>
      </p:sp>
      <p:sp>
        <p:nvSpPr>
          <p:cNvPr id="5" name="Text 3"/>
          <p:cNvSpPr txBox="1"/>
          <p:nvPr/>
        </p:nvSpPr>
        <p:spPr>
          <a:xfrm>
            <a:off x="548640" y="640080"/>
            <a:ext cx="11094415" cy="731520"/>
          </a:xfrm>
          <a:prstGeom prst="rect">
            <a:avLst/>
          </a:prstGeom>
          <a:noFill/>
          <a:ln/>
        </p:spPr>
        <p:txBody>
          <a:bodyPr wrap="square" lIns="0" tIns="0" rIns="0" bIns="0" rtlCol="0" anchor="t"/>
          <a:lstStyle/>
          <a:p>
            <a:pPr indent="0" marL="0">
              <a:buNone/>
            </a:pPr>
            <a:r>
              <a:rPr lang="en-US" sz="3400" b="1" dirty="0">
                <a:solidFill>
                  <a:srgbClr val="1B2433"/>
                </a:solidFill>
                <a:latin typeface="Cambria" pitchFamily="34" charset="0"/>
                <a:ea typeface="Cambria" pitchFamily="34" charset="-122"/>
                <a:cs typeface="Cambria" pitchFamily="34" charset="-120"/>
              </a:rPr>
              <a:t>What if the fraudster changes tactics?</a:t>
            </a:r>
            <a:endParaRPr lang="en-US" sz="34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7863840" cy="914400"/>
        </p:xfrm>
        <a:graphic>
          <a:graphicData uri="http://schemas.openxmlformats.org/drawingml/2006/table">
            <a:tbl>
              <a:tblPr/>
              <a:tblGrid>
                <a:gridCol w="2514600"/>
                <a:gridCol w="2331720"/>
                <a:gridCol w="2240280"/>
                <a:gridCol w="777240"/>
              </a:tblGrid>
              <a:tr h="365760">
                <a:tc>
                  <a:txBody>
                    <a:bodyPr/>
                    <a:lstStyle/>
                    <a:p>
                      <a:pPr indent="0" marL="0">
                        <a:buNone/>
                      </a:pPr>
                      <a:r>
                        <a:rPr lang="en-US" sz="1200" b="1" dirty="0">
                          <a:solidFill>
                            <a:srgbClr val="3A4353"/>
                          </a:solidFill>
                          <a:latin typeface="Calibri" pitchFamily="34" charset="0"/>
                          <a:ea typeface="Calibri" pitchFamily="34" charset="-122"/>
                          <a:cs typeface="Calibri" pitchFamily="34" charset="-120"/>
                        </a:rPr>
                        <a:t>Can they…</a:t>
                      </a:r>
                      <a:endParaRPr lang="en-US" sz="1200" dirty="0">
                        <a:latin typeface="Calibri" charset="0"/>
                        <a:ea typeface="Calibri" charset="0"/>
                        <a:cs typeface="Calibri" charset="0"/>
                      </a:endParaRPr>
                    </a:p>
                  </a:txBody>
                  <a:tcPr marL="0" marR="109728" marT="73152" marB="73152" anchor="t">
                    <a:lnL w="0" cap="flat" cmpd="sng" algn="ctr">
                      <a:noFill/>
                    </a:lnL>
                    <a:lnR w="0" cap="flat" cmpd="sng" algn="ctr">
                      <a:noFill/>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200" b="1" dirty="0">
                          <a:solidFill>
                            <a:srgbClr val="3A4353"/>
                          </a:solidFill>
                          <a:latin typeface="Calibri" pitchFamily="34" charset="0"/>
                          <a:ea typeface="Calibri" pitchFamily="34" charset="-122"/>
                          <a:cs typeface="Calibri" pitchFamily="34" charset="-120"/>
                        </a:rPr>
                        <a:t>Our answer</a:t>
                      </a:r>
                      <a:endParaRPr lang="en-US" sz="1200" dirty="0">
                        <a:latin typeface="Calibri" charset="0"/>
                        <a:ea typeface="Calibri" charset="0"/>
                        <a:cs typeface="Calibri" charset="0"/>
                      </a:endParaRPr>
                    </a:p>
                  </a:txBody>
                  <a:tcPr marL="0" marR="109728" marT="73152" marB="73152" anchor="t">
                    <a:lnL w="0" cap="flat" cmpd="sng" algn="ctr">
                      <a:noFill/>
                    </a:lnL>
                    <a:lnR w="0" cap="flat" cmpd="sng" algn="ctr">
                      <a:noFill/>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200" b="1" dirty="0">
                          <a:solidFill>
                            <a:srgbClr val="3A4353"/>
                          </a:solidFill>
                          <a:latin typeface="Calibri" pitchFamily="34" charset="0"/>
                          <a:ea typeface="Calibri" pitchFamily="34" charset="-122"/>
                          <a:cs typeface="Calibri" pitchFamily="34" charset="-120"/>
                        </a:rPr>
                        <a:t>What we found</a:t>
                      </a:r>
                      <a:endParaRPr lang="en-US" sz="1200" dirty="0">
                        <a:latin typeface="Calibri" charset="0"/>
                        <a:ea typeface="Calibri" charset="0"/>
                        <a:cs typeface="Calibri" charset="0"/>
                      </a:endParaRPr>
                    </a:p>
                  </a:txBody>
                  <a:tcPr marL="0" marR="109728" marT="73152" marB="73152" anchor="t">
                    <a:lnL w="0" cap="flat" cmpd="sng" algn="ctr">
                      <a:noFill/>
                    </a:lnL>
                    <a:lnR w="0" cap="flat" cmpd="sng" algn="ctr">
                      <a:noFill/>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200" b="1" dirty="0">
                          <a:solidFill>
                            <a:srgbClr val="3A4353"/>
                          </a:solidFill>
                          <a:latin typeface="Calibri" pitchFamily="34" charset="0"/>
                          <a:ea typeface="Calibri" pitchFamily="34" charset="-122"/>
                          <a:cs typeface="Calibri" pitchFamily="34" charset="-120"/>
                        </a:rPr>
                        <a:t>Status</a:t>
                      </a:r>
                      <a:endParaRPr lang="en-US" sz="1200" dirty="0">
                        <a:latin typeface="Calibri" charset="0"/>
                        <a:ea typeface="Calibri" charset="0"/>
                        <a:cs typeface="Calibri" charset="0"/>
                      </a:endParaRPr>
                    </a:p>
                  </a:txBody>
                  <a:tcPr marL="0" marR="109728" marT="73152" marB="73152" anchor="t">
                    <a:lnL w="0" cap="flat" cmpd="sng" algn="ctr">
                      <a:noFill/>
                    </a:lnL>
                    <a:lnR w="0" cap="flat" cmpd="sng" algn="ctr">
                      <a:noFill/>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r>
              <a:tr h="1143000">
                <a:tc>
                  <a:txBody>
                    <a:bodyPr/>
                    <a:lstStyle/>
                    <a:p>
                      <a:pPr indent="0" marL="0">
                        <a:buNone/>
                      </a:pPr>
                      <a:r>
                        <a:rPr lang="en-US" sz="1400" b="1" dirty="0">
                          <a:solidFill>
                            <a:srgbClr val="1B2433"/>
                          </a:solidFill>
                          <a:latin typeface="Calibri" pitchFamily="34" charset="0"/>
                          <a:ea typeface="Calibri" pitchFamily="34" charset="-122"/>
                          <a:cs typeface="Calibri" pitchFamily="34" charset="-120"/>
                        </a:rPr>
                        <a:t>Hide their tracks?</a:t>
                      </a:r>
                      <a:endParaRPr lang="en-US" sz="1300" dirty="0">
                        <a:latin typeface="Calibri" charset="0"/>
                        <a:ea typeface="Calibri" charset="0"/>
                        <a:cs typeface="Calibri" charset="0"/>
                      </a:endParaRPr>
                    </a:p>
                    <a:p>
                      <a:pPr indent="0" marL="0">
                        <a:buNone/>
                      </a:pPr>
                      <a:r>
                        <a:rPr lang="en-US" sz="1200" dirty="0">
                          <a:solidFill>
                            <a:srgbClr val="6E747E"/>
                          </a:solidFill>
                          <a:latin typeface="Calibri" pitchFamily="34" charset="0"/>
                          <a:ea typeface="Calibri" pitchFamily="34" charset="-122"/>
                          <a:cs typeface="Calibri" pitchFamily="34" charset="-120"/>
                        </a:rPr>
                        <a:t>Hang up before paying, skip screen-sharing, send less.</a:t>
                      </a:r>
                      <a:endParaRPr lang="en-US" sz="1300" dirty="0">
                        <a:latin typeface="Calibri" charset="0"/>
                        <a:ea typeface="Calibri" charset="0"/>
                        <a:cs typeface="Calibri" charset="0"/>
                      </a:endParaRPr>
                    </a:p>
                  </a:txBody>
                  <a:tcPr marL="0" marR="109728" marT="73152" marB="73152" anchor="t">
                    <a:lnL w="0" cap="flat" cmpd="sng" algn="ctr">
                      <a:noFill/>
                    </a:lnL>
                    <a:lnR w="0" cap="flat" cmpd="sng" algn="ctr">
                      <a:noFill/>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300" dirty="0">
                          <a:solidFill>
                            <a:srgbClr val="3A4353"/>
                          </a:solidFill>
                          <a:latin typeface="Calibri" pitchFamily="34" charset="0"/>
                          <a:ea typeface="Calibri" pitchFamily="34" charset="-122"/>
                          <a:cs typeface="Calibri" pitchFamily="34" charset="-120"/>
                        </a:rPr>
                        <a:t>Payment and receiving-account signals come from the bank, which the caller cannot hide.</a:t>
                      </a:r>
                      <a:endParaRPr lang="en-US" sz="1300" dirty="0">
                        <a:latin typeface="Calibri" charset="0"/>
                        <a:ea typeface="Calibri" charset="0"/>
                        <a:cs typeface="Calibri" charset="0"/>
                      </a:endParaRPr>
                    </a:p>
                  </a:txBody>
                  <a:tcPr marL="0" marR="109728" marT="73152" marB="73152" anchor="t">
                    <a:lnL w="0" cap="flat" cmpd="sng" algn="ctr">
                      <a:noFill/>
                    </a:lnL>
                    <a:lnR w="0" cap="flat" cmpd="sng" algn="ctr">
                      <a:noFill/>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300" dirty="0">
                          <a:solidFill>
                            <a:srgbClr val="3A4353"/>
                          </a:solidFill>
                          <a:latin typeface="Calibri" pitchFamily="34" charset="0"/>
                          <a:ea typeface="Calibri" pitchFamily="34" charset="-122"/>
                          <a:cs typeface="Calibri" pitchFamily="34" charset="-120"/>
                        </a:rPr>
                        <a:t>86.9% of these sessions still caught. Worst case, hiding the strongest signal: 62%; two: 44%.</a:t>
                      </a:r>
                      <a:endParaRPr lang="en-US" sz="1300" dirty="0">
                        <a:latin typeface="Calibri" charset="0"/>
                        <a:ea typeface="Calibri" charset="0"/>
                        <a:cs typeface="Calibri" charset="0"/>
                      </a:endParaRPr>
                    </a:p>
                  </a:txBody>
                  <a:tcPr marL="0" marR="109728" marT="73152" marB="73152" anchor="t">
                    <a:lnL w="0" cap="flat" cmpd="sng" algn="ctr">
                      <a:noFill/>
                    </a:lnL>
                    <a:lnR w="0" cap="flat" cmpd="sng" algn="ctr">
                      <a:noFill/>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200" dirty="0">
                          <a:solidFill>
                            <a:srgbClr val="1B2433"/>
                          </a:solidFill>
                          <a:latin typeface="Calibri" pitchFamily="34" charset="0"/>
                          <a:ea typeface="Calibri" pitchFamily="34" charset="-122"/>
                          <a:cs typeface="Calibri" pitchFamily="34" charset="-120"/>
                        </a:rPr>
                        <a:t>measured</a:t>
                      </a:r>
                      <a:endParaRPr lang="en-US" sz="1200" dirty="0">
                        <a:latin typeface="Calibri" charset="0"/>
                        <a:ea typeface="Calibri" charset="0"/>
                        <a:cs typeface="Calibri" charset="0"/>
                      </a:endParaRPr>
                    </a:p>
                  </a:txBody>
                  <a:tcPr marL="0" marR="109728" marT="73152" marB="73152" anchor="t">
                    <a:lnL w="0" cap="flat" cmpd="sng" algn="ctr">
                      <a:noFill/>
                    </a:lnL>
                    <a:lnR w="0" cap="flat" cmpd="sng" algn="ctr">
                      <a:noFill/>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r>
              <a:tr h="960120">
                <a:tc>
                  <a:txBody>
                    <a:bodyPr/>
                    <a:lstStyle/>
                    <a:p>
                      <a:pPr indent="0" marL="0">
                        <a:buNone/>
                      </a:pPr>
                      <a:r>
                        <a:rPr lang="en-US" sz="1400" b="1" dirty="0">
                          <a:solidFill>
                            <a:srgbClr val="1B2433"/>
                          </a:solidFill>
                          <a:latin typeface="Calibri" pitchFamily="34" charset="0"/>
                          <a:ea typeface="Calibri" pitchFamily="34" charset="-122"/>
                          <a:cs typeface="Calibri" pitchFamily="34" charset="-120"/>
                        </a:rPr>
                        <a:t>Split one payment into several?</a:t>
                      </a:r>
                      <a:endParaRPr lang="en-US" sz="1300" dirty="0">
                        <a:latin typeface="Calibri" charset="0"/>
                        <a:ea typeface="Calibri" charset="0"/>
                        <a:cs typeface="Calibri" charset="0"/>
                      </a:endParaRPr>
                    </a:p>
                    <a:p>
                      <a:pPr indent="0" marL="0">
                        <a:buNone/>
                      </a:pPr>
                      <a:r>
                        <a:rPr lang="en-US" sz="1200" dirty="0">
                          <a:solidFill>
                            <a:srgbClr val="6E747E"/>
                          </a:solidFill>
                          <a:latin typeface="Calibri" pitchFamily="34" charset="0"/>
                          <a:ea typeface="Calibri" pitchFamily="34" charset="-122"/>
                          <a:cs typeface="Calibri" pitchFamily="34" charset="-120"/>
                        </a:rPr>
                        <a:t>Four payments of ₹25,000 instead of one ₹1,00,000.</a:t>
                      </a:r>
                      <a:endParaRPr lang="en-US" sz="1300" dirty="0">
                        <a:latin typeface="Calibri" charset="0"/>
                        <a:ea typeface="Calibri" charset="0"/>
                        <a:cs typeface="Calibri" charset="0"/>
                      </a:endParaRPr>
                    </a:p>
                  </a:txBody>
                  <a:tcPr marL="0" marR="109728" marT="73152" marB="73152" anchor="t">
                    <a:lnL w="0" cap="flat" cmpd="sng" algn="ctr">
                      <a:noFill/>
                    </a:lnL>
                    <a:lnR w="0" cap="flat" cmpd="sng" algn="ctr">
                      <a:noFill/>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300" dirty="0">
                          <a:solidFill>
                            <a:srgbClr val="3A4353"/>
                          </a:solidFill>
                          <a:latin typeface="Calibri" pitchFamily="34" charset="0"/>
                          <a:ea typeface="Calibri" pitchFamily="34" charset="-122"/>
                          <a:cs typeface="Calibri" pitchFamily="34" charset="-120"/>
                        </a:rPr>
                        <a:t>A signal for two or more payments to new payees within 60 minutes.</a:t>
                      </a:r>
                      <a:endParaRPr lang="en-US" sz="1300" dirty="0">
                        <a:latin typeface="Calibri" charset="0"/>
                        <a:ea typeface="Calibri" charset="0"/>
                        <a:cs typeface="Calibri" charset="0"/>
                      </a:endParaRPr>
                    </a:p>
                  </a:txBody>
                  <a:tcPr marL="0" marR="109728" marT="73152" marB="73152" anchor="t">
                    <a:lnL w="0" cap="flat" cmpd="sng" algn="ctr">
                      <a:noFill/>
                    </a:lnL>
                    <a:lnR w="0" cap="flat" cmpd="sng" algn="ctr">
                      <a:noFill/>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300" dirty="0">
                          <a:solidFill>
                            <a:srgbClr val="3A4353"/>
                          </a:solidFill>
                          <a:latin typeface="Calibri" pitchFamily="34" charset="0"/>
                          <a:ea typeface="Calibri" pitchFamily="34" charset="-122"/>
                          <a:cs typeface="Calibri" pitchFamily="34" charset="-120"/>
                        </a:rPr>
                        <a:t>Not separately simulated yet.</a:t>
                      </a:r>
                      <a:endParaRPr lang="en-US" sz="1300" dirty="0">
                        <a:latin typeface="Calibri" charset="0"/>
                        <a:ea typeface="Calibri" charset="0"/>
                        <a:cs typeface="Calibri" charset="0"/>
                      </a:endParaRPr>
                    </a:p>
                  </a:txBody>
                  <a:tcPr marL="0" marR="109728" marT="73152" marB="73152" anchor="t">
                    <a:lnL w="0" cap="flat" cmpd="sng" algn="ctr">
                      <a:noFill/>
                    </a:lnL>
                    <a:lnR w="0" cap="flat" cmpd="sng" algn="ctr">
                      <a:noFill/>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200" i="1" dirty="0">
                          <a:solidFill>
                            <a:srgbClr val="6E747E"/>
                          </a:solidFill>
                          <a:latin typeface="Calibri" pitchFamily="34" charset="0"/>
                          <a:ea typeface="Calibri" pitchFamily="34" charset="-122"/>
                          <a:cs typeface="Calibri" pitchFamily="34" charset="-120"/>
                        </a:rPr>
                        <a:t>design only</a:t>
                      </a:r>
                      <a:endParaRPr lang="en-US" sz="1200" dirty="0">
                        <a:latin typeface="Calibri" charset="0"/>
                        <a:ea typeface="Calibri" charset="0"/>
                        <a:cs typeface="Calibri" charset="0"/>
                      </a:endParaRPr>
                    </a:p>
                  </a:txBody>
                  <a:tcPr marL="0" marR="109728" marT="73152" marB="73152" anchor="t">
                    <a:lnL w="0" cap="flat" cmpd="sng" algn="ctr">
                      <a:noFill/>
                    </a:lnL>
                    <a:lnR w="0" cap="flat" cmpd="sng" algn="ctr">
                      <a:noFill/>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r>
              <a:tr h="1143000">
                <a:tc>
                  <a:txBody>
                    <a:bodyPr/>
                    <a:lstStyle/>
                    <a:p>
                      <a:pPr indent="0" marL="0">
                        <a:buNone/>
                      </a:pPr>
                      <a:r>
                        <a:rPr lang="en-US" sz="1400" b="1" dirty="0">
                          <a:solidFill>
                            <a:srgbClr val="1B2433"/>
                          </a:solidFill>
                          <a:latin typeface="Calibri" pitchFamily="34" charset="0"/>
                          <a:ea typeface="Calibri" pitchFamily="34" charset="-122"/>
                          <a:cs typeface="Calibri" pitchFamily="34" charset="-120"/>
                        </a:rPr>
                        <a:t>Use older, rented mule accounts?</a:t>
                      </a:r>
                      <a:endParaRPr lang="en-US" sz="1300" dirty="0">
                        <a:latin typeface="Calibri" charset="0"/>
                        <a:ea typeface="Calibri" charset="0"/>
                        <a:cs typeface="Calibri" charset="0"/>
                      </a:endParaRPr>
                    </a:p>
                    <a:p>
                      <a:pPr indent="0" marL="0">
                        <a:buNone/>
                      </a:pPr>
                      <a:r>
                        <a:rPr lang="en-US" sz="1200" dirty="0">
                          <a:solidFill>
                            <a:srgbClr val="6E747E"/>
                          </a:solidFill>
                          <a:latin typeface="Calibri" pitchFamily="34" charset="0"/>
                          <a:ea typeface="Calibri" pitchFamily="34" charset="-122"/>
                          <a:cs typeface="Calibri" pitchFamily="34" charset="-120"/>
                        </a:rPr>
                        <a:t>An old account avoids the ‘new account’ signal.</a:t>
                      </a:r>
                      <a:endParaRPr lang="en-US" sz="1300" dirty="0">
                        <a:latin typeface="Calibri" charset="0"/>
                        <a:ea typeface="Calibri" charset="0"/>
                        <a:cs typeface="Calibri" charset="0"/>
                      </a:endParaRPr>
                    </a:p>
                  </a:txBody>
                  <a:tcPr marL="0" marR="109728" marT="73152" marB="73152" anchor="t">
                    <a:lnL w="0" cap="flat" cmpd="sng" algn="ctr">
                      <a:noFill/>
                    </a:lnL>
                    <a:lnR w="0" cap="flat" cmpd="sng" algn="ctr">
                      <a:noFill/>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300" dirty="0">
                          <a:solidFill>
                            <a:srgbClr val="3A4353"/>
                          </a:solidFill>
                          <a:latin typeface="Calibri" pitchFamily="34" charset="0"/>
                          <a:ea typeface="Calibri" pitchFamily="34" charset="-122"/>
                          <a:cs typeface="Calibri" pitchFamily="34" charset="-120"/>
                        </a:rPr>
                        <a:t>The mule score also checks how many new senders an account has and how fast money leaves it.</a:t>
                      </a:r>
                      <a:endParaRPr lang="en-US" sz="1300" dirty="0">
                        <a:latin typeface="Calibri" charset="0"/>
                        <a:ea typeface="Calibri" charset="0"/>
                        <a:cs typeface="Calibri" charset="0"/>
                      </a:endParaRPr>
                    </a:p>
                  </a:txBody>
                  <a:tcPr marL="0" marR="109728" marT="73152" marB="73152" anchor="t">
                    <a:lnL w="0" cap="flat" cmpd="sng" algn="ctr">
                      <a:noFill/>
                    </a:lnL>
                    <a:lnR w="0" cap="flat" cmpd="sng" algn="ctr">
                      <a:noFill/>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300" dirty="0">
                          <a:solidFill>
                            <a:srgbClr val="3A4353"/>
                          </a:solidFill>
                          <a:latin typeface="Calibri" pitchFamily="34" charset="0"/>
                          <a:ea typeface="Calibri" pitchFamily="34" charset="-122"/>
                          <a:cs typeface="Calibri" pitchFamily="34" charset="-120"/>
                        </a:rPr>
                        <a:t>Mule score catches only 24% of old mule accounts; payments to them are still caught 73.6% of the time.</a:t>
                      </a:r>
                      <a:endParaRPr lang="en-US" sz="1300" dirty="0">
                        <a:latin typeface="Calibri" charset="0"/>
                        <a:ea typeface="Calibri" charset="0"/>
                        <a:cs typeface="Calibri" charset="0"/>
                      </a:endParaRPr>
                    </a:p>
                  </a:txBody>
                  <a:tcPr marL="0" marR="109728" marT="73152" marB="73152" anchor="t">
                    <a:lnL w="0" cap="flat" cmpd="sng" algn="ctr">
                      <a:noFill/>
                    </a:lnL>
                    <a:lnR w="0" cap="flat" cmpd="sng" algn="ctr">
                      <a:noFill/>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200" dirty="0">
                          <a:solidFill>
                            <a:srgbClr val="1B2433"/>
                          </a:solidFill>
                          <a:latin typeface="Calibri" pitchFamily="34" charset="0"/>
                          <a:ea typeface="Calibri" pitchFamily="34" charset="-122"/>
                          <a:cs typeface="Calibri" pitchFamily="34" charset="-120"/>
                        </a:rPr>
                        <a:t>measured</a:t>
                      </a:r>
                      <a:endParaRPr lang="en-US" sz="1200" dirty="0">
                        <a:latin typeface="Calibri" charset="0"/>
                        <a:ea typeface="Calibri" charset="0"/>
                        <a:cs typeface="Calibri" charset="0"/>
                      </a:endParaRPr>
                    </a:p>
                  </a:txBody>
                  <a:tcPr marL="0" marR="109728" marT="73152" marB="73152" anchor="t">
                    <a:lnL w="0" cap="flat" cmpd="sng" algn="ctr">
                      <a:noFill/>
                    </a:lnL>
                    <a:lnR w="0" cap="flat" cmpd="sng" algn="ctr">
                      <a:noFill/>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r>
              <a:tr h="822960">
                <a:tc>
                  <a:txBody>
                    <a:bodyPr/>
                    <a:lstStyle/>
                    <a:p>
                      <a:pPr indent="0" marL="0">
                        <a:buNone/>
                      </a:pPr>
                      <a:r>
                        <a:rPr lang="en-US" sz="1400" b="1" dirty="0">
                          <a:solidFill>
                            <a:srgbClr val="1B2433"/>
                          </a:solidFill>
                          <a:latin typeface="Calibri" pitchFamily="34" charset="0"/>
                          <a:ea typeface="Calibri" pitchFamily="34" charset="-122"/>
                          <a:cs typeface="Calibri" pitchFamily="34" charset="-120"/>
                        </a:rPr>
                        <a:t>Poison the training data?</a:t>
                      </a:r>
                      <a:endParaRPr lang="en-US" sz="1300" dirty="0">
                        <a:latin typeface="Calibri" charset="0"/>
                        <a:ea typeface="Calibri" charset="0"/>
                        <a:cs typeface="Calibri" charset="0"/>
                      </a:endParaRPr>
                    </a:p>
                    <a:p>
                      <a:pPr indent="0" marL="0">
                        <a:buNone/>
                      </a:pPr>
                      <a:r>
                        <a:rPr lang="en-US" sz="1200" dirty="0">
                          <a:solidFill>
                            <a:srgbClr val="6E747E"/>
                          </a:solidFill>
                          <a:latin typeface="Calibri" pitchFamily="34" charset="0"/>
                          <a:ea typeface="Calibri" pitchFamily="34" charset="-122"/>
                          <a:cs typeface="Calibri" pitchFamily="34" charset="-120"/>
                        </a:rPr>
                        <a:t>Send lots of false reports.</a:t>
                      </a:r>
                      <a:endParaRPr lang="en-US" sz="1300" dirty="0">
                        <a:latin typeface="Calibri" charset="0"/>
                        <a:ea typeface="Calibri" charset="0"/>
                        <a:cs typeface="Calibri" charset="0"/>
                      </a:endParaRPr>
                    </a:p>
                  </a:txBody>
                  <a:tcPr marL="0" marR="109728" marT="73152" marB="73152" anchor="t">
                    <a:lnL w="0" cap="flat" cmpd="sng" algn="ctr">
                      <a:noFill/>
                    </a:lnL>
                    <a:lnR w="0" cap="flat" cmpd="sng" algn="ctr">
                      <a:noFill/>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300" dirty="0">
                          <a:solidFill>
                            <a:srgbClr val="3A4353"/>
                          </a:solidFill>
                          <a:latin typeface="Calibri" pitchFamily="34" charset="0"/>
                          <a:ea typeface="Calibri" pitchFamily="34" charset="-122"/>
                          <a:cs typeface="Calibri" pitchFamily="34" charset="-120"/>
                        </a:rPr>
                        <a:t>Retrain only on cases the bank has confirmed.</a:t>
                      </a:r>
                      <a:endParaRPr lang="en-US" sz="1300" dirty="0">
                        <a:latin typeface="Calibri" charset="0"/>
                        <a:ea typeface="Calibri" charset="0"/>
                        <a:cs typeface="Calibri" charset="0"/>
                      </a:endParaRPr>
                    </a:p>
                  </a:txBody>
                  <a:tcPr marL="0" marR="109728" marT="73152" marB="73152" anchor="t">
                    <a:lnL w="0" cap="flat" cmpd="sng" algn="ctr">
                      <a:noFill/>
                    </a:lnL>
                    <a:lnR w="0" cap="flat" cmpd="sng" algn="ctr">
                      <a:noFill/>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300" dirty="0">
                          <a:solidFill>
                            <a:srgbClr val="3A4353"/>
                          </a:solidFill>
                          <a:latin typeface="Calibri" pitchFamily="34" charset="0"/>
                          <a:ea typeface="Calibri" pitchFamily="34" charset="-122"/>
                          <a:cs typeface="Calibri" pitchFamily="34" charset="-120"/>
                        </a:rPr>
                        <a:t>Not evaluated.</a:t>
                      </a:r>
                      <a:endParaRPr lang="en-US" sz="1300" dirty="0">
                        <a:latin typeface="Calibri" charset="0"/>
                        <a:ea typeface="Calibri" charset="0"/>
                        <a:cs typeface="Calibri" charset="0"/>
                      </a:endParaRPr>
                    </a:p>
                  </a:txBody>
                  <a:tcPr marL="0" marR="109728" marT="73152" marB="73152" anchor="t">
                    <a:lnL w="0" cap="flat" cmpd="sng" algn="ctr">
                      <a:noFill/>
                    </a:lnL>
                    <a:lnR w="0" cap="flat" cmpd="sng" algn="ctr">
                      <a:noFill/>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200" i="1" dirty="0">
                          <a:solidFill>
                            <a:srgbClr val="6E747E"/>
                          </a:solidFill>
                          <a:latin typeface="Calibri" pitchFamily="34" charset="0"/>
                          <a:ea typeface="Calibri" pitchFamily="34" charset="-122"/>
                          <a:cs typeface="Calibri" pitchFamily="34" charset="-120"/>
                        </a:rPr>
                        <a:t>design only</a:t>
                      </a:r>
                      <a:endParaRPr lang="en-US" sz="1200" dirty="0">
                        <a:latin typeface="Calibri" charset="0"/>
                        <a:ea typeface="Calibri" charset="0"/>
                        <a:cs typeface="Calibri" charset="0"/>
                      </a:endParaRPr>
                    </a:p>
                  </a:txBody>
                  <a:tcPr marL="0" marR="109728" marT="73152" marB="73152" anchor="t">
                    <a:lnL w="0" cap="flat" cmpd="sng" algn="ctr">
                      <a:noFill/>
                    </a:lnL>
                    <a:lnR w="0" cap="flat" cmpd="sng" algn="ctr">
                      <a:noFill/>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r>
            </a:tbl>
          </a:graphicData>
        </a:graphic>
      </p:graphicFrame>
      <p:graphicFrame>
        <p:nvGraphicFramePr>
          <p:cNvPr id="7" name="Chart 0" descr=""/>
          <p:cNvGraphicFramePr/>
          <p:nvPr/>
        </p:nvGraphicFramePr>
        <p:xfrm>
          <a:off x="8641080" y="1371600"/>
          <a:ext cx="3017520" cy="2468880"/>
        </p:xfrm>
        <a:graphic xmlns:a="http://schemas.openxmlformats.org/drawingml/2006/main">
          <a:graphicData uri="http://schemas.openxmlformats.org/drawingml/2006/chart">
            <c:chart xmlns:c="http://schemas.openxmlformats.org/drawingml/2006/chart" r:id="rId1"/>
          </a:graphicData>
        </a:graphic>
      </p:graphicFrame>
      <p:sp>
        <p:nvSpPr>
          <p:cNvPr id="8" name="Text 4"/>
          <p:cNvSpPr txBox="1"/>
          <p:nvPr/>
        </p:nvSpPr>
        <p:spPr>
          <a:xfrm>
            <a:off x="8686800" y="3886200"/>
            <a:ext cx="2926080" cy="685800"/>
          </a:xfrm>
          <a:prstGeom prst="rect">
            <a:avLst/>
          </a:prstGeom>
          <a:noFill/>
          <a:ln/>
        </p:spPr>
        <p:txBody>
          <a:bodyPr wrap="square" lIns="0" tIns="0" rIns="0" bIns="0" rtlCol="0" anchor="t"/>
          <a:lstStyle/>
          <a:p>
            <a:pPr indent="0" marL="0">
              <a:spcAft>
                <a:spcPts val="400"/>
              </a:spcAft>
              <a:buNone/>
            </a:pPr>
            <a:r>
              <a:rPr lang="en-US" sz="1200" dirty="0">
                <a:solidFill>
                  <a:srgbClr val="6E747E"/>
                </a:solidFill>
                <a:latin typeface="Calibri" pitchFamily="34" charset="0"/>
                <a:ea typeface="Calibri" pitchFamily="34" charset="-122"/>
                <a:cs typeface="Calibri" pitchFamily="34" charset="-120"/>
              </a:rPr>
              <a:t>We assume the fraudster has read our weights and removes the strongest signals first. Thresholds are not changed.</a:t>
            </a:r>
            <a:endParaRPr lang="en-US" sz="1200" dirty="0"/>
          </a:p>
        </p:txBody>
      </p:sp>
      <p:sp>
        <p:nvSpPr>
          <p:cNvPr id="9" name="Text 5"/>
          <p:cNvSpPr txBox="1"/>
          <p:nvPr/>
        </p:nvSpPr>
        <p:spPr>
          <a:xfrm>
            <a:off x="8686800" y="4663440"/>
            <a:ext cx="2926080" cy="274320"/>
          </a:xfrm>
          <a:prstGeom prst="rect">
            <a:avLst/>
          </a:prstGeom>
          <a:noFill/>
          <a:ln/>
        </p:spPr>
        <p:txBody>
          <a:bodyPr wrap="square" lIns="0" tIns="0" rIns="0" bIns="0" rtlCol="0" anchor="ctr"/>
          <a:lstStyle/>
          <a:p>
            <a:pPr indent="0" marL="0">
              <a:buNone/>
            </a:pPr>
            <a:r>
              <a:rPr lang="en-US" sz="1300" b="1" dirty="0">
                <a:solidFill>
                  <a:srgbClr val="1B2433"/>
                </a:solidFill>
                <a:latin typeface="Calibri" pitchFamily="34" charset="0"/>
                <a:ea typeface="Calibri" pitchFamily="34" charset="-122"/>
                <a:cs typeface="Calibri" pitchFamily="34" charset="-120"/>
              </a:rPr>
              <a:t>A scam type it has not seen</a:t>
            </a:r>
            <a:endParaRPr lang="en-US" sz="1300" dirty="0"/>
          </a:p>
        </p:txBody>
      </p:sp>
      <p:sp>
        <p:nvSpPr>
          <p:cNvPr id="10" name="Text 6"/>
          <p:cNvSpPr txBox="1"/>
          <p:nvPr/>
        </p:nvSpPr>
        <p:spPr>
          <a:xfrm>
            <a:off x="8686800" y="4937760"/>
            <a:ext cx="2926080" cy="457200"/>
          </a:xfrm>
          <a:prstGeom prst="rect">
            <a:avLst/>
          </a:prstGeom>
          <a:noFill/>
          <a:ln/>
        </p:spPr>
        <p:txBody>
          <a:bodyPr wrap="square" lIns="0" tIns="0" rIns="0" bIns="0" rtlCol="0" anchor="t"/>
          <a:lstStyle/>
          <a:p>
            <a:pPr indent="0" marL="0">
              <a:spcAft>
                <a:spcPts val="400"/>
              </a:spcAft>
              <a:buNone/>
            </a:pPr>
            <a:r>
              <a:rPr lang="en-US" sz="1200" dirty="0">
                <a:solidFill>
                  <a:srgbClr val="3A4353"/>
                </a:solidFill>
                <a:latin typeface="Calibri" pitchFamily="34" charset="0"/>
                <a:ea typeface="Calibri" pitchFamily="34" charset="-122"/>
                <a:cs typeface="Calibri" pitchFamily="34" charset="-120"/>
              </a:rPr>
              <a:t>Trained without one type, tested on it: 79–93% recall.</a:t>
            </a:r>
            <a:endParaRPr lang="en-US" sz="1200" dirty="0"/>
          </a:p>
        </p:txBody>
      </p:sp>
      <p:sp>
        <p:nvSpPr>
          <p:cNvPr id="11" name="Text 7"/>
          <p:cNvSpPr txBox="1"/>
          <p:nvPr/>
        </p:nvSpPr>
        <p:spPr>
          <a:xfrm>
            <a:off x="8686800" y="5440680"/>
            <a:ext cx="2926080" cy="274320"/>
          </a:xfrm>
          <a:prstGeom prst="rect">
            <a:avLst/>
          </a:prstGeom>
          <a:noFill/>
          <a:ln/>
        </p:spPr>
        <p:txBody>
          <a:bodyPr wrap="square" lIns="0" tIns="0" rIns="0" bIns="0" rtlCol="0" anchor="ctr"/>
          <a:lstStyle/>
          <a:p>
            <a:pPr indent="0" marL="0">
              <a:buNone/>
            </a:pPr>
            <a:r>
              <a:rPr lang="en-US" sz="1300" b="1" dirty="0">
                <a:solidFill>
                  <a:srgbClr val="1B2433"/>
                </a:solidFill>
                <a:latin typeface="Calibri" pitchFamily="34" charset="0"/>
                <a:ea typeface="Calibri" pitchFamily="34" charset="-122"/>
                <a:cs typeface="Calibri" pitchFamily="34" charset="-120"/>
              </a:rPr>
              <a:t>Removing one stage</a:t>
            </a:r>
            <a:endParaRPr lang="en-US" sz="1300" dirty="0"/>
          </a:p>
        </p:txBody>
      </p:sp>
      <p:sp>
        <p:nvSpPr>
          <p:cNvPr id="12" name="Text 8"/>
          <p:cNvSpPr txBox="1"/>
          <p:nvPr/>
        </p:nvSpPr>
        <p:spPr>
          <a:xfrm>
            <a:off x="8686800" y="5715000"/>
            <a:ext cx="2926080" cy="548640"/>
          </a:xfrm>
          <a:prstGeom prst="rect">
            <a:avLst/>
          </a:prstGeom>
          <a:noFill/>
          <a:ln/>
        </p:spPr>
        <p:txBody>
          <a:bodyPr wrap="square" lIns="0" tIns="0" rIns="0" bIns="0" rtlCol="0" anchor="t"/>
          <a:lstStyle/>
          <a:p>
            <a:pPr indent="0" marL="0">
              <a:spcAft>
                <a:spcPts val="400"/>
              </a:spcAft>
              <a:buNone/>
            </a:pPr>
            <a:r>
              <a:rPr lang="en-US" sz="1200" dirty="0">
                <a:solidFill>
                  <a:srgbClr val="3A4353"/>
                </a:solidFill>
                <a:latin typeface="Calibri" pitchFamily="34" charset="0"/>
                <a:ea typeface="Calibri" pitchFamily="34" charset="-122"/>
                <a:cs typeface="Calibri" pitchFamily="34" charset="-120"/>
              </a:rPr>
              <a:t>Recall without contact, control, extraction or cash-out signals: 87%, 92%, 67%, 65%.</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5486400" cy="274320"/>
          </a:xfrm>
          <a:prstGeom prst="rect">
            <a:avLst/>
          </a:prstGeom>
          <a:noFill/>
          <a:ln/>
        </p:spPr>
        <p:txBody>
          <a:bodyPr wrap="square" lIns="0" tIns="0" rIns="0" bIns="0" rtlCol="0" anchor="ctr"/>
          <a:lstStyle/>
          <a:p>
            <a:pPr indent="0" marL="0">
              <a:buNone/>
            </a:pPr>
            <a:r>
              <a:rPr lang="en-US" sz="1100" dirty="0">
                <a:solidFill>
                  <a:srgbClr val="6E747E"/>
                </a:solidFill>
                <a:latin typeface="Calibri" pitchFamily="34" charset="0"/>
                <a:ea typeface="Calibri" pitchFamily="34" charset="-122"/>
                <a:cs typeface="Calibri" pitchFamily="34" charset="-120"/>
              </a:rPr>
              <a:t>8  ·  Privacy</a:t>
            </a:r>
            <a:endParaRPr lang="en-US" sz="1100" dirty="0"/>
          </a:p>
        </p:txBody>
      </p:sp>
      <p:sp>
        <p:nvSpPr>
          <p:cNvPr id="3" name="Text 1"/>
          <p:cNvSpPr txBox="1"/>
          <p:nvPr/>
        </p:nvSpPr>
        <p:spPr>
          <a:xfrm>
            <a:off x="8899855" y="256032"/>
            <a:ext cx="2743200" cy="274320"/>
          </a:xfrm>
          <a:prstGeom prst="rect">
            <a:avLst/>
          </a:prstGeom>
          <a:noFill/>
          <a:ln/>
        </p:spPr>
        <p:txBody>
          <a:bodyPr wrap="square" lIns="0" tIns="0" rIns="0" bIns="0" rtlCol="0" anchor="ctr"/>
          <a:lstStyle/>
          <a:p>
            <a:pPr algn="r" indent="0" marL="0">
              <a:buNone/>
            </a:pPr>
            <a:r>
              <a:rPr lang="en-US" sz="1100" dirty="0">
                <a:solidFill>
                  <a:srgbClr val="6E747E"/>
                </a:solidFill>
                <a:latin typeface="Calibri" pitchFamily="34" charset="0"/>
                <a:ea typeface="Calibri" pitchFamily="34" charset="-122"/>
                <a:cs typeface="Calibri" pitchFamily="34" charset="-120"/>
              </a:rPr>
              <a:t>Chakravyuh</a:t>
            </a:r>
            <a:endParaRPr lang="en-US" sz="1100" dirty="0"/>
          </a:p>
        </p:txBody>
      </p:sp>
      <p:sp>
        <p:nvSpPr>
          <p:cNvPr id="4" name="Text 2"/>
          <p:cNvSpPr txBox="1"/>
          <p:nvPr/>
        </p:nvSpPr>
        <p:spPr>
          <a:xfrm>
            <a:off x="9814255" y="6446520"/>
            <a:ext cx="1828800" cy="228600"/>
          </a:xfrm>
          <a:prstGeom prst="rect">
            <a:avLst/>
          </a:prstGeom>
          <a:noFill/>
          <a:ln/>
        </p:spPr>
        <p:txBody>
          <a:bodyPr wrap="square" lIns="0" tIns="0" rIns="0" bIns="0" rtlCol="0" anchor="ctr"/>
          <a:lstStyle/>
          <a:p>
            <a:pPr algn="r" indent="0" marL="0">
              <a:buNone/>
            </a:pPr>
            <a:r>
              <a:rPr lang="en-US" sz="1000" dirty="0">
                <a:solidFill>
                  <a:srgbClr val="6E747E"/>
                </a:solidFill>
                <a:latin typeface="Calibri" pitchFamily="34" charset="0"/>
                <a:ea typeface="Calibri" pitchFamily="34" charset="-122"/>
                <a:cs typeface="Calibri" pitchFamily="34" charset="-120"/>
              </a:rPr>
              <a:t>9 / 16</a:t>
            </a:r>
            <a:endParaRPr lang="en-US" sz="1000" dirty="0"/>
          </a:p>
        </p:txBody>
      </p:sp>
      <p:sp>
        <p:nvSpPr>
          <p:cNvPr id="5" name="Text 3"/>
          <p:cNvSpPr txBox="1"/>
          <p:nvPr/>
        </p:nvSpPr>
        <p:spPr>
          <a:xfrm>
            <a:off x="548640" y="640080"/>
            <a:ext cx="11094415" cy="731520"/>
          </a:xfrm>
          <a:prstGeom prst="rect">
            <a:avLst/>
          </a:prstGeom>
          <a:noFill/>
          <a:ln/>
        </p:spPr>
        <p:txBody>
          <a:bodyPr wrap="square" lIns="0" tIns="0" rIns="0" bIns="0" rtlCol="0" anchor="t"/>
          <a:lstStyle/>
          <a:p>
            <a:pPr indent="0" marL="0">
              <a:buNone/>
            </a:pPr>
            <a:r>
              <a:rPr lang="en-US" sz="3400" b="1" dirty="0">
                <a:solidFill>
                  <a:srgbClr val="1B2433"/>
                </a:solidFill>
                <a:latin typeface="Cambria" pitchFamily="34" charset="0"/>
                <a:ea typeface="Cambria" pitchFamily="34" charset="-122"/>
                <a:cs typeface="Cambria" pitchFamily="34" charset="-120"/>
              </a:rPr>
              <a:t>What data we use</a:t>
            </a:r>
            <a:endParaRPr lang="en-US" sz="3400" dirty="0"/>
          </a:p>
        </p:txBody>
      </p:sp>
      <p:sp>
        <p:nvSpPr>
          <p:cNvPr id="6" name="Text 4"/>
          <p:cNvSpPr txBox="1"/>
          <p:nvPr/>
        </p:nvSpPr>
        <p:spPr>
          <a:xfrm>
            <a:off x="548640" y="1508760"/>
            <a:ext cx="2743200" cy="320040"/>
          </a:xfrm>
          <a:prstGeom prst="rect">
            <a:avLst/>
          </a:prstGeom>
          <a:noFill/>
          <a:ln/>
        </p:spPr>
        <p:txBody>
          <a:bodyPr wrap="square" lIns="0" tIns="0" rIns="0" bIns="0" rtlCol="0" anchor="ctr"/>
          <a:lstStyle/>
          <a:p>
            <a:pPr indent="0" marL="0">
              <a:buNone/>
            </a:pPr>
            <a:r>
              <a:rPr lang="en-US" sz="1500" b="1" dirty="0">
                <a:solidFill>
                  <a:srgbClr val="1B2433"/>
                </a:solidFill>
                <a:latin typeface="Calibri" pitchFamily="34" charset="0"/>
                <a:ea typeface="Calibri" pitchFamily="34" charset="-122"/>
                <a:cs typeface="Calibri" pitchFamily="34" charset="-120"/>
              </a:rPr>
              <a:t>Stays on the phone</a:t>
            </a:r>
            <a:endParaRPr lang="en-US" sz="1500" dirty="0"/>
          </a:p>
        </p:txBody>
      </p:sp>
      <p:sp>
        <p:nvSpPr>
          <p:cNvPr id="7" name="Text 5"/>
          <p:cNvSpPr txBox="1"/>
          <p:nvPr/>
        </p:nvSpPr>
        <p:spPr>
          <a:xfrm>
            <a:off x="548640" y="2011680"/>
            <a:ext cx="274320" cy="320040"/>
          </a:xfrm>
          <a:prstGeom prst="rect">
            <a:avLst/>
          </a:prstGeom>
          <a:noFill/>
          <a:ln/>
        </p:spPr>
        <p:txBody>
          <a:bodyPr wrap="square" lIns="0" tIns="0" rIns="0" bIns="0" rtlCol="0" anchor="ctr"/>
          <a:lstStyle/>
          <a:p>
            <a:pPr indent="0" marL="0">
              <a:buNone/>
            </a:pPr>
            <a:r>
              <a:rPr lang="en-US" sz="1600" b="1" dirty="0">
                <a:solidFill>
                  <a:srgbClr val="D9480F"/>
                </a:solidFill>
                <a:latin typeface="Calibri" pitchFamily="34" charset="0"/>
                <a:ea typeface="Calibri" pitchFamily="34" charset="-122"/>
                <a:cs typeface="Calibri" pitchFamily="34" charset="-120"/>
              </a:rPr>
              <a:t>✕</a:t>
            </a:r>
            <a:endParaRPr lang="en-US" sz="1600" dirty="0"/>
          </a:p>
        </p:txBody>
      </p:sp>
      <p:sp>
        <p:nvSpPr>
          <p:cNvPr id="8" name="Text 6"/>
          <p:cNvSpPr txBox="1"/>
          <p:nvPr/>
        </p:nvSpPr>
        <p:spPr>
          <a:xfrm>
            <a:off x="914400" y="2011680"/>
            <a:ext cx="2286000" cy="320040"/>
          </a:xfrm>
          <a:prstGeom prst="rect">
            <a:avLst/>
          </a:prstGeom>
          <a:noFill/>
          <a:ln/>
        </p:spPr>
        <p:txBody>
          <a:bodyPr wrap="square" lIns="0" tIns="0" rIns="0" bIns="0" rtlCol="0" anchor="ctr"/>
          <a:lstStyle/>
          <a:p>
            <a:pPr indent="0" marL="0">
              <a:buNone/>
            </a:pPr>
            <a:r>
              <a:rPr lang="en-US" sz="1700" dirty="0">
                <a:solidFill>
                  <a:srgbClr val="1B2433"/>
                </a:solidFill>
                <a:latin typeface="Calibri" pitchFamily="34" charset="0"/>
                <a:ea typeface="Calibri" pitchFamily="34" charset="-122"/>
                <a:cs typeface="Calibri" pitchFamily="34" charset="-120"/>
              </a:rPr>
              <a:t>Call audio</a:t>
            </a:r>
            <a:endParaRPr lang="en-US" sz="1700" dirty="0"/>
          </a:p>
        </p:txBody>
      </p:sp>
      <p:sp>
        <p:nvSpPr>
          <p:cNvPr id="9" name="Shape 7"/>
          <p:cNvSpPr/>
          <p:nvPr/>
        </p:nvSpPr>
        <p:spPr>
          <a:xfrm>
            <a:off x="548640" y="2414016"/>
            <a:ext cx="2651760" cy="0"/>
          </a:xfrm>
          <a:prstGeom prst="line">
            <a:avLst/>
          </a:prstGeom>
          <a:noFill/>
          <a:ln w="9525">
            <a:solidFill>
              <a:srgbClr val="D9DCE1"/>
            </a:solidFill>
            <a:prstDash val="solid"/>
          </a:ln>
        </p:spPr>
      </p:sp>
      <p:sp>
        <p:nvSpPr>
          <p:cNvPr id="10" name="Text 8"/>
          <p:cNvSpPr txBox="1"/>
          <p:nvPr/>
        </p:nvSpPr>
        <p:spPr>
          <a:xfrm>
            <a:off x="548640" y="2487168"/>
            <a:ext cx="274320" cy="320040"/>
          </a:xfrm>
          <a:prstGeom prst="rect">
            <a:avLst/>
          </a:prstGeom>
          <a:noFill/>
          <a:ln/>
        </p:spPr>
        <p:txBody>
          <a:bodyPr wrap="square" lIns="0" tIns="0" rIns="0" bIns="0" rtlCol="0" anchor="ctr"/>
          <a:lstStyle/>
          <a:p>
            <a:pPr indent="0" marL="0">
              <a:buNone/>
            </a:pPr>
            <a:r>
              <a:rPr lang="en-US" sz="1600" b="1" dirty="0">
                <a:solidFill>
                  <a:srgbClr val="D9480F"/>
                </a:solidFill>
                <a:latin typeface="Calibri" pitchFamily="34" charset="0"/>
                <a:ea typeface="Calibri" pitchFamily="34" charset="-122"/>
                <a:cs typeface="Calibri" pitchFamily="34" charset="-120"/>
              </a:rPr>
              <a:t>✕</a:t>
            </a:r>
            <a:endParaRPr lang="en-US" sz="1600" dirty="0"/>
          </a:p>
        </p:txBody>
      </p:sp>
      <p:sp>
        <p:nvSpPr>
          <p:cNvPr id="11" name="Text 9"/>
          <p:cNvSpPr txBox="1"/>
          <p:nvPr/>
        </p:nvSpPr>
        <p:spPr>
          <a:xfrm>
            <a:off x="914400" y="2487168"/>
            <a:ext cx="2286000" cy="320040"/>
          </a:xfrm>
          <a:prstGeom prst="rect">
            <a:avLst/>
          </a:prstGeom>
          <a:noFill/>
          <a:ln/>
        </p:spPr>
        <p:txBody>
          <a:bodyPr wrap="square" lIns="0" tIns="0" rIns="0" bIns="0" rtlCol="0" anchor="ctr"/>
          <a:lstStyle/>
          <a:p>
            <a:pPr indent="0" marL="0">
              <a:buNone/>
            </a:pPr>
            <a:r>
              <a:rPr lang="en-US" sz="1700" dirty="0">
                <a:solidFill>
                  <a:srgbClr val="1B2433"/>
                </a:solidFill>
                <a:latin typeface="Calibri" pitchFamily="34" charset="0"/>
                <a:ea typeface="Calibri" pitchFamily="34" charset="-122"/>
                <a:cs typeface="Calibri" pitchFamily="34" charset="-120"/>
              </a:rPr>
              <a:t>Screen frames</a:t>
            </a:r>
            <a:endParaRPr lang="en-US" sz="1700" dirty="0"/>
          </a:p>
        </p:txBody>
      </p:sp>
      <p:sp>
        <p:nvSpPr>
          <p:cNvPr id="12" name="Shape 10"/>
          <p:cNvSpPr/>
          <p:nvPr/>
        </p:nvSpPr>
        <p:spPr>
          <a:xfrm>
            <a:off x="548640" y="2889504"/>
            <a:ext cx="2651760" cy="0"/>
          </a:xfrm>
          <a:prstGeom prst="line">
            <a:avLst/>
          </a:prstGeom>
          <a:noFill/>
          <a:ln w="9525">
            <a:solidFill>
              <a:srgbClr val="D9DCE1"/>
            </a:solidFill>
            <a:prstDash val="solid"/>
          </a:ln>
        </p:spPr>
      </p:sp>
      <p:sp>
        <p:nvSpPr>
          <p:cNvPr id="13" name="Text 11"/>
          <p:cNvSpPr txBox="1"/>
          <p:nvPr/>
        </p:nvSpPr>
        <p:spPr>
          <a:xfrm>
            <a:off x="548640" y="2962656"/>
            <a:ext cx="274320" cy="320040"/>
          </a:xfrm>
          <a:prstGeom prst="rect">
            <a:avLst/>
          </a:prstGeom>
          <a:noFill/>
          <a:ln/>
        </p:spPr>
        <p:txBody>
          <a:bodyPr wrap="square" lIns="0" tIns="0" rIns="0" bIns="0" rtlCol="0" anchor="ctr"/>
          <a:lstStyle/>
          <a:p>
            <a:pPr indent="0" marL="0">
              <a:buNone/>
            </a:pPr>
            <a:r>
              <a:rPr lang="en-US" sz="1600" b="1" dirty="0">
                <a:solidFill>
                  <a:srgbClr val="D9480F"/>
                </a:solidFill>
                <a:latin typeface="Calibri" pitchFamily="34" charset="0"/>
                <a:ea typeface="Calibri" pitchFamily="34" charset="-122"/>
                <a:cs typeface="Calibri" pitchFamily="34" charset="-120"/>
              </a:rPr>
              <a:t>✕</a:t>
            </a:r>
            <a:endParaRPr lang="en-US" sz="1600" dirty="0"/>
          </a:p>
        </p:txBody>
      </p:sp>
      <p:sp>
        <p:nvSpPr>
          <p:cNvPr id="14" name="Text 12"/>
          <p:cNvSpPr txBox="1"/>
          <p:nvPr/>
        </p:nvSpPr>
        <p:spPr>
          <a:xfrm>
            <a:off x="914400" y="2962656"/>
            <a:ext cx="2286000" cy="320040"/>
          </a:xfrm>
          <a:prstGeom prst="rect">
            <a:avLst/>
          </a:prstGeom>
          <a:noFill/>
          <a:ln/>
        </p:spPr>
        <p:txBody>
          <a:bodyPr wrap="square" lIns="0" tIns="0" rIns="0" bIns="0" rtlCol="0" anchor="ctr"/>
          <a:lstStyle/>
          <a:p>
            <a:pPr indent="0" marL="0">
              <a:buNone/>
            </a:pPr>
            <a:r>
              <a:rPr lang="en-US" sz="1700" dirty="0">
                <a:solidFill>
                  <a:srgbClr val="1B2433"/>
                </a:solidFill>
                <a:latin typeface="Calibri" pitchFamily="34" charset="0"/>
                <a:ea typeface="Calibri" pitchFamily="34" charset="-122"/>
                <a:cs typeface="Calibri" pitchFamily="34" charset="-120"/>
              </a:rPr>
              <a:t>Message text</a:t>
            </a:r>
            <a:endParaRPr lang="en-US" sz="1700" dirty="0"/>
          </a:p>
        </p:txBody>
      </p:sp>
      <p:sp>
        <p:nvSpPr>
          <p:cNvPr id="15" name="Shape 13"/>
          <p:cNvSpPr/>
          <p:nvPr/>
        </p:nvSpPr>
        <p:spPr>
          <a:xfrm>
            <a:off x="548640" y="3364992"/>
            <a:ext cx="2651760" cy="0"/>
          </a:xfrm>
          <a:prstGeom prst="line">
            <a:avLst/>
          </a:prstGeom>
          <a:noFill/>
          <a:ln w="9525">
            <a:solidFill>
              <a:srgbClr val="D9DCE1"/>
            </a:solidFill>
            <a:prstDash val="solid"/>
          </a:ln>
        </p:spPr>
      </p:sp>
      <p:sp>
        <p:nvSpPr>
          <p:cNvPr id="16" name="Text 14"/>
          <p:cNvSpPr txBox="1"/>
          <p:nvPr/>
        </p:nvSpPr>
        <p:spPr>
          <a:xfrm>
            <a:off x="548640" y="3438144"/>
            <a:ext cx="274320" cy="320040"/>
          </a:xfrm>
          <a:prstGeom prst="rect">
            <a:avLst/>
          </a:prstGeom>
          <a:noFill/>
          <a:ln/>
        </p:spPr>
        <p:txBody>
          <a:bodyPr wrap="square" lIns="0" tIns="0" rIns="0" bIns="0" rtlCol="0" anchor="ctr"/>
          <a:lstStyle/>
          <a:p>
            <a:pPr indent="0" marL="0">
              <a:buNone/>
            </a:pPr>
            <a:r>
              <a:rPr lang="en-US" sz="1600" b="1" dirty="0">
                <a:solidFill>
                  <a:srgbClr val="D9480F"/>
                </a:solidFill>
                <a:latin typeface="Calibri" pitchFamily="34" charset="0"/>
                <a:ea typeface="Calibri" pitchFamily="34" charset="-122"/>
                <a:cs typeface="Calibri" pitchFamily="34" charset="-120"/>
              </a:rPr>
              <a:t>✕</a:t>
            </a:r>
            <a:endParaRPr lang="en-US" sz="1600" dirty="0"/>
          </a:p>
        </p:txBody>
      </p:sp>
      <p:sp>
        <p:nvSpPr>
          <p:cNvPr id="17" name="Text 15"/>
          <p:cNvSpPr txBox="1"/>
          <p:nvPr/>
        </p:nvSpPr>
        <p:spPr>
          <a:xfrm>
            <a:off x="914400" y="3438144"/>
            <a:ext cx="2286000" cy="320040"/>
          </a:xfrm>
          <a:prstGeom prst="rect">
            <a:avLst/>
          </a:prstGeom>
          <a:noFill/>
          <a:ln/>
        </p:spPr>
        <p:txBody>
          <a:bodyPr wrap="square" lIns="0" tIns="0" rIns="0" bIns="0" rtlCol="0" anchor="ctr"/>
          <a:lstStyle/>
          <a:p>
            <a:pPr indent="0" marL="0">
              <a:buNone/>
            </a:pPr>
            <a:r>
              <a:rPr lang="en-US" sz="1700" dirty="0">
                <a:solidFill>
                  <a:srgbClr val="1B2433"/>
                </a:solidFill>
                <a:latin typeface="Calibri" pitchFamily="34" charset="0"/>
                <a:ea typeface="Calibri" pitchFamily="34" charset="-122"/>
                <a:cs typeface="Calibri" pitchFamily="34" charset="-120"/>
              </a:rPr>
              <a:t>Contact list</a:t>
            </a:r>
            <a:endParaRPr lang="en-US" sz="1700" dirty="0"/>
          </a:p>
        </p:txBody>
      </p:sp>
      <p:sp>
        <p:nvSpPr>
          <p:cNvPr id="18" name="Shape 16"/>
          <p:cNvSpPr/>
          <p:nvPr/>
        </p:nvSpPr>
        <p:spPr>
          <a:xfrm>
            <a:off x="548640" y="3840480"/>
            <a:ext cx="2651760" cy="0"/>
          </a:xfrm>
          <a:prstGeom prst="line">
            <a:avLst/>
          </a:prstGeom>
          <a:noFill/>
          <a:ln w="9525">
            <a:solidFill>
              <a:srgbClr val="D9DCE1"/>
            </a:solidFill>
            <a:prstDash val="solid"/>
          </a:ln>
        </p:spPr>
      </p:sp>
      <p:sp>
        <p:nvSpPr>
          <p:cNvPr id="19" name="Text 17"/>
          <p:cNvSpPr txBox="1"/>
          <p:nvPr/>
        </p:nvSpPr>
        <p:spPr>
          <a:xfrm>
            <a:off x="548640" y="3913632"/>
            <a:ext cx="274320" cy="320040"/>
          </a:xfrm>
          <a:prstGeom prst="rect">
            <a:avLst/>
          </a:prstGeom>
          <a:noFill/>
          <a:ln/>
        </p:spPr>
        <p:txBody>
          <a:bodyPr wrap="square" lIns="0" tIns="0" rIns="0" bIns="0" rtlCol="0" anchor="ctr"/>
          <a:lstStyle/>
          <a:p>
            <a:pPr indent="0" marL="0">
              <a:buNone/>
            </a:pPr>
            <a:r>
              <a:rPr lang="en-US" sz="1600" b="1" dirty="0">
                <a:solidFill>
                  <a:srgbClr val="D9480F"/>
                </a:solidFill>
                <a:latin typeface="Calibri" pitchFamily="34" charset="0"/>
                <a:ea typeface="Calibri" pitchFamily="34" charset="-122"/>
                <a:cs typeface="Calibri" pitchFamily="34" charset="-120"/>
              </a:rPr>
              <a:t>✕</a:t>
            </a:r>
            <a:endParaRPr lang="en-US" sz="1600" dirty="0"/>
          </a:p>
        </p:txBody>
      </p:sp>
      <p:sp>
        <p:nvSpPr>
          <p:cNvPr id="20" name="Text 18"/>
          <p:cNvSpPr txBox="1"/>
          <p:nvPr/>
        </p:nvSpPr>
        <p:spPr>
          <a:xfrm>
            <a:off x="914400" y="3913632"/>
            <a:ext cx="2286000" cy="320040"/>
          </a:xfrm>
          <a:prstGeom prst="rect">
            <a:avLst/>
          </a:prstGeom>
          <a:noFill/>
          <a:ln/>
        </p:spPr>
        <p:txBody>
          <a:bodyPr wrap="square" lIns="0" tIns="0" rIns="0" bIns="0" rtlCol="0" anchor="ctr"/>
          <a:lstStyle/>
          <a:p>
            <a:pPr indent="0" marL="0">
              <a:buNone/>
            </a:pPr>
            <a:r>
              <a:rPr lang="en-US" sz="1700" dirty="0">
                <a:solidFill>
                  <a:srgbClr val="1B2433"/>
                </a:solidFill>
                <a:latin typeface="Calibri" pitchFamily="34" charset="0"/>
                <a:ea typeface="Calibri" pitchFamily="34" charset="-122"/>
                <a:cs typeface="Calibri" pitchFamily="34" charset="-120"/>
              </a:rPr>
              <a:t>OTP values</a:t>
            </a:r>
            <a:endParaRPr lang="en-US" sz="1700" dirty="0"/>
          </a:p>
        </p:txBody>
      </p:sp>
      <p:sp>
        <p:nvSpPr>
          <p:cNvPr id="21" name="Shape 19"/>
          <p:cNvSpPr/>
          <p:nvPr/>
        </p:nvSpPr>
        <p:spPr>
          <a:xfrm>
            <a:off x="548640" y="4315968"/>
            <a:ext cx="2651760" cy="0"/>
          </a:xfrm>
          <a:prstGeom prst="line">
            <a:avLst/>
          </a:prstGeom>
          <a:noFill/>
          <a:ln w="9525">
            <a:solidFill>
              <a:srgbClr val="D9DCE1"/>
            </a:solidFill>
            <a:prstDash val="solid"/>
          </a:ln>
        </p:spPr>
      </p:sp>
      <p:sp>
        <p:nvSpPr>
          <p:cNvPr id="22" name="Text 20"/>
          <p:cNvSpPr txBox="1"/>
          <p:nvPr/>
        </p:nvSpPr>
        <p:spPr>
          <a:xfrm>
            <a:off x="548640" y="4389120"/>
            <a:ext cx="274320" cy="320040"/>
          </a:xfrm>
          <a:prstGeom prst="rect">
            <a:avLst/>
          </a:prstGeom>
          <a:noFill/>
          <a:ln/>
        </p:spPr>
        <p:txBody>
          <a:bodyPr wrap="square" lIns="0" tIns="0" rIns="0" bIns="0" rtlCol="0" anchor="ctr"/>
          <a:lstStyle/>
          <a:p>
            <a:pPr indent="0" marL="0">
              <a:buNone/>
            </a:pPr>
            <a:r>
              <a:rPr lang="en-US" sz="1600" b="1" dirty="0">
                <a:solidFill>
                  <a:srgbClr val="D9480F"/>
                </a:solidFill>
                <a:latin typeface="Calibri" pitchFamily="34" charset="0"/>
                <a:ea typeface="Calibri" pitchFamily="34" charset="-122"/>
                <a:cs typeface="Calibri" pitchFamily="34" charset="-120"/>
              </a:rPr>
              <a:t>✕</a:t>
            </a:r>
            <a:endParaRPr lang="en-US" sz="1600" dirty="0"/>
          </a:p>
        </p:txBody>
      </p:sp>
      <p:sp>
        <p:nvSpPr>
          <p:cNvPr id="23" name="Text 21"/>
          <p:cNvSpPr txBox="1"/>
          <p:nvPr/>
        </p:nvSpPr>
        <p:spPr>
          <a:xfrm>
            <a:off x="914400" y="4389120"/>
            <a:ext cx="2286000" cy="320040"/>
          </a:xfrm>
          <a:prstGeom prst="rect">
            <a:avLst/>
          </a:prstGeom>
          <a:noFill/>
          <a:ln/>
        </p:spPr>
        <p:txBody>
          <a:bodyPr wrap="square" lIns="0" tIns="0" rIns="0" bIns="0" rtlCol="0" anchor="ctr"/>
          <a:lstStyle/>
          <a:p>
            <a:pPr indent="0" marL="0">
              <a:buNone/>
            </a:pPr>
            <a:r>
              <a:rPr lang="en-US" sz="1700" dirty="0">
                <a:solidFill>
                  <a:srgbClr val="1B2433"/>
                </a:solidFill>
                <a:latin typeface="Calibri" pitchFamily="34" charset="0"/>
                <a:ea typeface="Calibri" pitchFamily="34" charset="-122"/>
                <a:cs typeface="Calibri" pitchFamily="34" charset="-120"/>
              </a:rPr>
              <a:t>App list</a:t>
            </a:r>
            <a:endParaRPr lang="en-US" sz="1700" dirty="0"/>
          </a:p>
        </p:txBody>
      </p:sp>
      <p:sp>
        <p:nvSpPr>
          <p:cNvPr id="24" name="Shape 22"/>
          <p:cNvSpPr/>
          <p:nvPr/>
        </p:nvSpPr>
        <p:spPr>
          <a:xfrm>
            <a:off x="548640" y="4791456"/>
            <a:ext cx="2651760" cy="0"/>
          </a:xfrm>
          <a:prstGeom prst="line">
            <a:avLst/>
          </a:prstGeom>
          <a:noFill/>
          <a:ln w="9525">
            <a:solidFill>
              <a:srgbClr val="D9DCE1"/>
            </a:solidFill>
            <a:prstDash val="solid"/>
          </a:ln>
        </p:spPr>
      </p:sp>
      <p:sp>
        <p:nvSpPr>
          <p:cNvPr id="25" name="Shape 23"/>
          <p:cNvSpPr/>
          <p:nvPr/>
        </p:nvSpPr>
        <p:spPr>
          <a:xfrm>
            <a:off x="3520440" y="1508760"/>
            <a:ext cx="0" cy="3291840"/>
          </a:xfrm>
          <a:prstGeom prst="line">
            <a:avLst/>
          </a:prstGeom>
          <a:noFill/>
          <a:ln w="15875">
            <a:solidFill>
              <a:srgbClr val="3A4353"/>
            </a:solidFill>
            <a:prstDash val="dash"/>
          </a:ln>
        </p:spPr>
      </p:sp>
      <p:sp>
        <p:nvSpPr>
          <p:cNvPr id="26" name="Text 24"/>
          <p:cNvSpPr txBox="1"/>
          <p:nvPr/>
        </p:nvSpPr>
        <p:spPr>
          <a:xfrm>
            <a:off x="3886200" y="1508760"/>
            <a:ext cx="4114800" cy="320040"/>
          </a:xfrm>
          <a:prstGeom prst="rect">
            <a:avLst/>
          </a:prstGeom>
          <a:noFill/>
          <a:ln/>
        </p:spPr>
        <p:txBody>
          <a:bodyPr wrap="square" lIns="0" tIns="0" rIns="0" bIns="0" rtlCol="0" anchor="ctr"/>
          <a:lstStyle/>
          <a:p>
            <a:pPr indent="0" marL="0">
              <a:buNone/>
            </a:pPr>
            <a:r>
              <a:rPr lang="en-US" sz="1500" b="1" dirty="0">
                <a:solidFill>
                  <a:srgbClr val="D9480F"/>
                </a:solidFill>
                <a:latin typeface="Calibri" pitchFamily="34" charset="0"/>
                <a:ea typeface="Calibri" pitchFamily="34" charset="-122"/>
                <a:cs typeface="Calibri" pitchFamily="34" charset="-120"/>
              </a:rPr>
              <a:t>Sent to the bank</a:t>
            </a:r>
            <a:endParaRPr lang="en-US" sz="1500" dirty="0"/>
          </a:p>
        </p:txBody>
      </p:sp>
      <p:sp>
        <p:nvSpPr>
          <p:cNvPr id="27" name="Text 25"/>
          <p:cNvSpPr txBox="1"/>
          <p:nvPr/>
        </p:nvSpPr>
        <p:spPr>
          <a:xfrm>
            <a:off x="3886200" y="1874520"/>
            <a:ext cx="4206240" cy="777240"/>
          </a:xfrm>
          <a:prstGeom prst="rect">
            <a:avLst/>
          </a:prstGeom>
          <a:noFill/>
          <a:ln/>
        </p:spPr>
        <p:txBody>
          <a:bodyPr wrap="square" lIns="0" tIns="0" rIns="0" bIns="0" rtlCol="0" anchor="t"/>
          <a:lstStyle/>
          <a:p>
            <a:pPr indent="0" marL="0">
              <a:buNone/>
            </a:pPr>
            <a:r>
              <a:rPr lang="en-US" sz="3000" b="1" dirty="0">
                <a:solidFill>
                  <a:srgbClr val="D9480F"/>
                </a:solidFill>
                <a:latin typeface="Cambria" pitchFamily="34" charset="0"/>
                <a:ea typeface="Cambria" pitchFamily="34" charset="-122"/>
                <a:cs typeface="Cambria" pitchFamily="34" charset="-120"/>
              </a:rPr>
              <a:t>9</a:t>
            </a:r>
            <a:pPr indent="0" marL="0">
              <a:buNone/>
            </a:pPr>
            <a:r>
              <a:rPr lang="en-US" sz="1600" dirty="0">
                <a:solidFill>
                  <a:srgbClr val="1B2433"/>
                </a:solidFill>
                <a:latin typeface="Calibri" pitchFamily="34" charset="0"/>
                <a:ea typeface="Calibri" pitchFamily="34" charset="-122"/>
                <a:cs typeface="Calibri" pitchFamily="34" charset="-120"/>
              </a:rPr>
              <a:t>  yes/no values, plus the amount</a:t>
            </a:r>
            <a:endParaRPr lang="en-US" sz="3000" dirty="0"/>
          </a:p>
          <a:p>
            <a:pPr indent="0" marL="0">
              <a:buNone/>
            </a:pPr>
            <a:r>
              <a:rPr lang="en-US" sz="1600" dirty="0">
                <a:solidFill>
                  <a:srgbClr val="1B2433"/>
                </a:solidFill>
                <a:latin typeface="Calibri" pitchFamily="34" charset="0"/>
                <a:ea typeface="Calibri" pitchFamily="34" charset="-122"/>
                <a:cs typeface="Calibri" pitchFamily="34" charset="-120"/>
              </a:rPr>
              <a:t>and a hashed payee ID</a:t>
            </a:r>
            <a:endParaRPr lang="en-US" sz="3000" dirty="0"/>
          </a:p>
        </p:txBody>
      </p:sp>
      <p:sp>
        <p:nvSpPr>
          <p:cNvPr id="28" name="Text 26"/>
          <p:cNvSpPr txBox="1"/>
          <p:nvPr/>
        </p:nvSpPr>
        <p:spPr>
          <a:xfrm>
            <a:off x="3886200" y="2743200"/>
            <a:ext cx="4023360" cy="2331720"/>
          </a:xfrm>
          <a:prstGeom prst="rect">
            <a:avLst/>
          </a:prstGeom>
          <a:noFill/>
          <a:ln/>
        </p:spPr>
        <p:txBody>
          <a:bodyPr wrap="square" lIns="0" tIns="0" rIns="0" bIns="0" rtlCol="0" anchor="t"/>
          <a:lstStyle/>
          <a:p>
            <a:pPr marL="342900" indent="-342900">
              <a:spcAft>
                <a:spcPts val="300"/>
              </a:spcAft>
              <a:buSzPct val="100000"/>
              <a:buFont typeface="+mj-lt"/>
              <a:buAutoNum type="arabicPeriod" startAt="1"/>
            </a:pPr>
            <a:r>
              <a:rPr lang="en-US" sz="1300" dirty="0">
                <a:solidFill>
                  <a:srgbClr val="3A4353"/>
                </a:solidFill>
                <a:latin typeface="Calibri" pitchFamily="34" charset="0"/>
                <a:ea typeface="Calibri" pitchFamily="34" charset="-122"/>
                <a:cs typeface="Calibri" pitchFamily="34" charset="-120"/>
              </a:rPr>
              <a:t>on a call with an unknown number</a:t>
            </a:r>
            <a:endParaRPr lang="en-US" sz="1300" dirty="0"/>
          </a:p>
          <a:p>
            <a:pPr marL="342900" indent="-342900">
              <a:spcAft>
                <a:spcPts val="300"/>
              </a:spcAft>
              <a:buSzPct val="100000"/>
              <a:buFont typeface="+mj-lt"/>
              <a:buAutoNum type="arabicPeriod" startAt="1"/>
            </a:pPr>
            <a:r>
              <a:rPr lang="en-US" sz="1300" dirty="0">
                <a:solidFill>
                  <a:srgbClr val="3A4353"/>
                </a:solidFill>
                <a:latin typeface="Calibri" pitchFamily="34" charset="0"/>
                <a:ea typeface="Calibri" pitchFamily="34" charset="-122"/>
                <a:cs typeface="Calibri" pitchFamily="34" charset="-120"/>
              </a:rPr>
              <a:t>call longer than 20 minutes</a:t>
            </a:r>
            <a:endParaRPr lang="en-US" sz="1300" dirty="0"/>
          </a:p>
          <a:p>
            <a:pPr marL="342900" indent="-342900">
              <a:spcAft>
                <a:spcPts val="300"/>
              </a:spcAft>
              <a:buSzPct val="100000"/>
              <a:buFont typeface="+mj-lt"/>
              <a:buAutoNum type="arabicPeriod" startAt="1"/>
            </a:pPr>
            <a:r>
              <a:rPr lang="en-US" sz="1300" dirty="0">
                <a:solidFill>
                  <a:srgbClr val="3A4353"/>
                </a:solidFill>
                <a:latin typeface="Calibri" pitchFamily="34" charset="0"/>
                <a:ea typeface="Calibri" pitchFamily="34" charset="-122"/>
                <a:cs typeface="Calibri" pitchFamily="34" charset="-120"/>
              </a:rPr>
              <a:t>video call active</a:t>
            </a:r>
            <a:endParaRPr lang="en-US" sz="1300" dirty="0"/>
          </a:p>
          <a:p>
            <a:pPr marL="342900" indent="-342900">
              <a:spcAft>
                <a:spcPts val="300"/>
              </a:spcAft>
              <a:buSzPct val="100000"/>
              <a:buFont typeface="+mj-lt"/>
              <a:buAutoNum type="arabicPeriod" startAt="1"/>
            </a:pPr>
            <a:r>
              <a:rPr lang="en-US" sz="1300" dirty="0">
                <a:solidFill>
                  <a:srgbClr val="3A4353"/>
                </a:solidFill>
                <a:latin typeface="Calibri" pitchFamily="34" charset="0"/>
                <a:ea typeface="Calibri" pitchFamily="34" charset="-122"/>
                <a:cs typeface="Calibri" pitchFamily="34" charset="-120"/>
              </a:rPr>
              <a:t>scam-lure SMS in last 24 h</a:t>
            </a:r>
            <a:endParaRPr lang="en-US" sz="1300" dirty="0"/>
          </a:p>
          <a:p>
            <a:pPr marL="342900" indent="-342900">
              <a:spcAft>
                <a:spcPts val="300"/>
              </a:spcAft>
              <a:buSzPct val="100000"/>
              <a:buFont typeface="+mj-lt"/>
              <a:buAutoNum type="arabicPeriod" startAt="1"/>
            </a:pPr>
            <a:r>
              <a:rPr lang="en-US" sz="1300" dirty="0">
                <a:solidFill>
                  <a:srgbClr val="3A4353"/>
                </a:solidFill>
                <a:latin typeface="Calibri" pitchFamily="34" charset="0"/>
                <a:ea typeface="Calibri" pitchFamily="34" charset="-122"/>
                <a:cs typeface="Calibri" pitchFamily="34" charset="-120"/>
              </a:rPr>
              <a:t>screen-sharing app running</a:t>
            </a:r>
            <a:endParaRPr lang="en-US" sz="1300" dirty="0"/>
          </a:p>
          <a:p>
            <a:pPr marL="342900" indent="-342900">
              <a:spcAft>
                <a:spcPts val="300"/>
              </a:spcAft>
              <a:buSzPct val="100000"/>
              <a:buFont typeface="+mj-lt"/>
              <a:buAutoNum type="arabicPeriod" startAt="1"/>
            </a:pPr>
            <a:r>
              <a:rPr lang="en-US" sz="1300" dirty="0">
                <a:solidFill>
                  <a:srgbClr val="3A4353"/>
                </a:solidFill>
                <a:latin typeface="Calibri" pitchFamily="34" charset="0"/>
                <a:ea typeface="Calibri" pitchFamily="34" charset="-122"/>
                <a:cs typeface="Calibri" pitchFamily="34" charset="-120"/>
              </a:rPr>
              <a:t>app sideloaded in last 24 h</a:t>
            </a:r>
            <a:endParaRPr lang="en-US" sz="1300" dirty="0"/>
          </a:p>
          <a:p>
            <a:pPr marL="342900" indent="-342900">
              <a:spcAft>
                <a:spcPts val="300"/>
              </a:spcAft>
              <a:buSzPct val="100000"/>
              <a:buFont typeface="+mj-lt"/>
              <a:buAutoNum type="arabicPeriod" startAt="1"/>
            </a:pPr>
            <a:r>
              <a:rPr lang="en-US" sz="1300" dirty="0">
                <a:solidFill>
                  <a:srgbClr val="3A4353"/>
                </a:solidFill>
                <a:latin typeface="Calibri" pitchFamily="34" charset="0"/>
                <a:ea typeface="Calibri" pitchFamily="34" charset="-122"/>
                <a:cs typeface="Calibri" pitchFamily="34" charset="-120"/>
              </a:rPr>
              <a:t>app drawing over the payment screen</a:t>
            </a:r>
            <a:endParaRPr lang="en-US" sz="1300" dirty="0"/>
          </a:p>
          <a:p>
            <a:pPr marL="342900" indent="-342900">
              <a:spcAft>
                <a:spcPts val="300"/>
              </a:spcAft>
              <a:buSzPct val="100000"/>
              <a:buFont typeface="+mj-lt"/>
              <a:buAutoNum type="arabicPeriod" startAt="1"/>
            </a:pPr>
            <a:r>
              <a:rPr lang="en-US" sz="1300" dirty="0">
                <a:solidFill>
                  <a:srgbClr val="3A4353"/>
                </a:solidFill>
                <a:latin typeface="Calibri" pitchFamily="34" charset="0"/>
                <a:ea typeface="Calibri" pitchFamily="34" charset="-122"/>
                <a:cs typeface="Calibri" pitchFamily="34" charset="-120"/>
              </a:rPr>
              <a:t>OTP opened during the call</a:t>
            </a:r>
            <a:endParaRPr lang="en-US" sz="1300" dirty="0"/>
          </a:p>
          <a:p>
            <a:pPr marL="342900" indent="-342900">
              <a:spcAft>
                <a:spcPts val="300"/>
              </a:spcAft>
              <a:buSzPct val="100000"/>
              <a:buFont typeface="+mj-lt"/>
              <a:buAutoNum type="arabicPeriod" startAt="1"/>
            </a:pPr>
            <a:r>
              <a:rPr lang="en-US" sz="1300" dirty="0">
                <a:solidFill>
                  <a:srgbClr val="3A4353"/>
                </a:solidFill>
                <a:latin typeface="Calibri" pitchFamily="34" charset="0"/>
                <a:ea typeface="Calibri" pitchFamily="34" charset="-122"/>
                <a:cs typeface="Calibri" pitchFamily="34" charset="-120"/>
              </a:rPr>
              <a:t>payee typed in by hand</a:t>
            </a:r>
            <a:endParaRPr lang="en-US" sz="1300" dirty="0"/>
          </a:p>
        </p:txBody>
      </p:sp>
      <p:sp>
        <p:nvSpPr>
          <p:cNvPr id="29" name="Text 27"/>
          <p:cNvSpPr txBox="1"/>
          <p:nvPr/>
        </p:nvSpPr>
        <p:spPr>
          <a:xfrm>
            <a:off x="8321040" y="1508760"/>
            <a:ext cx="3291840" cy="320040"/>
          </a:xfrm>
          <a:prstGeom prst="rect">
            <a:avLst/>
          </a:prstGeom>
          <a:noFill/>
          <a:ln/>
        </p:spPr>
        <p:txBody>
          <a:bodyPr wrap="square" lIns="0" tIns="0" rIns="0" bIns="0" rtlCol="0" anchor="ctr"/>
          <a:lstStyle/>
          <a:p>
            <a:pPr indent="0" marL="0">
              <a:buNone/>
            </a:pPr>
            <a:r>
              <a:rPr lang="en-US" sz="1500" b="1" dirty="0">
                <a:solidFill>
                  <a:srgbClr val="1B2433"/>
                </a:solidFill>
                <a:latin typeface="Calibri" pitchFamily="34" charset="0"/>
                <a:ea typeface="Calibri" pitchFamily="34" charset="-122"/>
                <a:cs typeface="Calibri" pitchFamily="34" charset="-120"/>
              </a:rPr>
              <a:t>Already at the bank</a:t>
            </a:r>
            <a:endParaRPr lang="en-US" sz="1500" dirty="0"/>
          </a:p>
        </p:txBody>
      </p:sp>
      <p:sp>
        <p:nvSpPr>
          <p:cNvPr id="30" name="Text 28"/>
          <p:cNvSpPr txBox="1"/>
          <p:nvPr/>
        </p:nvSpPr>
        <p:spPr>
          <a:xfrm>
            <a:off x="8321040" y="1920240"/>
            <a:ext cx="3337560" cy="1188720"/>
          </a:xfrm>
          <a:prstGeom prst="rect">
            <a:avLst/>
          </a:prstGeom>
          <a:noFill/>
          <a:ln/>
        </p:spPr>
        <p:txBody>
          <a:bodyPr wrap="square" lIns="0" tIns="0" rIns="0" bIns="0" rtlCol="0" anchor="t"/>
          <a:lstStyle/>
          <a:p>
            <a:pPr indent="0" marL="0">
              <a:buNone/>
            </a:pPr>
            <a:r>
              <a:rPr lang="en-US" sz="2600" b="1" dirty="0">
                <a:solidFill>
                  <a:srgbClr val="1B2433"/>
                </a:solidFill>
                <a:latin typeface="Cambria" pitchFamily="34" charset="0"/>
                <a:ea typeface="Cambria" pitchFamily="34" charset="-122"/>
                <a:cs typeface="Cambria" pitchFamily="34" charset="-120"/>
              </a:rPr>
              <a:t>7</a:t>
            </a:r>
            <a:pPr indent="0" marL="0">
              <a:buNone/>
            </a:pPr>
            <a:r>
              <a:rPr lang="en-US" sz="1300" dirty="0">
                <a:solidFill>
                  <a:srgbClr val="3A4353"/>
                </a:solidFill>
                <a:latin typeface="Calibri" pitchFamily="34" charset="0"/>
                <a:ea typeface="Calibri" pitchFamily="34" charset="-122"/>
                <a:cs typeface="Calibri" pitchFamily="34" charset="-120"/>
              </a:rPr>
              <a:t>  from the bank’s own data: first-time payee, amount compared with past payments, share of balance, broken fixed deposit, recent small credits.</a:t>
            </a:r>
            <a:endParaRPr lang="en-US" sz="2600" dirty="0"/>
          </a:p>
        </p:txBody>
      </p:sp>
      <p:sp>
        <p:nvSpPr>
          <p:cNvPr id="31" name="Text 29"/>
          <p:cNvSpPr txBox="1"/>
          <p:nvPr/>
        </p:nvSpPr>
        <p:spPr>
          <a:xfrm>
            <a:off x="8321040" y="3246120"/>
            <a:ext cx="3337560" cy="914400"/>
          </a:xfrm>
          <a:prstGeom prst="rect">
            <a:avLst/>
          </a:prstGeom>
          <a:noFill/>
          <a:ln/>
        </p:spPr>
        <p:txBody>
          <a:bodyPr wrap="square" lIns="0" tIns="0" rIns="0" bIns="0" rtlCol="0" anchor="t"/>
          <a:lstStyle/>
          <a:p>
            <a:pPr indent="0" marL="0">
              <a:buNone/>
            </a:pPr>
            <a:r>
              <a:rPr lang="en-US" sz="2600" b="1" dirty="0">
                <a:solidFill>
                  <a:srgbClr val="1B2433"/>
                </a:solidFill>
                <a:latin typeface="Cambria" pitchFamily="34" charset="0"/>
                <a:ea typeface="Cambria" pitchFamily="34" charset="-122"/>
                <a:cs typeface="Cambria" pitchFamily="34" charset="-120"/>
              </a:rPr>
              <a:t>4</a:t>
            </a:r>
            <a:pPr indent="0" marL="0">
              <a:buNone/>
            </a:pPr>
            <a:r>
              <a:rPr lang="en-US" sz="1300" dirty="0">
                <a:solidFill>
                  <a:srgbClr val="3A4353"/>
                </a:solidFill>
                <a:latin typeface="Calibri" pitchFamily="34" charset="0"/>
                <a:ea typeface="Calibri" pitchFamily="34" charset="-122"/>
                <a:cs typeface="Calibri" pitchFamily="34" charset="-120"/>
              </a:rPr>
              <a:t>  about the receiving account: mule score, account age, suspect-list match, collect request.</a:t>
            </a:r>
            <a:endParaRPr lang="en-US" sz="2600" dirty="0"/>
          </a:p>
        </p:txBody>
      </p:sp>
      <p:sp>
        <p:nvSpPr>
          <p:cNvPr id="32" name="Text 30"/>
          <p:cNvSpPr txBox="1"/>
          <p:nvPr/>
        </p:nvSpPr>
        <p:spPr>
          <a:xfrm>
            <a:off x="8321040" y="4251960"/>
            <a:ext cx="3291840" cy="274320"/>
          </a:xfrm>
          <a:prstGeom prst="rect">
            <a:avLst/>
          </a:prstGeom>
          <a:noFill/>
          <a:ln/>
        </p:spPr>
        <p:txBody>
          <a:bodyPr wrap="square" lIns="0" tIns="0" rIns="0" bIns="0" rtlCol="0" anchor="t"/>
          <a:lstStyle/>
          <a:p>
            <a:pPr indent="0" marL="0">
              <a:spcAft>
                <a:spcPts val="400"/>
              </a:spcAft>
              <a:buNone/>
            </a:pPr>
            <a:r>
              <a:rPr lang="en-US" sz="1300" dirty="0">
                <a:solidFill>
                  <a:srgbClr val="6E747E"/>
                </a:solidFill>
                <a:latin typeface="Calibri" pitchFamily="34" charset="0"/>
                <a:ea typeface="Calibri" pitchFamily="34" charset="-122"/>
                <a:cs typeface="Calibri" pitchFamily="34" charset="-120"/>
              </a:rPr>
              <a:t>9 + 7 + 4 = 20 signals</a:t>
            </a:r>
            <a:endParaRPr lang="en-US" sz="1300" dirty="0"/>
          </a:p>
        </p:txBody>
      </p:sp>
      <p:sp>
        <p:nvSpPr>
          <p:cNvPr id="33" name="Shape 31"/>
          <p:cNvSpPr/>
          <p:nvPr/>
        </p:nvSpPr>
        <p:spPr>
          <a:xfrm>
            <a:off x="548640" y="5029200"/>
            <a:ext cx="11094415" cy="1170432"/>
          </a:xfrm>
          <a:prstGeom prst="rect">
            <a:avLst/>
          </a:prstGeom>
          <a:solidFill>
            <a:srgbClr val="F3F4F6"/>
          </a:solidFill>
          <a:ln w="12700">
            <a:solidFill>
              <a:srgbClr val="F3F4F6"/>
            </a:solidFill>
            <a:prstDash val="solid"/>
          </a:ln>
        </p:spPr>
      </p:sp>
      <p:sp>
        <p:nvSpPr>
          <p:cNvPr id="34" name="Text 32"/>
          <p:cNvSpPr txBox="1"/>
          <p:nvPr/>
        </p:nvSpPr>
        <p:spPr>
          <a:xfrm>
            <a:off x="777240" y="5138928"/>
            <a:ext cx="2743200" cy="274320"/>
          </a:xfrm>
          <a:prstGeom prst="rect">
            <a:avLst/>
          </a:prstGeom>
          <a:noFill/>
          <a:ln/>
        </p:spPr>
        <p:txBody>
          <a:bodyPr wrap="square" lIns="0" tIns="0" rIns="0" bIns="0" rtlCol="0" anchor="ctr"/>
          <a:lstStyle/>
          <a:p>
            <a:pPr indent="0" marL="0">
              <a:buNone/>
            </a:pPr>
            <a:r>
              <a:rPr lang="en-US" sz="1300" b="1" dirty="0">
                <a:solidFill>
                  <a:srgbClr val="1B2433"/>
                </a:solidFill>
                <a:latin typeface="Calibri" pitchFamily="34" charset="0"/>
                <a:ea typeface="Calibri" pitchFamily="34" charset="-122"/>
                <a:cs typeface="Calibri" pitchFamily="34" charset="-120"/>
              </a:rPr>
              <a:t>Signed decision record</a:t>
            </a:r>
            <a:endParaRPr lang="en-US" sz="1300" dirty="0"/>
          </a:p>
        </p:txBody>
      </p:sp>
      <p:sp>
        <p:nvSpPr>
          <p:cNvPr id="35" name="Text 33"/>
          <p:cNvSpPr txBox="1"/>
          <p:nvPr/>
        </p:nvSpPr>
        <p:spPr>
          <a:xfrm>
            <a:off x="777240" y="5422392"/>
            <a:ext cx="10607040" cy="274320"/>
          </a:xfrm>
          <a:prstGeom prst="rect">
            <a:avLst/>
          </a:prstGeom>
          <a:noFill/>
          <a:ln/>
        </p:spPr>
        <p:txBody>
          <a:bodyPr wrap="square" lIns="0" tIns="0" rIns="0" bIns="0" rtlCol="0" anchor="ctr"/>
          <a:lstStyle/>
          <a:p>
            <a:pPr indent="0" marL="0">
              <a:buNone/>
            </a:pPr>
            <a:r>
              <a:rPr lang="en-US" sz="1200" dirty="0">
                <a:solidFill>
                  <a:srgbClr val="1B2433"/>
                </a:solidFill>
                <a:latin typeface="Courier New" pitchFamily="34" charset="0"/>
                <a:ea typeface="Courier New" pitchFamily="34" charset="-122"/>
                <a:cs typeface="Courier New" pitchFamily="34" charset="-120"/>
              </a:rPr>
              <a:t>{ log_id, time, session, amount, signals present, score, level, scam type, active stages, action } + HMAC-SHA256</a:t>
            </a:r>
            <a:endParaRPr lang="en-US" sz="1200" dirty="0"/>
          </a:p>
        </p:txBody>
      </p:sp>
      <p:sp>
        <p:nvSpPr>
          <p:cNvPr id="36" name="Text 34"/>
          <p:cNvSpPr txBox="1"/>
          <p:nvPr/>
        </p:nvSpPr>
        <p:spPr>
          <a:xfrm>
            <a:off x="777240" y="5715000"/>
            <a:ext cx="10607040" cy="457200"/>
          </a:xfrm>
          <a:prstGeom prst="rect">
            <a:avLst/>
          </a:prstGeom>
          <a:noFill/>
          <a:ln/>
        </p:spPr>
        <p:txBody>
          <a:bodyPr wrap="square" lIns="0" tIns="0" rIns="0" bIns="0" rtlCol="0" anchor="t"/>
          <a:lstStyle/>
          <a:p>
            <a:pPr indent="0" marL="0">
              <a:spcAft>
                <a:spcPts val="400"/>
              </a:spcAft>
              <a:buNone/>
            </a:pPr>
            <a:r>
              <a:rPr lang="en-US" sz="1200" dirty="0">
                <a:solidFill>
                  <a:srgbClr val="3A4353"/>
                </a:solidFill>
                <a:latin typeface="Calibri" pitchFamily="34" charset="0"/>
                <a:ea typeface="Calibri" pitchFamily="34" charset="-122"/>
                <a:cs typeface="Calibri" pitchFamily="34" charset="-120"/>
              </a:rPr>
              <a:t>Each decision gets one ID, so the customer, the bank agent and any complaint point to the same evidence. Already built: the server accepts only the 20 known signals and rejects repeated or old (&gt; 15 s) requests.</a:t>
            </a:r>
            <a:endParaRPr lang="en-US" sz="1200" dirty="0"/>
          </a:p>
        </p:txBody>
      </p:sp>
      <p:sp>
        <p:nvSpPr>
          <p:cNvPr id="37" name="Text 35"/>
          <p:cNvSpPr txBox="1"/>
          <p:nvPr/>
        </p:nvSpPr>
        <p:spPr>
          <a:xfrm>
            <a:off x="548640" y="6309360"/>
            <a:ext cx="9144000" cy="228600"/>
          </a:xfrm>
          <a:prstGeom prst="rect">
            <a:avLst/>
          </a:prstGeom>
          <a:noFill/>
          <a:ln/>
        </p:spPr>
        <p:txBody>
          <a:bodyPr wrap="square" lIns="0" tIns="0" rIns="0" bIns="0" rtlCol="0" anchor="ctr"/>
          <a:lstStyle/>
          <a:p>
            <a:pPr indent="0" marL="0">
              <a:buNone/>
            </a:pPr>
            <a:r>
              <a:rPr lang="en-US" sz="1000" i="1" dirty="0">
                <a:solidFill>
                  <a:srgbClr val="6E747E"/>
                </a:solidFill>
                <a:latin typeface="Calibri" pitchFamily="34" charset="0"/>
                <a:ea typeface="Calibri" pitchFamily="34" charset="-122"/>
                <a:cs typeface="Calibri" pitchFamily="34" charset="-120"/>
              </a:rPr>
              <a:t>Designed around the DPDP Act 2023 idea of collecting only what is needed. This is a design choice, not a legal certification.</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5486400" cy="274320"/>
          </a:xfrm>
          <a:prstGeom prst="rect">
            <a:avLst/>
          </a:prstGeom>
          <a:noFill/>
          <a:ln/>
        </p:spPr>
        <p:txBody>
          <a:bodyPr wrap="square" lIns="0" tIns="0" rIns="0" bIns="0" rtlCol="0" anchor="ctr"/>
          <a:lstStyle/>
          <a:p>
            <a:pPr indent="0" marL="0">
              <a:buNone/>
            </a:pPr>
            <a:r>
              <a:rPr lang="en-US" sz="1100" dirty="0">
                <a:solidFill>
                  <a:srgbClr val="6E747E"/>
                </a:solidFill>
                <a:latin typeface="Calibri" pitchFamily="34" charset="0"/>
                <a:ea typeface="Calibri" pitchFamily="34" charset="-122"/>
                <a:cs typeface="Calibri" pitchFamily="34" charset="-120"/>
              </a:rPr>
              <a:t>9  ·  Comparison</a:t>
            </a:r>
            <a:endParaRPr lang="en-US" sz="1100" dirty="0"/>
          </a:p>
        </p:txBody>
      </p:sp>
      <p:sp>
        <p:nvSpPr>
          <p:cNvPr id="3" name="Text 1"/>
          <p:cNvSpPr txBox="1"/>
          <p:nvPr/>
        </p:nvSpPr>
        <p:spPr>
          <a:xfrm>
            <a:off x="8899855" y="256032"/>
            <a:ext cx="2743200" cy="274320"/>
          </a:xfrm>
          <a:prstGeom prst="rect">
            <a:avLst/>
          </a:prstGeom>
          <a:noFill/>
          <a:ln/>
        </p:spPr>
        <p:txBody>
          <a:bodyPr wrap="square" lIns="0" tIns="0" rIns="0" bIns="0" rtlCol="0" anchor="ctr"/>
          <a:lstStyle/>
          <a:p>
            <a:pPr algn="r" indent="0" marL="0">
              <a:buNone/>
            </a:pPr>
            <a:r>
              <a:rPr lang="en-US" sz="1100" dirty="0">
                <a:solidFill>
                  <a:srgbClr val="6E747E"/>
                </a:solidFill>
                <a:latin typeface="Calibri" pitchFamily="34" charset="0"/>
                <a:ea typeface="Calibri" pitchFamily="34" charset="-122"/>
                <a:cs typeface="Calibri" pitchFamily="34" charset="-120"/>
              </a:rPr>
              <a:t>Chakravyuh</a:t>
            </a:r>
            <a:endParaRPr lang="en-US" sz="1100" dirty="0"/>
          </a:p>
        </p:txBody>
      </p:sp>
      <p:sp>
        <p:nvSpPr>
          <p:cNvPr id="4" name="Text 2"/>
          <p:cNvSpPr txBox="1"/>
          <p:nvPr/>
        </p:nvSpPr>
        <p:spPr>
          <a:xfrm>
            <a:off x="9814255" y="6446520"/>
            <a:ext cx="1828800" cy="228600"/>
          </a:xfrm>
          <a:prstGeom prst="rect">
            <a:avLst/>
          </a:prstGeom>
          <a:noFill/>
          <a:ln/>
        </p:spPr>
        <p:txBody>
          <a:bodyPr wrap="square" lIns="0" tIns="0" rIns="0" bIns="0" rtlCol="0" anchor="ctr"/>
          <a:lstStyle/>
          <a:p>
            <a:pPr algn="r" indent="0" marL="0">
              <a:buNone/>
            </a:pPr>
            <a:r>
              <a:rPr lang="en-US" sz="1000" dirty="0">
                <a:solidFill>
                  <a:srgbClr val="6E747E"/>
                </a:solidFill>
                <a:latin typeface="Calibri" pitchFamily="34" charset="0"/>
                <a:ea typeface="Calibri" pitchFamily="34" charset="-122"/>
                <a:cs typeface="Calibri" pitchFamily="34" charset="-120"/>
              </a:rPr>
              <a:t>10 / 16</a:t>
            </a:r>
            <a:endParaRPr lang="en-US" sz="1000" dirty="0"/>
          </a:p>
        </p:txBody>
      </p:sp>
      <p:sp>
        <p:nvSpPr>
          <p:cNvPr id="5" name="Text 3"/>
          <p:cNvSpPr txBox="1"/>
          <p:nvPr/>
        </p:nvSpPr>
        <p:spPr>
          <a:xfrm>
            <a:off x="548640" y="640080"/>
            <a:ext cx="11094415" cy="731520"/>
          </a:xfrm>
          <a:prstGeom prst="rect">
            <a:avLst/>
          </a:prstGeom>
          <a:noFill/>
          <a:ln/>
        </p:spPr>
        <p:txBody>
          <a:bodyPr wrap="square" lIns="0" tIns="0" rIns="0" bIns="0" rtlCol="0" anchor="t"/>
          <a:lstStyle/>
          <a:p>
            <a:pPr indent="0" marL="0">
              <a:buNone/>
            </a:pPr>
            <a:r>
              <a:rPr lang="en-US" sz="3400" b="1" dirty="0">
                <a:solidFill>
                  <a:srgbClr val="1B2433"/>
                </a:solidFill>
                <a:latin typeface="Cambria" pitchFamily="34" charset="0"/>
                <a:ea typeface="Cambria" pitchFamily="34" charset="-122"/>
                <a:cs typeface="Cambria" pitchFamily="34" charset="-120"/>
              </a:rPr>
              <a:t>How it compares</a:t>
            </a:r>
            <a:endParaRPr lang="en-US" sz="34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6766560" cy="914400"/>
        </p:xfrm>
        <a:graphic>
          <a:graphicData uri="http://schemas.openxmlformats.org/drawingml/2006/table">
            <a:tbl>
              <a:tblPr/>
              <a:tblGrid>
                <a:gridCol w="2377440"/>
                <a:gridCol w="1097280"/>
                <a:gridCol w="1188720"/>
                <a:gridCol w="1051560"/>
                <a:gridCol w="1051560"/>
              </a:tblGrid>
              <a:tr h="640080">
                <a:tc>
                  <a:txBody>
                    <a:bodyPr/>
                    <a:lstStyle/>
                    <a:p>
                      <a:pPr algn="l" indent="0" marL="0">
                        <a:buNone/>
                      </a:pPr>
                      <a:endParaRPr lang="en-US" sz="1300" dirty="0">
                        <a:latin typeface="Calibri" charset="0"/>
                        <a:ea typeface="Calibri" charset="0"/>
                        <a:cs typeface="Calibri" charset="0"/>
                      </a:endParaRPr>
                    </a:p>
                  </a:txBody>
                  <a:tcPr marL="0" marR="73152" marT="45720" marB="45720" anchor="ctr">
                    <a:lnL w="0" cap="flat" cmpd="sng" algn="ctr">
                      <a:noFill/>
                    </a:lnL>
                    <a:lnR w="0" cap="flat" cmpd="sng" algn="ctr">
                      <a:noFill/>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algn="ctr" indent="0" marL="0">
                        <a:buNone/>
                      </a:pPr>
                      <a:r>
                        <a:rPr lang="en-US" sz="1300" b="1" dirty="0">
                          <a:solidFill>
                            <a:srgbClr val="3A4353"/>
                          </a:solidFill>
                          <a:latin typeface="Calibri" pitchFamily="34" charset="0"/>
                          <a:ea typeface="Calibri" pitchFamily="34" charset="-122"/>
                          <a:cs typeface="Calibri" pitchFamily="34" charset="-120"/>
                        </a:rPr>
                        <a:t>Uses payment</a:t>
                      </a:r>
                      <a:endParaRPr lang="en-US" sz="1300" dirty="0">
                        <a:latin typeface="Calibri" charset="0"/>
                        <a:ea typeface="Calibri" charset="0"/>
                        <a:cs typeface="Calibri" charset="0"/>
                      </a:endParaRPr>
                    </a:p>
                    <a:p>
                      <a:pPr algn="ctr" indent="0" marL="0">
                        <a:buNone/>
                      </a:pPr>
                      <a:r>
                        <a:rPr lang="en-US" sz="1300" b="1" dirty="0">
                          <a:solidFill>
                            <a:srgbClr val="3A4353"/>
                          </a:solidFill>
                          <a:latin typeface="Calibri" pitchFamily="34" charset="0"/>
                          <a:ea typeface="Calibri" pitchFamily="34" charset="-122"/>
                          <a:cs typeface="Calibri" pitchFamily="34" charset="-120"/>
                        </a:rPr>
                        <a:t>details</a:t>
                      </a:r>
                      <a:endParaRPr lang="en-US" sz="1300" dirty="0">
                        <a:latin typeface="Calibri" charset="0"/>
                        <a:ea typeface="Calibri" charset="0"/>
                        <a:cs typeface="Calibri" charset="0"/>
                      </a:endParaRPr>
                    </a:p>
                  </a:txBody>
                  <a:tcPr marL="0" marR="73152" marT="45720" marB="45720" anchor="ctr">
                    <a:lnL w="0" cap="flat" cmpd="sng" algn="ctr">
                      <a:noFill/>
                    </a:lnL>
                    <a:lnR w="0" cap="flat" cmpd="sng" algn="ctr">
                      <a:noFill/>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algn="ctr" indent="0" marL="0">
                        <a:buNone/>
                      </a:pPr>
                      <a:r>
                        <a:rPr lang="en-US" sz="1300" b="1" dirty="0">
                          <a:solidFill>
                            <a:srgbClr val="3A4353"/>
                          </a:solidFill>
                          <a:latin typeface="Calibri" pitchFamily="34" charset="0"/>
                          <a:ea typeface="Calibri" pitchFamily="34" charset="-122"/>
                          <a:cs typeface="Calibri" pitchFamily="34" charset="-120"/>
                        </a:rPr>
                        <a:t>Uses steps</a:t>
                      </a:r>
                      <a:endParaRPr lang="en-US" sz="1300" dirty="0">
                        <a:latin typeface="Calibri" charset="0"/>
                        <a:ea typeface="Calibri" charset="0"/>
                        <a:cs typeface="Calibri" charset="0"/>
                      </a:endParaRPr>
                    </a:p>
                    <a:p>
                      <a:pPr algn="ctr" indent="0" marL="0">
                        <a:buNone/>
                      </a:pPr>
                      <a:r>
                        <a:rPr lang="en-US" sz="1300" b="1" dirty="0">
                          <a:solidFill>
                            <a:srgbClr val="3A4353"/>
                          </a:solidFill>
                          <a:latin typeface="Calibri" pitchFamily="34" charset="0"/>
                          <a:ea typeface="Calibri" pitchFamily="34" charset="-122"/>
                          <a:cs typeface="Calibri" pitchFamily="34" charset="-120"/>
                        </a:rPr>
                        <a:t>before payment</a:t>
                      </a:r>
                      <a:endParaRPr lang="en-US" sz="1300" dirty="0">
                        <a:latin typeface="Calibri" charset="0"/>
                        <a:ea typeface="Calibri" charset="0"/>
                        <a:cs typeface="Calibri" charset="0"/>
                      </a:endParaRPr>
                    </a:p>
                  </a:txBody>
                  <a:tcPr marL="0" marR="73152" marT="45720" marB="45720" anchor="ctr">
                    <a:lnL w="0" cap="flat" cmpd="sng" algn="ctr">
                      <a:noFill/>
                    </a:lnL>
                    <a:lnR w="0" cap="flat" cmpd="sng" algn="ctr">
                      <a:noFill/>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algn="ctr" indent="0" marL="0">
                        <a:buNone/>
                      </a:pPr>
                      <a:r>
                        <a:rPr lang="en-US" sz="1300" b="1" dirty="0">
                          <a:solidFill>
                            <a:srgbClr val="3A4353"/>
                          </a:solidFill>
                          <a:latin typeface="Calibri" pitchFamily="34" charset="0"/>
                          <a:ea typeface="Calibri" pitchFamily="34" charset="-122"/>
                          <a:cs typeface="Calibri" pitchFamily="34" charset="-120"/>
                        </a:rPr>
                        <a:t>Gives a</a:t>
                      </a:r>
                      <a:endParaRPr lang="en-US" sz="1300" dirty="0">
                        <a:latin typeface="Calibri" charset="0"/>
                        <a:ea typeface="Calibri" charset="0"/>
                        <a:cs typeface="Calibri" charset="0"/>
                      </a:endParaRPr>
                    </a:p>
                    <a:p>
                      <a:pPr algn="ctr" indent="0" marL="0">
                        <a:buNone/>
                      </a:pPr>
                      <a:r>
                        <a:rPr lang="en-US" sz="1300" b="1" dirty="0">
                          <a:solidFill>
                            <a:srgbClr val="3A4353"/>
                          </a:solidFill>
                          <a:latin typeface="Calibri" pitchFamily="34" charset="0"/>
                          <a:ea typeface="Calibri" pitchFamily="34" charset="-122"/>
                          <a:cs typeface="Calibri" pitchFamily="34" charset="-120"/>
                        </a:rPr>
                        <a:t>reason</a:t>
                      </a:r>
                      <a:endParaRPr lang="en-US" sz="1300" dirty="0">
                        <a:latin typeface="Calibri" charset="0"/>
                        <a:ea typeface="Calibri" charset="0"/>
                        <a:cs typeface="Calibri" charset="0"/>
                      </a:endParaRPr>
                    </a:p>
                  </a:txBody>
                  <a:tcPr marL="0" marR="73152" marT="45720" marB="45720" anchor="ctr">
                    <a:lnL w="0" cap="flat" cmpd="sng" algn="ctr">
                      <a:noFill/>
                    </a:lnL>
                    <a:lnR w="0" cap="flat" cmpd="sng" algn="ctr">
                      <a:noFill/>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algn="ctr" indent="0" marL="0">
                        <a:buNone/>
                      </a:pPr>
                      <a:r>
                        <a:rPr lang="en-US" sz="1300" b="1" dirty="0">
                          <a:solidFill>
                            <a:srgbClr val="3A4353"/>
                          </a:solidFill>
                          <a:latin typeface="Calibri" pitchFamily="34" charset="0"/>
                          <a:ea typeface="Calibri" pitchFamily="34" charset="-122"/>
                          <a:cs typeface="Calibri" pitchFamily="34" charset="-120"/>
                        </a:rPr>
                        <a:t>Scaled</a:t>
                      </a:r>
                      <a:endParaRPr lang="en-US" sz="1300" dirty="0">
                        <a:latin typeface="Calibri" charset="0"/>
                        <a:ea typeface="Calibri" charset="0"/>
                        <a:cs typeface="Calibri" charset="0"/>
                      </a:endParaRPr>
                    </a:p>
                    <a:p>
                      <a:pPr algn="ctr" indent="0" marL="0">
                        <a:buNone/>
                      </a:pPr>
                      <a:r>
                        <a:rPr lang="en-US" sz="1300" b="1" dirty="0">
                          <a:solidFill>
                            <a:srgbClr val="3A4353"/>
                          </a:solidFill>
                          <a:latin typeface="Calibri" pitchFamily="34" charset="0"/>
                          <a:ea typeface="Calibri" pitchFamily="34" charset="-122"/>
                          <a:cs typeface="Calibri" pitchFamily="34" charset="-120"/>
                        </a:rPr>
                        <a:t>response</a:t>
                      </a:r>
                      <a:endParaRPr lang="en-US" sz="1300" dirty="0">
                        <a:latin typeface="Calibri" charset="0"/>
                        <a:ea typeface="Calibri" charset="0"/>
                        <a:cs typeface="Calibri" charset="0"/>
                      </a:endParaRPr>
                    </a:p>
                  </a:txBody>
                  <a:tcPr marL="0" marR="73152" marT="45720" marB="45720" anchor="ctr">
                    <a:lnL w="0" cap="flat" cmpd="sng" algn="ctr">
                      <a:noFill/>
                    </a:lnL>
                    <a:lnR w="0" cap="flat" cmpd="sng" algn="ctr">
                      <a:noFill/>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r>
              <a:tr h="475488">
                <a:tc>
                  <a:txBody>
                    <a:bodyPr/>
                    <a:lstStyle/>
                    <a:p>
                      <a:pPr algn="l" indent="0" marL="0">
                        <a:buNone/>
                      </a:pPr>
                      <a:r>
                        <a:rPr lang="en-US" sz="1500" dirty="0">
                          <a:solidFill>
                            <a:srgbClr val="1B2433"/>
                          </a:solidFill>
                          <a:latin typeface="Calibri" pitchFamily="34" charset="0"/>
                          <a:ea typeface="Calibri" pitchFamily="34" charset="-122"/>
                          <a:cs typeface="Calibri" pitchFamily="34" charset="-120"/>
                        </a:rPr>
                        <a:t>Transaction rules</a:t>
                      </a:r>
                      <a:endParaRPr lang="en-US" sz="1500" dirty="0">
                        <a:latin typeface="Calibri" charset="0"/>
                        <a:ea typeface="Calibri" charset="0"/>
                        <a:cs typeface="Calibri" charset="0"/>
                      </a:endParaRPr>
                    </a:p>
                  </a:txBody>
                  <a:tcPr marL="0" marR="73152" marT="45720" marB="45720" anchor="ctr">
                    <a:lnL w="0" cap="flat" cmpd="sng" algn="ctr">
                      <a:noFill/>
                    </a:lnL>
                    <a:lnR w="0" cap="flat" cmpd="sng" algn="ctr">
                      <a:noFill/>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algn="ctr" indent="0" marL="0">
                        <a:buNone/>
                      </a:pPr>
                      <a:r>
                        <a:rPr lang="en-US" sz="1800" dirty="0">
                          <a:solidFill>
                            <a:srgbClr val="3A4353"/>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0" marR="73152" marT="45720" marB="45720" anchor="ctr">
                    <a:lnL w="0" cap="flat" cmpd="sng" algn="ctr">
                      <a:noFill/>
                    </a:lnL>
                    <a:lnR w="0" cap="flat" cmpd="sng" algn="ctr">
                      <a:noFill/>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algn="ctr" indent="0" marL="0">
                        <a:buNone/>
                      </a:pPr>
                      <a:r>
                        <a:rPr lang="en-US" sz="1800" dirty="0">
                          <a:solidFill>
                            <a:srgbClr val="3A4353"/>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0" marR="73152" marT="45720" marB="45720" anchor="ctr">
                    <a:lnL w="0" cap="flat" cmpd="sng" algn="ctr">
                      <a:noFill/>
                    </a:lnL>
                    <a:lnR w="0" cap="flat" cmpd="sng" algn="ctr">
                      <a:noFill/>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algn="ctr" indent="0" marL="0">
                        <a:buNone/>
                      </a:pPr>
                      <a:r>
                        <a:rPr lang="en-US" sz="1800" dirty="0">
                          <a:solidFill>
                            <a:srgbClr val="3A4353"/>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0" marR="73152" marT="45720" marB="45720" anchor="ctr">
                    <a:lnL w="0" cap="flat" cmpd="sng" algn="ctr">
                      <a:noFill/>
                    </a:lnL>
                    <a:lnR w="0" cap="flat" cmpd="sng" algn="ctr">
                      <a:noFill/>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algn="ctr" indent="0" marL="0">
                        <a:buNone/>
                      </a:pPr>
                      <a:r>
                        <a:rPr lang="en-US" sz="1800" dirty="0">
                          <a:solidFill>
                            <a:srgbClr val="3A4353"/>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0" marR="73152" marT="45720" marB="45720" anchor="ctr">
                    <a:lnL w="0" cap="flat" cmpd="sng" algn="ctr">
                      <a:noFill/>
                    </a:lnL>
                    <a:lnR w="0" cap="flat" cmpd="sng" algn="ctr">
                      <a:noFill/>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r>
              <a:tr h="475488">
                <a:tc>
                  <a:txBody>
                    <a:bodyPr/>
                    <a:lstStyle/>
                    <a:p>
                      <a:pPr algn="l" indent="0" marL="0">
                        <a:buNone/>
                      </a:pPr>
                      <a:r>
                        <a:rPr lang="en-US" sz="1500" dirty="0">
                          <a:solidFill>
                            <a:srgbClr val="1B2433"/>
                          </a:solidFill>
                          <a:latin typeface="Calibri" pitchFamily="34" charset="0"/>
                          <a:ea typeface="Calibri" pitchFamily="34" charset="-122"/>
                          <a:cs typeface="Calibri" pitchFamily="34" charset="-120"/>
                        </a:rPr>
                        <a:t>Standard ML classifier</a:t>
                      </a:r>
                      <a:endParaRPr lang="en-US" sz="1500" dirty="0">
                        <a:latin typeface="Calibri" charset="0"/>
                        <a:ea typeface="Calibri" charset="0"/>
                        <a:cs typeface="Calibri" charset="0"/>
                      </a:endParaRPr>
                    </a:p>
                  </a:txBody>
                  <a:tcPr marL="0" marR="73152" marT="45720" marB="45720" anchor="ctr">
                    <a:lnL w="0" cap="flat" cmpd="sng" algn="ctr">
                      <a:noFill/>
                    </a:lnL>
                    <a:lnR w="0" cap="flat" cmpd="sng" algn="ctr">
                      <a:noFill/>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algn="ctr" indent="0" marL="0">
                        <a:buNone/>
                      </a:pPr>
                      <a:r>
                        <a:rPr lang="en-US" sz="1800" dirty="0">
                          <a:solidFill>
                            <a:srgbClr val="3A4353"/>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0" marR="73152" marT="45720" marB="45720" anchor="ctr">
                    <a:lnL w="0" cap="flat" cmpd="sng" algn="ctr">
                      <a:noFill/>
                    </a:lnL>
                    <a:lnR w="0" cap="flat" cmpd="sng" algn="ctr">
                      <a:noFill/>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algn="ctr" indent="0" marL="0">
                        <a:buNone/>
                      </a:pPr>
                      <a:r>
                        <a:rPr lang="en-US" sz="1500" dirty="0">
                          <a:solidFill>
                            <a:srgbClr val="3A4353"/>
                          </a:solidFill>
                          <a:latin typeface="Calibri" pitchFamily="34" charset="0"/>
                          <a:ea typeface="Calibri" pitchFamily="34" charset="-122"/>
                          <a:cs typeface="Calibri" pitchFamily="34" charset="-120"/>
                        </a:rPr>
                        <a:t>partly</a:t>
                      </a:r>
                      <a:endParaRPr lang="en-US" sz="1500" dirty="0">
                        <a:latin typeface="Calibri" charset="0"/>
                        <a:ea typeface="Calibri" charset="0"/>
                        <a:cs typeface="Calibri" charset="0"/>
                      </a:endParaRPr>
                    </a:p>
                  </a:txBody>
                  <a:tcPr marL="0" marR="73152" marT="45720" marB="45720" anchor="ctr">
                    <a:lnL w="0" cap="flat" cmpd="sng" algn="ctr">
                      <a:noFill/>
                    </a:lnL>
                    <a:lnR w="0" cap="flat" cmpd="sng" algn="ctr">
                      <a:noFill/>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algn="ctr" indent="0" marL="0">
                        <a:buNone/>
                      </a:pPr>
                      <a:r>
                        <a:rPr lang="en-US" sz="1500" dirty="0">
                          <a:solidFill>
                            <a:srgbClr val="3A4353"/>
                          </a:solidFill>
                          <a:latin typeface="Calibri" pitchFamily="34" charset="0"/>
                          <a:ea typeface="Calibri" pitchFamily="34" charset="-122"/>
                          <a:cs typeface="Calibri" pitchFamily="34" charset="-120"/>
                        </a:rPr>
                        <a:t>after the fact</a:t>
                      </a:r>
                      <a:endParaRPr lang="en-US" sz="1500" dirty="0">
                        <a:latin typeface="Calibri" charset="0"/>
                        <a:ea typeface="Calibri" charset="0"/>
                        <a:cs typeface="Calibri" charset="0"/>
                      </a:endParaRPr>
                    </a:p>
                  </a:txBody>
                  <a:tcPr marL="0" marR="73152" marT="45720" marB="45720" anchor="ctr">
                    <a:lnL w="0" cap="flat" cmpd="sng" algn="ctr">
                      <a:noFill/>
                    </a:lnL>
                    <a:lnR w="0" cap="flat" cmpd="sng" algn="ctr">
                      <a:noFill/>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algn="ctr" indent="0" marL="0">
                        <a:buNone/>
                      </a:pPr>
                      <a:r>
                        <a:rPr lang="en-US" sz="1800" dirty="0">
                          <a:solidFill>
                            <a:srgbClr val="3A4353"/>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0" marR="73152" marT="45720" marB="45720" anchor="ctr">
                    <a:lnL w="0" cap="flat" cmpd="sng" algn="ctr">
                      <a:noFill/>
                    </a:lnL>
                    <a:lnR w="0" cap="flat" cmpd="sng" algn="ctr">
                      <a:noFill/>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r>
              <a:tr h="475488">
                <a:tc>
                  <a:txBody>
                    <a:bodyPr/>
                    <a:lstStyle/>
                    <a:p>
                      <a:pPr algn="l" indent="0" marL="0">
                        <a:buNone/>
                      </a:pPr>
                      <a:r>
                        <a:rPr lang="en-US" sz="1500" b="1" dirty="0">
                          <a:solidFill>
                            <a:srgbClr val="D9480F"/>
                          </a:solidFill>
                          <a:latin typeface="Calibri" pitchFamily="34" charset="0"/>
                          <a:ea typeface="Calibri" pitchFamily="34" charset="-122"/>
                          <a:cs typeface="Calibri" pitchFamily="34" charset="-120"/>
                        </a:rPr>
                        <a:t>Chakravyuh</a:t>
                      </a:r>
                      <a:endParaRPr lang="en-US" sz="1500" dirty="0">
                        <a:latin typeface="Calibri" charset="0"/>
                        <a:ea typeface="Calibri" charset="0"/>
                        <a:cs typeface="Calibri" charset="0"/>
                      </a:endParaRPr>
                    </a:p>
                  </a:txBody>
                  <a:tcPr marL="0" marR="73152" marT="45720" marB="45720" anchor="ctr">
                    <a:lnL w="0" cap="flat" cmpd="sng" algn="ctr">
                      <a:noFill/>
                    </a:lnL>
                    <a:lnR w="0" cap="flat" cmpd="sng" algn="ctr">
                      <a:noFill/>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algn="ctr" indent="0" marL="0">
                        <a:buNone/>
                      </a:pPr>
                      <a:r>
                        <a:rPr lang="en-US" sz="1800" b="1" dirty="0">
                          <a:solidFill>
                            <a:srgbClr val="D9480F"/>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0" marR="73152" marT="45720" marB="45720" anchor="ctr">
                    <a:lnL w="0" cap="flat" cmpd="sng" algn="ctr">
                      <a:noFill/>
                    </a:lnL>
                    <a:lnR w="0" cap="flat" cmpd="sng" algn="ctr">
                      <a:noFill/>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algn="ctr" indent="0" marL="0">
                        <a:buNone/>
                      </a:pPr>
                      <a:r>
                        <a:rPr lang="en-US" sz="1800" b="1" dirty="0">
                          <a:solidFill>
                            <a:srgbClr val="D9480F"/>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0" marR="73152" marT="45720" marB="45720" anchor="ctr">
                    <a:lnL w="0" cap="flat" cmpd="sng" algn="ctr">
                      <a:noFill/>
                    </a:lnL>
                    <a:lnR w="0" cap="flat" cmpd="sng" algn="ctr">
                      <a:noFill/>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algn="ctr" indent="0" marL="0">
                        <a:buNone/>
                      </a:pPr>
                      <a:r>
                        <a:rPr lang="en-US" sz="1800" b="1" dirty="0">
                          <a:solidFill>
                            <a:srgbClr val="D9480F"/>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0" marR="73152" marT="45720" marB="45720" anchor="ctr">
                    <a:lnL w="0" cap="flat" cmpd="sng" algn="ctr">
                      <a:noFill/>
                    </a:lnL>
                    <a:lnR w="0" cap="flat" cmpd="sng" algn="ctr">
                      <a:noFill/>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algn="ctr" indent="0" marL="0">
                        <a:buNone/>
                      </a:pPr>
                      <a:r>
                        <a:rPr lang="en-US" sz="1800" b="1" dirty="0">
                          <a:solidFill>
                            <a:srgbClr val="D9480F"/>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0" marR="73152" marT="45720" marB="45720" anchor="ctr">
                    <a:lnL w="0" cap="flat" cmpd="sng" algn="ctr">
                      <a:noFill/>
                    </a:lnL>
                    <a:lnR w="0" cap="flat" cmpd="sng" algn="ctr">
                      <a:noFill/>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r>
            </a:tbl>
          </a:graphicData>
        </a:graphic>
      </p:graphicFrame>
      <p:sp>
        <p:nvSpPr>
          <p:cNvPr id="7" name="Text 4"/>
          <p:cNvSpPr txBox="1"/>
          <p:nvPr/>
        </p:nvSpPr>
        <p:spPr>
          <a:xfrm>
            <a:off x="7772400" y="1600200"/>
            <a:ext cx="3840480" cy="1280160"/>
          </a:xfrm>
          <a:prstGeom prst="rect">
            <a:avLst/>
          </a:prstGeom>
          <a:noFill/>
          <a:ln/>
        </p:spPr>
        <p:txBody>
          <a:bodyPr wrap="square" lIns="0" tIns="0" rIns="0" bIns="0" rtlCol="0" anchor="t"/>
          <a:lstStyle/>
          <a:p>
            <a:pPr indent="0" marL="0">
              <a:buNone/>
            </a:pPr>
            <a:r>
              <a:rPr lang="en-US" sz="2200" dirty="0">
                <a:solidFill>
                  <a:srgbClr val="1B2433"/>
                </a:solidFill>
                <a:latin typeface="Cambria" pitchFamily="34" charset="0"/>
                <a:ea typeface="Cambria" pitchFamily="34" charset="-122"/>
                <a:cs typeface="Cambria" pitchFamily="34" charset="-120"/>
              </a:rPr>
              <a:t>The main difference: we use what happened before the payment, not only the payment.</a:t>
            </a:r>
            <a:endParaRPr lang="en-US" sz="2200" dirty="0"/>
          </a:p>
        </p:txBody>
      </p:sp>
      <p:sp>
        <p:nvSpPr>
          <p:cNvPr id="8" name="Text 5"/>
          <p:cNvSpPr txBox="1"/>
          <p:nvPr/>
        </p:nvSpPr>
        <p:spPr>
          <a:xfrm>
            <a:off x="7772400" y="3063240"/>
            <a:ext cx="3840480" cy="320040"/>
          </a:xfrm>
          <a:prstGeom prst="rect">
            <a:avLst/>
          </a:prstGeom>
          <a:noFill/>
          <a:ln/>
        </p:spPr>
        <p:txBody>
          <a:bodyPr wrap="square" lIns="0" tIns="0" rIns="0" bIns="0" rtlCol="0" anchor="ctr"/>
          <a:lstStyle/>
          <a:p>
            <a:pPr indent="0" marL="0">
              <a:buNone/>
            </a:pPr>
            <a:r>
              <a:rPr lang="en-US" sz="1400" b="1" dirty="0">
                <a:solidFill>
                  <a:srgbClr val="1B2433"/>
                </a:solidFill>
                <a:latin typeface="Calibri" pitchFamily="34" charset="0"/>
                <a:ea typeface="Calibri" pitchFamily="34" charset="-122"/>
                <a:cs typeface="Calibri" pitchFamily="34" charset="-120"/>
              </a:rPr>
              <a:t>Why not just use a standard classifier?</a:t>
            </a:r>
            <a:endParaRPr lang="en-US" sz="1400" dirty="0"/>
          </a:p>
        </p:txBody>
      </p:sp>
      <p:sp>
        <p:nvSpPr>
          <p:cNvPr id="9" name="Text 6"/>
          <p:cNvSpPr txBox="1"/>
          <p:nvPr/>
        </p:nvSpPr>
        <p:spPr>
          <a:xfrm>
            <a:off x="7772400" y="3383280"/>
            <a:ext cx="3840480" cy="1371600"/>
          </a:xfrm>
          <a:prstGeom prst="rect">
            <a:avLst/>
          </a:prstGeom>
          <a:noFill/>
          <a:ln/>
        </p:spPr>
        <p:txBody>
          <a:bodyPr wrap="square" lIns="0" tIns="0" rIns="0" bIns="0" rtlCol="0" anchor="t"/>
          <a:lstStyle/>
          <a:p>
            <a:pPr indent="0" marL="0">
              <a:spcAft>
                <a:spcPts val="400"/>
              </a:spcAft>
              <a:buNone/>
            </a:pPr>
            <a:r>
              <a:rPr lang="en-US" sz="1400" dirty="0">
                <a:solidFill>
                  <a:srgbClr val="3A4353"/>
                </a:solidFill>
                <a:latin typeface="Calibri" pitchFamily="34" charset="0"/>
                <a:ea typeface="Calibri" pitchFamily="34" charset="-122"/>
                <a:cs typeface="Calibri" pitchFamily="34" charset="-120"/>
              </a:rPr>
              <a:t>On our synthetic data it catches about 4 points more scams. But it cannot say why, and one strong signal can stop a genuine payment. Customers, bank agents and the ombudsman all need to know why a payment was held.</a:t>
            </a:r>
            <a:endParaRPr lang="en-US" sz="1400" dirty="0"/>
          </a:p>
        </p:txBody>
      </p:sp>
      <p:pic>
        <p:nvPicPr>
          <p:cNvPr id="10" name="Image 0" descr="Mock-up of the bank agent screen showing a held payment and its reasons">    </p:cNvPr>
          <p:cNvPicPr>
            <a:picLocks noChangeAspect="1"/>
          </p:cNvPicPr>
          <p:nvPr/>
        </p:nvPicPr>
        <p:blipFill>
          <a:blip r:embed="rId1"/>
          <a:stretch>
            <a:fillRect/>
          </a:stretch>
        </p:blipFill>
        <p:spPr>
          <a:xfrm>
            <a:off x="548640" y="3840480"/>
            <a:ext cx="4023360" cy="2388870"/>
          </a:xfrm>
          <a:prstGeom prst="rect">
            <a:avLst/>
          </a:prstGeom>
        </p:spPr>
      </p:pic>
      <p:sp>
        <p:nvSpPr>
          <p:cNvPr id="11" name="Text 7"/>
          <p:cNvSpPr txBox="1"/>
          <p:nvPr/>
        </p:nvSpPr>
        <p:spPr>
          <a:xfrm>
            <a:off x="4800600" y="4754880"/>
            <a:ext cx="2377440" cy="1097280"/>
          </a:xfrm>
          <a:prstGeom prst="rect">
            <a:avLst/>
          </a:prstGeom>
          <a:noFill/>
          <a:ln/>
        </p:spPr>
        <p:txBody>
          <a:bodyPr wrap="square" lIns="0" tIns="0" rIns="0" bIns="0" rtlCol="0" anchor="t"/>
          <a:lstStyle/>
          <a:p>
            <a:pPr indent="0" marL="0">
              <a:spcAft>
                <a:spcPts val="400"/>
              </a:spcAft>
              <a:buNone/>
            </a:pPr>
            <a:r>
              <a:rPr lang="en-US" sz="1200" dirty="0">
                <a:solidFill>
                  <a:srgbClr val="6E747E"/>
                </a:solidFill>
                <a:latin typeface="Calibri" pitchFamily="34" charset="0"/>
                <a:ea typeface="Calibri" pitchFamily="34" charset="-122"/>
                <a:cs typeface="Calibri" pitchFamily="34" charset="-120"/>
              </a:rPr>
              <a:t>What a bank agent would see for a held payment (mock-up): the stages that fired and the signals behind them.</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5486400" cy="274320"/>
          </a:xfrm>
          <a:prstGeom prst="rect">
            <a:avLst/>
          </a:prstGeom>
          <a:noFill/>
          <a:ln/>
        </p:spPr>
        <p:txBody>
          <a:bodyPr wrap="square" lIns="0" tIns="0" rIns="0" bIns="0" rtlCol="0" anchor="ctr"/>
          <a:lstStyle/>
          <a:p>
            <a:pPr indent="0" marL="0">
              <a:buNone/>
            </a:pPr>
            <a:r>
              <a:rPr lang="en-US" sz="1100" dirty="0">
                <a:solidFill>
                  <a:srgbClr val="6E747E"/>
                </a:solidFill>
                <a:latin typeface="Calibri" pitchFamily="34" charset="0"/>
                <a:ea typeface="Calibri" pitchFamily="34" charset="-122"/>
                <a:cs typeface="Calibri" pitchFamily="34" charset="-120"/>
              </a:rPr>
              <a:t>10  ·  Architecture</a:t>
            </a:r>
            <a:endParaRPr lang="en-US" sz="1100" dirty="0"/>
          </a:p>
        </p:txBody>
      </p:sp>
      <p:sp>
        <p:nvSpPr>
          <p:cNvPr id="3" name="Text 1"/>
          <p:cNvSpPr txBox="1"/>
          <p:nvPr/>
        </p:nvSpPr>
        <p:spPr>
          <a:xfrm>
            <a:off x="8899855" y="256032"/>
            <a:ext cx="2743200" cy="274320"/>
          </a:xfrm>
          <a:prstGeom prst="rect">
            <a:avLst/>
          </a:prstGeom>
          <a:noFill/>
          <a:ln/>
        </p:spPr>
        <p:txBody>
          <a:bodyPr wrap="square" lIns="0" tIns="0" rIns="0" bIns="0" rtlCol="0" anchor="ctr"/>
          <a:lstStyle/>
          <a:p>
            <a:pPr algn="r" indent="0" marL="0">
              <a:buNone/>
            </a:pPr>
            <a:r>
              <a:rPr lang="en-US" sz="1100" dirty="0">
                <a:solidFill>
                  <a:srgbClr val="6E747E"/>
                </a:solidFill>
                <a:latin typeface="Calibri" pitchFamily="34" charset="0"/>
                <a:ea typeface="Calibri" pitchFamily="34" charset="-122"/>
                <a:cs typeface="Calibri" pitchFamily="34" charset="-120"/>
              </a:rPr>
              <a:t>Chakravyuh</a:t>
            </a:r>
            <a:endParaRPr lang="en-US" sz="1100" dirty="0"/>
          </a:p>
        </p:txBody>
      </p:sp>
      <p:sp>
        <p:nvSpPr>
          <p:cNvPr id="4" name="Text 2"/>
          <p:cNvSpPr txBox="1"/>
          <p:nvPr/>
        </p:nvSpPr>
        <p:spPr>
          <a:xfrm>
            <a:off x="9814255" y="6446520"/>
            <a:ext cx="1828800" cy="228600"/>
          </a:xfrm>
          <a:prstGeom prst="rect">
            <a:avLst/>
          </a:prstGeom>
          <a:noFill/>
          <a:ln/>
        </p:spPr>
        <p:txBody>
          <a:bodyPr wrap="square" lIns="0" tIns="0" rIns="0" bIns="0" rtlCol="0" anchor="ctr"/>
          <a:lstStyle/>
          <a:p>
            <a:pPr algn="r" indent="0" marL="0">
              <a:buNone/>
            </a:pPr>
            <a:r>
              <a:rPr lang="en-US" sz="1000" dirty="0">
                <a:solidFill>
                  <a:srgbClr val="6E747E"/>
                </a:solidFill>
                <a:latin typeface="Calibri" pitchFamily="34" charset="0"/>
                <a:ea typeface="Calibri" pitchFamily="34" charset="-122"/>
                <a:cs typeface="Calibri" pitchFamily="34" charset="-120"/>
              </a:rPr>
              <a:t>11 / 16</a:t>
            </a:r>
            <a:endParaRPr lang="en-US" sz="1000" dirty="0"/>
          </a:p>
        </p:txBody>
      </p:sp>
      <p:sp>
        <p:nvSpPr>
          <p:cNvPr id="5" name="Text 3"/>
          <p:cNvSpPr txBox="1"/>
          <p:nvPr/>
        </p:nvSpPr>
        <p:spPr>
          <a:xfrm>
            <a:off x="548640" y="640080"/>
            <a:ext cx="11094415" cy="731520"/>
          </a:xfrm>
          <a:prstGeom prst="rect">
            <a:avLst/>
          </a:prstGeom>
          <a:noFill/>
          <a:ln/>
        </p:spPr>
        <p:txBody>
          <a:bodyPr wrap="square" lIns="0" tIns="0" rIns="0" bIns="0" rtlCol="0" anchor="t"/>
          <a:lstStyle/>
          <a:p>
            <a:pPr indent="0" marL="0">
              <a:buNone/>
            </a:pPr>
            <a:r>
              <a:rPr lang="en-US" sz="3400" b="1" dirty="0">
                <a:solidFill>
                  <a:srgbClr val="1B2433"/>
                </a:solidFill>
                <a:latin typeface="Cambria" pitchFamily="34" charset="0"/>
                <a:ea typeface="Cambria" pitchFamily="34" charset="-122"/>
                <a:cs typeface="Cambria" pitchFamily="34" charset="-120"/>
              </a:rPr>
              <a:t>System architecture</a:t>
            </a:r>
            <a:endParaRPr lang="en-US" sz="3400" dirty="0"/>
          </a:p>
        </p:txBody>
      </p:sp>
      <p:sp>
        <p:nvSpPr>
          <p:cNvPr id="6" name="Shape 4"/>
          <p:cNvSpPr/>
          <p:nvPr/>
        </p:nvSpPr>
        <p:spPr>
          <a:xfrm>
            <a:off x="548640" y="1325880"/>
            <a:ext cx="411480" cy="228600"/>
          </a:xfrm>
          <a:prstGeom prst="rect">
            <a:avLst/>
          </a:prstGeom>
          <a:solidFill>
            <a:srgbClr val="FFFFFF"/>
          </a:solidFill>
          <a:ln w="19050">
            <a:solidFill>
              <a:srgbClr val="1B2433"/>
            </a:solidFill>
            <a:prstDash val="solid"/>
          </a:ln>
        </p:spPr>
      </p:sp>
      <p:sp>
        <p:nvSpPr>
          <p:cNvPr id="7" name="Text 5"/>
          <p:cNvSpPr txBox="1"/>
          <p:nvPr/>
        </p:nvSpPr>
        <p:spPr>
          <a:xfrm>
            <a:off x="1051560" y="1307592"/>
            <a:ext cx="2103120" cy="274320"/>
          </a:xfrm>
          <a:prstGeom prst="rect">
            <a:avLst/>
          </a:prstGeom>
          <a:noFill/>
          <a:ln/>
        </p:spPr>
        <p:txBody>
          <a:bodyPr wrap="square" lIns="0" tIns="0" rIns="0" bIns="0" rtlCol="0" anchor="ctr"/>
          <a:lstStyle/>
          <a:p>
            <a:pPr indent="0" marL="0">
              <a:buNone/>
            </a:pPr>
            <a:r>
              <a:rPr lang="en-US" sz="1300" dirty="0">
                <a:solidFill>
                  <a:srgbClr val="3A4353"/>
                </a:solidFill>
                <a:latin typeface="Calibri" pitchFamily="34" charset="0"/>
                <a:ea typeface="Calibri" pitchFamily="34" charset="-122"/>
                <a:cs typeface="Calibri" pitchFamily="34" charset="-120"/>
              </a:rPr>
              <a:t>built</a:t>
            </a:r>
            <a:endParaRPr lang="en-US" sz="1300" dirty="0"/>
          </a:p>
        </p:txBody>
      </p:sp>
      <p:sp>
        <p:nvSpPr>
          <p:cNvPr id="8" name="Shape 6"/>
          <p:cNvSpPr/>
          <p:nvPr/>
        </p:nvSpPr>
        <p:spPr>
          <a:xfrm>
            <a:off x="1828800" y="1325880"/>
            <a:ext cx="411480" cy="228600"/>
          </a:xfrm>
          <a:prstGeom prst="rect">
            <a:avLst/>
          </a:prstGeom>
          <a:solidFill>
            <a:srgbClr val="FFFFFF"/>
          </a:solidFill>
          <a:ln w="12700">
            <a:solidFill>
              <a:srgbClr val="6E747E"/>
            </a:solidFill>
            <a:prstDash val="dash"/>
          </a:ln>
        </p:spPr>
      </p:sp>
      <p:sp>
        <p:nvSpPr>
          <p:cNvPr id="9" name="Text 7"/>
          <p:cNvSpPr txBox="1"/>
          <p:nvPr/>
        </p:nvSpPr>
        <p:spPr>
          <a:xfrm>
            <a:off x="2331720" y="1307592"/>
            <a:ext cx="2103120" cy="274320"/>
          </a:xfrm>
          <a:prstGeom prst="rect">
            <a:avLst/>
          </a:prstGeom>
          <a:noFill/>
          <a:ln/>
        </p:spPr>
        <p:txBody>
          <a:bodyPr wrap="square" lIns="0" tIns="0" rIns="0" bIns="0" rtlCol="0" anchor="ctr"/>
          <a:lstStyle/>
          <a:p>
            <a:pPr indent="0" marL="0">
              <a:buNone/>
            </a:pPr>
            <a:r>
              <a:rPr lang="en-US" sz="1300" dirty="0">
                <a:solidFill>
                  <a:srgbClr val="3A4353"/>
                </a:solidFill>
                <a:latin typeface="Calibri" pitchFamily="34" charset="0"/>
                <a:ea typeface="Calibri" pitchFamily="34" charset="-122"/>
                <a:cs typeface="Calibri" pitchFamily="34" charset="-120"/>
              </a:rPr>
              <a:t>simulated with synthetic data</a:t>
            </a:r>
            <a:endParaRPr lang="en-US" sz="1300" dirty="0"/>
          </a:p>
        </p:txBody>
      </p:sp>
      <p:sp>
        <p:nvSpPr>
          <p:cNvPr id="10" name="Shape 8"/>
          <p:cNvSpPr/>
          <p:nvPr/>
        </p:nvSpPr>
        <p:spPr>
          <a:xfrm>
            <a:off x="4709160" y="1325880"/>
            <a:ext cx="411480" cy="228600"/>
          </a:xfrm>
          <a:prstGeom prst="rect">
            <a:avLst/>
          </a:prstGeom>
          <a:solidFill>
            <a:srgbClr val="FFFFFF"/>
          </a:solidFill>
          <a:ln w="12700">
            <a:solidFill>
              <a:srgbClr val="6E747E"/>
            </a:solidFill>
            <a:prstDash val="sysDot"/>
          </a:ln>
        </p:spPr>
      </p:sp>
      <p:sp>
        <p:nvSpPr>
          <p:cNvPr id="11" name="Text 9"/>
          <p:cNvSpPr txBox="1"/>
          <p:nvPr/>
        </p:nvSpPr>
        <p:spPr>
          <a:xfrm>
            <a:off x="5212080" y="1307592"/>
            <a:ext cx="2103120" cy="274320"/>
          </a:xfrm>
          <a:prstGeom prst="rect">
            <a:avLst/>
          </a:prstGeom>
          <a:noFill/>
          <a:ln/>
        </p:spPr>
        <p:txBody>
          <a:bodyPr wrap="square" lIns="0" tIns="0" rIns="0" bIns="0" rtlCol="0" anchor="ctr"/>
          <a:lstStyle/>
          <a:p>
            <a:pPr indent="0" marL="0">
              <a:buNone/>
            </a:pPr>
            <a:r>
              <a:rPr lang="en-US" sz="1300" dirty="0">
                <a:solidFill>
                  <a:srgbClr val="3A4353"/>
                </a:solidFill>
                <a:latin typeface="Calibri" pitchFamily="34" charset="0"/>
                <a:ea typeface="Calibri" pitchFamily="34" charset="-122"/>
                <a:cs typeface="Calibri" pitchFamily="34" charset="-120"/>
              </a:rPr>
              <a:t>planned, not built</a:t>
            </a:r>
            <a:endParaRPr lang="en-US" sz="1300" dirty="0"/>
          </a:p>
        </p:txBody>
      </p:sp>
      <p:sp>
        <p:nvSpPr>
          <p:cNvPr id="12" name="Shape 10"/>
          <p:cNvSpPr/>
          <p:nvPr/>
        </p:nvSpPr>
        <p:spPr>
          <a:xfrm>
            <a:off x="548640" y="1737360"/>
            <a:ext cx="11094415" cy="0"/>
          </a:xfrm>
          <a:prstGeom prst="line">
            <a:avLst/>
          </a:prstGeom>
          <a:noFill/>
          <a:ln w="12700">
            <a:solidFill>
              <a:srgbClr val="1B2433"/>
            </a:solidFill>
            <a:prstDash val="solid"/>
          </a:ln>
        </p:spPr>
      </p:sp>
      <p:sp>
        <p:nvSpPr>
          <p:cNvPr id="13" name="Text 11"/>
          <p:cNvSpPr txBox="1"/>
          <p:nvPr/>
        </p:nvSpPr>
        <p:spPr>
          <a:xfrm>
            <a:off x="548640" y="1792224"/>
            <a:ext cx="5486400" cy="256032"/>
          </a:xfrm>
          <a:prstGeom prst="rect">
            <a:avLst/>
          </a:prstGeom>
          <a:noFill/>
          <a:ln/>
        </p:spPr>
        <p:txBody>
          <a:bodyPr wrap="square" lIns="0" tIns="0" rIns="0" bIns="0" rtlCol="0" anchor="ctr"/>
          <a:lstStyle/>
          <a:p>
            <a:pPr indent="0" marL="0">
              <a:buNone/>
            </a:pPr>
            <a:r>
              <a:rPr lang="en-US" sz="1300" b="1" dirty="0">
                <a:solidFill>
                  <a:srgbClr val="1B2433"/>
                </a:solidFill>
                <a:latin typeface="Calibri" pitchFamily="34" charset="0"/>
                <a:ea typeface="Calibri" pitchFamily="34" charset="-122"/>
                <a:cs typeface="Calibri" pitchFamily="34" charset="-120"/>
              </a:rPr>
              <a:t>Phone (inside the bank’s app)</a:t>
            </a:r>
            <a:endParaRPr lang="en-US" sz="1300" dirty="0"/>
          </a:p>
        </p:txBody>
      </p:sp>
      <p:sp>
        <p:nvSpPr>
          <p:cNvPr id="14" name="Shape 12"/>
          <p:cNvSpPr/>
          <p:nvPr/>
        </p:nvSpPr>
        <p:spPr>
          <a:xfrm>
            <a:off x="548640" y="2103120"/>
            <a:ext cx="3576218" cy="868680"/>
          </a:xfrm>
          <a:prstGeom prst="rect">
            <a:avLst/>
          </a:prstGeom>
          <a:solidFill>
            <a:srgbClr val="FFFFFF"/>
          </a:solidFill>
          <a:ln w="12700">
            <a:solidFill>
              <a:srgbClr val="6E747E"/>
            </a:solidFill>
            <a:prstDash val="dash"/>
          </a:ln>
        </p:spPr>
      </p:sp>
      <p:sp>
        <p:nvSpPr>
          <p:cNvPr id="15" name="Text 13"/>
          <p:cNvSpPr txBox="1"/>
          <p:nvPr/>
        </p:nvSpPr>
        <p:spPr>
          <a:xfrm>
            <a:off x="658368" y="2176272"/>
            <a:ext cx="3356762" cy="292608"/>
          </a:xfrm>
          <a:prstGeom prst="rect">
            <a:avLst/>
          </a:prstGeom>
          <a:noFill/>
          <a:ln/>
        </p:spPr>
        <p:txBody>
          <a:bodyPr wrap="square" lIns="0" tIns="0" rIns="0" bIns="0" rtlCol="0" anchor="ctr"/>
          <a:lstStyle/>
          <a:p>
            <a:pPr indent="0" marL="0">
              <a:buNone/>
            </a:pPr>
            <a:r>
              <a:rPr lang="en-US" sz="1400" b="1" dirty="0">
                <a:solidFill>
                  <a:srgbClr val="1B2433"/>
                </a:solidFill>
                <a:latin typeface="Calibri" pitchFamily="34" charset="0"/>
                <a:ea typeface="Calibri" pitchFamily="34" charset="-122"/>
                <a:cs typeface="Calibri" pitchFamily="34" charset="-120"/>
              </a:rPr>
              <a:t>Signal readers</a:t>
            </a:r>
            <a:endParaRPr lang="en-US" sz="1400" dirty="0"/>
          </a:p>
        </p:txBody>
      </p:sp>
      <p:sp>
        <p:nvSpPr>
          <p:cNvPr id="16" name="Text 14"/>
          <p:cNvSpPr txBox="1"/>
          <p:nvPr/>
        </p:nvSpPr>
        <p:spPr>
          <a:xfrm>
            <a:off x="658368" y="2505456"/>
            <a:ext cx="3356762" cy="411480"/>
          </a:xfrm>
          <a:prstGeom prst="rect">
            <a:avLst/>
          </a:prstGeom>
          <a:noFill/>
          <a:ln/>
        </p:spPr>
        <p:txBody>
          <a:bodyPr wrap="square" lIns="0" tIns="0" rIns="0" bIns="0" rtlCol="0" anchor="t"/>
          <a:lstStyle/>
          <a:p>
            <a:pPr indent="0" marL="0">
              <a:spcAft>
                <a:spcPts val="400"/>
              </a:spcAft>
              <a:buNone/>
            </a:pPr>
            <a:r>
              <a:rPr lang="en-US" sz="1150" dirty="0">
                <a:solidFill>
                  <a:srgbClr val="3A4353"/>
                </a:solidFill>
                <a:latin typeface="Calibri" pitchFamily="34" charset="0"/>
                <a:ea typeface="Calibri" pitchFamily="34" charset="-122"/>
                <a:cs typeface="Calibri" pitchFamily="34" charset="-120"/>
              </a:rPr>
              <a:t>Call state, accessibility, app installs, SMS check on the phone.</a:t>
            </a:r>
            <a:endParaRPr lang="en-US" sz="1150" dirty="0"/>
          </a:p>
        </p:txBody>
      </p:sp>
      <p:sp>
        <p:nvSpPr>
          <p:cNvPr id="17" name="Shape 15"/>
          <p:cNvSpPr/>
          <p:nvPr/>
        </p:nvSpPr>
        <p:spPr>
          <a:xfrm>
            <a:off x="4307738" y="2103120"/>
            <a:ext cx="3576218" cy="868680"/>
          </a:xfrm>
          <a:prstGeom prst="rect">
            <a:avLst/>
          </a:prstGeom>
          <a:solidFill>
            <a:srgbClr val="FFFFFF"/>
          </a:solidFill>
          <a:ln w="12700">
            <a:solidFill>
              <a:srgbClr val="6E747E"/>
            </a:solidFill>
            <a:prstDash val="sysDot"/>
          </a:ln>
        </p:spPr>
      </p:sp>
      <p:sp>
        <p:nvSpPr>
          <p:cNvPr id="18" name="Text 16"/>
          <p:cNvSpPr txBox="1"/>
          <p:nvPr/>
        </p:nvSpPr>
        <p:spPr>
          <a:xfrm>
            <a:off x="4417466" y="2176272"/>
            <a:ext cx="3356762" cy="292608"/>
          </a:xfrm>
          <a:prstGeom prst="rect">
            <a:avLst/>
          </a:prstGeom>
          <a:noFill/>
          <a:ln/>
        </p:spPr>
        <p:txBody>
          <a:bodyPr wrap="square" lIns="0" tIns="0" rIns="0" bIns="0" rtlCol="0" anchor="ctr"/>
          <a:lstStyle/>
          <a:p>
            <a:pPr indent="0" marL="0">
              <a:buNone/>
            </a:pPr>
            <a:r>
              <a:rPr lang="en-US" sz="1400" b="1" dirty="0">
                <a:solidFill>
                  <a:srgbClr val="3A4353"/>
                </a:solidFill>
                <a:latin typeface="Calibri" pitchFamily="34" charset="0"/>
                <a:ea typeface="Calibri" pitchFamily="34" charset="-122"/>
                <a:cs typeface="Calibri" pitchFamily="34" charset="-120"/>
              </a:rPr>
              <a:t>Request builder</a:t>
            </a:r>
            <a:endParaRPr lang="en-US" sz="1400" dirty="0"/>
          </a:p>
        </p:txBody>
      </p:sp>
      <p:sp>
        <p:nvSpPr>
          <p:cNvPr id="19" name="Text 17"/>
          <p:cNvSpPr txBox="1"/>
          <p:nvPr/>
        </p:nvSpPr>
        <p:spPr>
          <a:xfrm>
            <a:off x="4417466" y="2505456"/>
            <a:ext cx="3356762" cy="411480"/>
          </a:xfrm>
          <a:prstGeom prst="rect">
            <a:avLst/>
          </a:prstGeom>
          <a:noFill/>
          <a:ln/>
        </p:spPr>
        <p:txBody>
          <a:bodyPr wrap="square" lIns="0" tIns="0" rIns="0" bIns="0" rtlCol="0" anchor="t"/>
          <a:lstStyle/>
          <a:p>
            <a:pPr indent="0" marL="0">
              <a:spcAft>
                <a:spcPts val="400"/>
              </a:spcAft>
              <a:buNone/>
            </a:pPr>
            <a:r>
              <a:rPr lang="en-US" sz="1150" dirty="0">
                <a:solidFill>
                  <a:srgbClr val="6E747E"/>
                </a:solidFill>
                <a:latin typeface="Calibri" pitchFamily="34" charset="0"/>
                <a:ea typeface="Calibri" pitchFamily="34" charset="-122"/>
                <a:cs typeface="Calibri" pitchFamily="34" charset="-120"/>
              </a:rPr>
              <a:t>9 yes/no values, amount, payee hash, nonce, timestamp, Play Integrity token.</a:t>
            </a:r>
            <a:endParaRPr lang="en-US" sz="1150" dirty="0"/>
          </a:p>
        </p:txBody>
      </p:sp>
      <p:sp>
        <p:nvSpPr>
          <p:cNvPr id="20" name="Shape 18"/>
          <p:cNvSpPr/>
          <p:nvPr/>
        </p:nvSpPr>
        <p:spPr>
          <a:xfrm>
            <a:off x="8066837" y="2103120"/>
            <a:ext cx="3576218" cy="868680"/>
          </a:xfrm>
          <a:prstGeom prst="rect">
            <a:avLst/>
          </a:prstGeom>
          <a:solidFill>
            <a:srgbClr val="FFFFFF"/>
          </a:solidFill>
          <a:ln w="12700">
            <a:solidFill>
              <a:srgbClr val="6E747E"/>
            </a:solidFill>
            <a:prstDash val="dash"/>
          </a:ln>
        </p:spPr>
      </p:sp>
      <p:sp>
        <p:nvSpPr>
          <p:cNvPr id="21" name="Text 19"/>
          <p:cNvSpPr txBox="1"/>
          <p:nvPr/>
        </p:nvSpPr>
        <p:spPr>
          <a:xfrm>
            <a:off x="8176565" y="2176272"/>
            <a:ext cx="3356762" cy="292608"/>
          </a:xfrm>
          <a:prstGeom prst="rect">
            <a:avLst/>
          </a:prstGeom>
          <a:noFill/>
          <a:ln/>
        </p:spPr>
        <p:txBody>
          <a:bodyPr wrap="square" lIns="0" tIns="0" rIns="0" bIns="0" rtlCol="0" anchor="ctr"/>
          <a:lstStyle/>
          <a:p>
            <a:pPr indent="0" marL="0">
              <a:buNone/>
            </a:pPr>
            <a:r>
              <a:rPr lang="en-US" sz="1400" b="1" dirty="0">
                <a:solidFill>
                  <a:srgbClr val="1B2433"/>
                </a:solidFill>
                <a:latin typeface="Calibri" pitchFamily="34" charset="0"/>
                <a:ea typeface="Calibri" pitchFamily="34" charset="-122"/>
                <a:cs typeface="Calibri" pitchFamily="34" charset="-120"/>
              </a:rPr>
              <a:t>Warning screens</a:t>
            </a:r>
            <a:endParaRPr lang="en-US" sz="1400" dirty="0"/>
          </a:p>
        </p:txBody>
      </p:sp>
      <p:sp>
        <p:nvSpPr>
          <p:cNvPr id="22" name="Text 20"/>
          <p:cNvSpPr txBox="1"/>
          <p:nvPr/>
        </p:nvSpPr>
        <p:spPr>
          <a:xfrm>
            <a:off x="8176565" y="2505456"/>
            <a:ext cx="3356762" cy="411480"/>
          </a:xfrm>
          <a:prstGeom prst="rect">
            <a:avLst/>
          </a:prstGeom>
          <a:noFill/>
          <a:ln/>
        </p:spPr>
        <p:txBody>
          <a:bodyPr wrap="square" lIns="0" tIns="0" rIns="0" bIns="0" rtlCol="0" anchor="t"/>
          <a:lstStyle/>
          <a:p>
            <a:pPr indent="0" marL="0">
              <a:spcAft>
                <a:spcPts val="400"/>
              </a:spcAft>
              <a:buNone/>
            </a:pPr>
            <a:r>
              <a:rPr lang="en-US" sz="1150" dirty="0">
                <a:solidFill>
                  <a:srgbClr val="3A4353"/>
                </a:solidFill>
                <a:latin typeface="Calibri" pitchFamily="34" charset="0"/>
                <a:ea typeface="Calibri" pitchFamily="34" charset="-122"/>
                <a:cs typeface="Calibri" pitchFamily="34" charset="-120"/>
              </a:rPr>
              <a:t>Scam message, two questions, hold screen. Mock-ups and a web demo.</a:t>
            </a:r>
            <a:endParaRPr lang="en-US" sz="1150" dirty="0"/>
          </a:p>
        </p:txBody>
      </p:sp>
      <p:sp>
        <p:nvSpPr>
          <p:cNvPr id="23" name="Text 21"/>
          <p:cNvSpPr txBox="1"/>
          <p:nvPr/>
        </p:nvSpPr>
        <p:spPr>
          <a:xfrm>
            <a:off x="548640" y="3017520"/>
            <a:ext cx="9144000" cy="274320"/>
          </a:xfrm>
          <a:prstGeom prst="rect">
            <a:avLst/>
          </a:prstGeom>
          <a:noFill/>
          <a:ln/>
        </p:spPr>
        <p:txBody>
          <a:bodyPr wrap="square" lIns="0" tIns="0" rIns="0" bIns="0" rtlCol="0" anchor="t"/>
          <a:lstStyle/>
          <a:p>
            <a:pPr indent="0" marL="0">
              <a:spcAft>
                <a:spcPts val="400"/>
              </a:spcAft>
              <a:buNone/>
            </a:pPr>
            <a:r>
              <a:rPr lang="en-US" sz="1100" dirty="0">
                <a:solidFill>
                  <a:srgbClr val="6E747E"/>
                </a:solidFill>
                <a:latin typeface="Calibri" pitchFamily="34" charset="0"/>
                <a:ea typeface="Calibri" pitchFamily="34" charset="-122"/>
                <a:cs typeface="Calibri" pitchFamily="34" charset="-120"/>
              </a:rPr>
              <a:t>1. signals sent ↓        5. level, message and record ID sent back ↑</a:t>
            </a:r>
            <a:endParaRPr lang="en-US" sz="1100" dirty="0"/>
          </a:p>
        </p:txBody>
      </p:sp>
      <p:sp>
        <p:nvSpPr>
          <p:cNvPr id="24" name="Shape 22"/>
          <p:cNvSpPr/>
          <p:nvPr/>
        </p:nvSpPr>
        <p:spPr>
          <a:xfrm>
            <a:off x="548640" y="3337560"/>
            <a:ext cx="11094415" cy="0"/>
          </a:xfrm>
          <a:prstGeom prst="line">
            <a:avLst/>
          </a:prstGeom>
          <a:noFill/>
          <a:ln w="12700">
            <a:solidFill>
              <a:srgbClr val="1B2433"/>
            </a:solidFill>
            <a:prstDash val="solid"/>
          </a:ln>
        </p:spPr>
      </p:sp>
      <p:sp>
        <p:nvSpPr>
          <p:cNvPr id="25" name="Text 23"/>
          <p:cNvSpPr txBox="1"/>
          <p:nvPr/>
        </p:nvSpPr>
        <p:spPr>
          <a:xfrm>
            <a:off x="548640" y="3392424"/>
            <a:ext cx="5486400" cy="256032"/>
          </a:xfrm>
          <a:prstGeom prst="rect">
            <a:avLst/>
          </a:prstGeom>
          <a:noFill/>
          <a:ln/>
        </p:spPr>
        <p:txBody>
          <a:bodyPr wrap="square" lIns="0" tIns="0" rIns="0" bIns="0" rtlCol="0" anchor="ctr"/>
          <a:lstStyle/>
          <a:p>
            <a:pPr indent="0" marL="0">
              <a:buNone/>
            </a:pPr>
            <a:r>
              <a:rPr lang="en-US" sz="1300" b="1" dirty="0">
                <a:solidFill>
                  <a:srgbClr val="1B2433"/>
                </a:solidFill>
                <a:latin typeface="Calibri" pitchFamily="34" charset="0"/>
                <a:ea typeface="Calibri" pitchFamily="34" charset="-122"/>
                <a:cs typeface="Calibri" pitchFamily="34" charset="-120"/>
              </a:rPr>
              <a:t>Bank fraud team servers</a:t>
            </a:r>
            <a:endParaRPr lang="en-US" sz="1300" dirty="0"/>
          </a:p>
        </p:txBody>
      </p:sp>
      <p:sp>
        <p:nvSpPr>
          <p:cNvPr id="26" name="Shape 24"/>
          <p:cNvSpPr/>
          <p:nvPr/>
        </p:nvSpPr>
        <p:spPr>
          <a:xfrm>
            <a:off x="548640" y="3703320"/>
            <a:ext cx="2636444" cy="868680"/>
          </a:xfrm>
          <a:prstGeom prst="rect">
            <a:avLst/>
          </a:prstGeom>
          <a:solidFill>
            <a:srgbClr val="FFFFFF"/>
          </a:solidFill>
          <a:ln w="19050">
            <a:solidFill>
              <a:srgbClr val="1B2433"/>
            </a:solidFill>
            <a:prstDash val="solid"/>
          </a:ln>
        </p:spPr>
      </p:sp>
      <p:sp>
        <p:nvSpPr>
          <p:cNvPr id="27" name="Text 25"/>
          <p:cNvSpPr txBox="1"/>
          <p:nvPr/>
        </p:nvSpPr>
        <p:spPr>
          <a:xfrm>
            <a:off x="658368" y="3776472"/>
            <a:ext cx="2416988" cy="292608"/>
          </a:xfrm>
          <a:prstGeom prst="rect">
            <a:avLst/>
          </a:prstGeom>
          <a:noFill/>
          <a:ln/>
        </p:spPr>
        <p:txBody>
          <a:bodyPr wrap="square" lIns="0" tIns="0" rIns="0" bIns="0" rtlCol="0" anchor="ctr"/>
          <a:lstStyle/>
          <a:p>
            <a:pPr indent="0" marL="0">
              <a:buNone/>
            </a:pPr>
            <a:r>
              <a:rPr lang="en-US" sz="1400" b="1" dirty="0">
                <a:solidFill>
                  <a:srgbClr val="1B2433"/>
                </a:solidFill>
                <a:latin typeface="Calibri" pitchFamily="34" charset="0"/>
                <a:ea typeface="Calibri" pitchFamily="34" charset="-122"/>
                <a:cs typeface="Calibri" pitchFamily="34" charset="-120"/>
              </a:rPr>
              <a:t>Scoring server</a:t>
            </a:r>
            <a:endParaRPr lang="en-US" sz="1400" dirty="0"/>
          </a:p>
        </p:txBody>
      </p:sp>
      <p:sp>
        <p:nvSpPr>
          <p:cNvPr id="28" name="Text 26"/>
          <p:cNvSpPr txBox="1"/>
          <p:nvPr/>
        </p:nvSpPr>
        <p:spPr>
          <a:xfrm>
            <a:off x="658368" y="4105656"/>
            <a:ext cx="2416988" cy="411480"/>
          </a:xfrm>
          <a:prstGeom prst="rect">
            <a:avLst/>
          </a:prstGeom>
          <a:noFill/>
          <a:ln/>
        </p:spPr>
        <p:txBody>
          <a:bodyPr wrap="square" lIns="0" tIns="0" rIns="0" bIns="0" rtlCol="0" anchor="t"/>
          <a:lstStyle/>
          <a:p>
            <a:pPr indent="0" marL="0">
              <a:spcAft>
                <a:spcPts val="400"/>
              </a:spcAft>
              <a:buNone/>
            </a:pPr>
            <a:r>
              <a:rPr lang="en-US" sz="1150" dirty="0">
                <a:solidFill>
                  <a:srgbClr val="3A4353"/>
                </a:solidFill>
                <a:latin typeface="Calibri" pitchFamily="34" charset="0"/>
                <a:ea typeface="Calibri" pitchFamily="34" charset="-122"/>
                <a:cs typeface="Calibri" pitchFamily="34" charset="-120"/>
              </a:rPr>
              <a:t>FastAPI endpoint: stage scores, two-stage rule, level, reasons.</a:t>
            </a:r>
            <a:endParaRPr lang="en-US" sz="1150" dirty="0"/>
          </a:p>
        </p:txBody>
      </p:sp>
      <p:sp>
        <p:nvSpPr>
          <p:cNvPr id="29" name="Shape 27"/>
          <p:cNvSpPr/>
          <p:nvPr/>
        </p:nvSpPr>
        <p:spPr>
          <a:xfrm>
            <a:off x="3367964" y="3703320"/>
            <a:ext cx="2636444" cy="868680"/>
          </a:xfrm>
          <a:prstGeom prst="rect">
            <a:avLst/>
          </a:prstGeom>
          <a:solidFill>
            <a:srgbClr val="FFFFFF"/>
          </a:solidFill>
          <a:ln w="19050">
            <a:solidFill>
              <a:srgbClr val="1B2433"/>
            </a:solidFill>
            <a:prstDash val="solid"/>
          </a:ln>
        </p:spPr>
      </p:sp>
      <p:sp>
        <p:nvSpPr>
          <p:cNvPr id="30" name="Text 28"/>
          <p:cNvSpPr txBox="1"/>
          <p:nvPr/>
        </p:nvSpPr>
        <p:spPr>
          <a:xfrm>
            <a:off x="3477692" y="3776472"/>
            <a:ext cx="2416988" cy="292608"/>
          </a:xfrm>
          <a:prstGeom prst="rect">
            <a:avLst/>
          </a:prstGeom>
          <a:noFill/>
          <a:ln/>
        </p:spPr>
        <p:txBody>
          <a:bodyPr wrap="square" lIns="0" tIns="0" rIns="0" bIns="0" rtlCol="0" anchor="ctr"/>
          <a:lstStyle/>
          <a:p>
            <a:pPr indent="0" marL="0">
              <a:buNone/>
            </a:pPr>
            <a:r>
              <a:rPr lang="en-US" sz="1400" b="1" dirty="0">
                <a:solidFill>
                  <a:srgbClr val="1B2433"/>
                </a:solidFill>
                <a:latin typeface="Calibri" pitchFamily="34" charset="0"/>
                <a:ea typeface="Calibri" pitchFamily="34" charset="-122"/>
                <a:cs typeface="Calibri" pitchFamily="34" charset="-120"/>
              </a:rPr>
              <a:t>Input checks</a:t>
            </a:r>
            <a:endParaRPr lang="en-US" sz="1400" dirty="0"/>
          </a:p>
        </p:txBody>
      </p:sp>
      <p:sp>
        <p:nvSpPr>
          <p:cNvPr id="31" name="Text 29"/>
          <p:cNvSpPr txBox="1"/>
          <p:nvPr/>
        </p:nvSpPr>
        <p:spPr>
          <a:xfrm>
            <a:off x="3477692" y="4105656"/>
            <a:ext cx="2416988" cy="411480"/>
          </a:xfrm>
          <a:prstGeom prst="rect">
            <a:avLst/>
          </a:prstGeom>
          <a:noFill/>
          <a:ln/>
        </p:spPr>
        <p:txBody>
          <a:bodyPr wrap="square" lIns="0" tIns="0" rIns="0" bIns="0" rtlCol="0" anchor="t"/>
          <a:lstStyle/>
          <a:p>
            <a:pPr indent="0" marL="0">
              <a:spcAft>
                <a:spcPts val="400"/>
              </a:spcAft>
              <a:buNone/>
            </a:pPr>
            <a:r>
              <a:rPr lang="en-US" sz="1150" dirty="0">
                <a:solidFill>
                  <a:srgbClr val="3A4353"/>
                </a:solidFill>
                <a:latin typeface="Calibri" pitchFamily="34" charset="0"/>
                <a:ea typeface="Calibri" pitchFamily="34" charset="-122"/>
                <a:cs typeface="Calibri" pitchFamily="34" charset="-120"/>
              </a:rPr>
              <a:t>Rejects repeated nonces, old requests and unknown signals.</a:t>
            </a:r>
            <a:endParaRPr lang="en-US" sz="1150" dirty="0"/>
          </a:p>
        </p:txBody>
      </p:sp>
      <p:sp>
        <p:nvSpPr>
          <p:cNvPr id="32" name="Shape 30"/>
          <p:cNvSpPr/>
          <p:nvPr/>
        </p:nvSpPr>
        <p:spPr>
          <a:xfrm>
            <a:off x="6187288" y="3703320"/>
            <a:ext cx="2636444" cy="868680"/>
          </a:xfrm>
          <a:prstGeom prst="rect">
            <a:avLst/>
          </a:prstGeom>
          <a:solidFill>
            <a:srgbClr val="FFFFFF"/>
          </a:solidFill>
          <a:ln w="19050">
            <a:solidFill>
              <a:srgbClr val="1B2433"/>
            </a:solidFill>
            <a:prstDash val="solid"/>
          </a:ln>
        </p:spPr>
      </p:sp>
      <p:sp>
        <p:nvSpPr>
          <p:cNvPr id="33" name="Text 31"/>
          <p:cNvSpPr txBox="1"/>
          <p:nvPr/>
        </p:nvSpPr>
        <p:spPr>
          <a:xfrm>
            <a:off x="6297016" y="3776472"/>
            <a:ext cx="2416988" cy="292608"/>
          </a:xfrm>
          <a:prstGeom prst="rect">
            <a:avLst/>
          </a:prstGeom>
          <a:noFill/>
          <a:ln/>
        </p:spPr>
        <p:txBody>
          <a:bodyPr wrap="square" lIns="0" tIns="0" rIns="0" bIns="0" rtlCol="0" anchor="ctr"/>
          <a:lstStyle/>
          <a:p>
            <a:pPr indent="0" marL="0">
              <a:buNone/>
            </a:pPr>
            <a:r>
              <a:rPr lang="en-US" sz="1400" b="1" dirty="0">
                <a:solidFill>
                  <a:srgbClr val="1B2433"/>
                </a:solidFill>
                <a:latin typeface="Calibri" pitchFamily="34" charset="0"/>
                <a:ea typeface="Calibri" pitchFamily="34" charset="-122"/>
                <a:cs typeface="Calibri" pitchFamily="34" charset="-120"/>
              </a:rPr>
              <a:t>Signed records</a:t>
            </a:r>
            <a:endParaRPr lang="en-US" sz="1400" dirty="0"/>
          </a:p>
        </p:txBody>
      </p:sp>
      <p:sp>
        <p:nvSpPr>
          <p:cNvPr id="34" name="Text 32"/>
          <p:cNvSpPr txBox="1"/>
          <p:nvPr/>
        </p:nvSpPr>
        <p:spPr>
          <a:xfrm>
            <a:off x="6297016" y="4105656"/>
            <a:ext cx="2416988" cy="411480"/>
          </a:xfrm>
          <a:prstGeom prst="rect">
            <a:avLst/>
          </a:prstGeom>
          <a:noFill/>
          <a:ln/>
        </p:spPr>
        <p:txBody>
          <a:bodyPr wrap="square" lIns="0" tIns="0" rIns="0" bIns="0" rtlCol="0" anchor="t"/>
          <a:lstStyle/>
          <a:p>
            <a:pPr indent="0" marL="0">
              <a:spcAft>
                <a:spcPts val="400"/>
              </a:spcAft>
              <a:buNone/>
            </a:pPr>
            <a:r>
              <a:rPr lang="en-US" sz="1150" dirty="0">
                <a:solidFill>
                  <a:srgbClr val="3A4353"/>
                </a:solidFill>
                <a:latin typeface="Calibri" pitchFamily="34" charset="0"/>
                <a:ea typeface="Calibri" pitchFamily="34" charset="-122"/>
                <a:cs typeface="Calibri" pitchFamily="34" charset="-120"/>
              </a:rPr>
              <a:t>HMAC-SHA256 on every decision.</a:t>
            </a:r>
            <a:endParaRPr lang="en-US" sz="1150" dirty="0"/>
          </a:p>
        </p:txBody>
      </p:sp>
      <p:sp>
        <p:nvSpPr>
          <p:cNvPr id="35" name="Shape 33"/>
          <p:cNvSpPr/>
          <p:nvPr/>
        </p:nvSpPr>
        <p:spPr>
          <a:xfrm>
            <a:off x="9006611" y="3703320"/>
            <a:ext cx="2636444" cy="868680"/>
          </a:xfrm>
          <a:prstGeom prst="rect">
            <a:avLst/>
          </a:prstGeom>
          <a:solidFill>
            <a:srgbClr val="FFFFFF"/>
          </a:solidFill>
          <a:ln w="12700">
            <a:solidFill>
              <a:srgbClr val="6E747E"/>
            </a:solidFill>
            <a:prstDash val="sysDot"/>
          </a:ln>
        </p:spPr>
      </p:sp>
      <p:sp>
        <p:nvSpPr>
          <p:cNvPr id="36" name="Text 34"/>
          <p:cNvSpPr txBox="1"/>
          <p:nvPr/>
        </p:nvSpPr>
        <p:spPr>
          <a:xfrm>
            <a:off x="9116339" y="3776472"/>
            <a:ext cx="2416988" cy="292608"/>
          </a:xfrm>
          <a:prstGeom prst="rect">
            <a:avLst/>
          </a:prstGeom>
          <a:noFill/>
          <a:ln/>
        </p:spPr>
        <p:txBody>
          <a:bodyPr wrap="square" lIns="0" tIns="0" rIns="0" bIns="0" rtlCol="0" anchor="ctr"/>
          <a:lstStyle/>
          <a:p>
            <a:pPr indent="0" marL="0">
              <a:buNone/>
            </a:pPr>
            <a:r>
              <a:rPr lang="en-US" sz="1400" b="1" dirty="0">
                <a:solidFill>
                  <a:srgbClr val="3A4353"/>
                </a:solidFill>
                <a:latin typeface="Calibri" pitchFamily="34" charset="0"/>
                <a:ea typeface="Calibri" pitchFamily="34" charset="-122"/>
                <a:cs typeface="Calibri" pitchFamily="34" charset="-120"/>
              </a:rPr>
              <a:t>Agent screen</a:t>
            </a:r>
            <a:endParaRPr lang="en-US" sz="1400" dirty="0"/>
          </a:p>
        </p:txBody>
      </p:sp>
      <p:sp>
        <p:nvSpPr>
          <p:cNvPr id="37" name="Text 35"/>
          <p:cNvSpPr txBox="1"/>
          <p:nvPr/>
        </p:nvSpPr>
        <p:spPr>
          <a:xfrm>
            <a:off x="9116339" y="4105656"/>
            <a:ext cx="2416988" cy="411480"/>
          </a:xfrm>
          <a:prstGeom prst="rect">
            <a:avLst/>
          </a:prstGeom>
          <a:noFill/>
          <a:ln/>
        </p:spPr>
        <p:txBody>
          <a:bodyPr wrap="square" lIns="0" tIns="0" rIns="0" bIns="0" rtlCol="0" anchor="t"/>
          <a:lstStyle/>
          <a:p>
            <a:pPr indent="0" marL="0">
              <a:spcAft>
                <a:spcPts val="400"/>
              </a:spcAft>
              <a:buNone/>
            </a:pPr>
            <a:r>
              <a:rPr lang="en-US" sz="1150" dirty="0">
                <a:solidFill>
                  <a:srgbClr val="6E747E"/>
                </a:solidFill>
                <a:latin typeface="Calibri" pitchFamily="34" charset="0"/>
                <a:ea typeface="Calibri" pitchFamily="34" charset="-122"/>
                <a:cs typeface="Calibri" pitchFamily="34" charset="-120"/>
              </a:rPr>
              <a:t>Queue of held payments; two staff to release.</a:t>
            </a:r>
            <a:endParaRPr lang="en-US" sz="1150" dirty="0"/>
          </a:p>
        </p:txBody>
      </p:sp>
      <p:sp>
        <p:nvSpPr>
          <p:cNvPr id="38" name="Text 36"/>
          <p:cNvSpPr txBox="1"/>
          <p:nvPr/>
        </p:nvSpPr>
        <p:spPr>
          <a:xfrm>
            <a:off x="548640" y="4617720"/>
            <a:ext cx="10058400" cy="274320"/>
          </a:xfrm>
          <a:prstGeom prst="rect">
            <a:avLst/>
          </a:prstGeom>
          <a:noFill/>
          <a:ln/>
        </p:spPr>
        <p:txBody>
          <a:bodyPr wrap="square" lIns="0" tIns="0" rIns="0" bIns="0" rtlCol="0" anchor="t"/>
          <a:lstStyle/>
          <a:p>
            <a:pPr indent="0" marL="0">
              <a:spcAft>
                <a:spcPts val="400"/>
              </a:spcAft>
              <a:buNone/>
            </a:pPr>
            <a:r>
              <a:rPr lang="en-US" sz="1100" dirty="0">
                <a:solidFill>
                  <a:srgbClr val="6E747E"/>
                </a:solidFill>
                <a:latin typeface="Calibri" pitchFamily="34" charset="0"/>
                <a:ea typeface="Calibri" pitchFamily="34" charset="-122"/>
                <a:cs typeface="Calibri" pitchFamily="34" charset="-120"/>
              </a:rPr>
              <a:t>2. payee data looked up ↑        3. scored        4. level-3 hold sent to payments →        6. confirmed outcomes saved ↓</a:t>
            </a:r>
            <a:endParaRPr lang="en-US" sz="1100" dirty="0"/>
          </a:p>
        </p:txBody>
      </p:sp>
      <p:sp>
        <p:nvSpPr>
          <p:cNvPr id="39" name="Shape 37"/>
          <p:cNvSpPr/>
          <p:nvPr/>
        </p:nvSpPr>
        <p:spPr>
          <a:xfrm>
            <a:off x="548640" y="4937760"/>
            <a:ext cx="11094415" cy="0"/>
          </a:xfrm>
          <a:prstGeom prst="line">
            <a:avLst/>
          </a:prstGeom>
          <a:noFill/>
          <a:ln w="12700">
            <a:solidFill>
              <a:srgbClr val="1B2433"/>
            </a:solidFill>
            <a:prstDash val="solid"/>
          </a:ln>
        </p:spPr>
      </p:sp>
      <p:sp>
        <p:nvSpPr>
          <p:cNvPr id="40" name="Text 38"/>
          <p:cNvSpPr txBox="1"/>
          <p:nvPr/>
        </p:nvSpPr>
        <p:spPr>
          <a:xfrm>
            <a:off x="548640" y="4992624"/>
            <a:ext cx="5486400" cy="256032"/>
          </a:xfrm>
          <a:prstGeom prst="rect">
            <a:avLst/>
          </a:prstGeom>
          <a:noFill/>
          <a:ln/>
        </p:spPr>
        <p:txBody>
          <a:bodyPr wrap="square" lIns="0" tIns="0" rIns="0" bIns="0" rtlCol="0" anchor="ctr"/>
          <a:lstStyle/>
          <a:p>
            <a:pPr indent="0" marL="0">
              <a:buNone/>
            </a:pPr>
            <a:r>
              <a:rPr lang="en-US" sz="1300" b="1" dirty="0">
                <a:solidFill>
                  <a:srgbClr val="1B2433"/>
                </a:solidFill>
                <a:latin typeface="Calibri" pitchFamily="34" charset="0"/>
                <a:ea typeface="Calibri" pitchFamily="34" charset="-122"/>
                <a:cs typeface="Calibri" pitchFamily="34" charset="-120"/>
              </a:rPr>
              <a:t>Bank data, payments and reporting</a:t>
            </a:r>
            <a:endParaRPr lang="en-US" sz="1300" dirty="0"/>
          </a:p>
        </p:txBody>
      </p:sp>
      <p:sp>
        <p:nvSpPr>
          <p:cNvPr id="41" name="Shape 39"/>
          <p:cNvSpPr/>
          <p:nvPr/>
        </p:nvSpPr>
        <p:spPr>
          <a:xfrm>
            <a:off x="548640" y="5303520"/>
            <a:ext cx="2072579" cy="960120"/>
          </a:xfrm>
          <a:prstGeom prst="rect">
            <a:avLst/>
          </a:prstGeom>
          <a:solidFill>
            <a:srgbClr val="FFFFFF"/>
          </a:solidFill>
          <a:ln w="12700">
            <a:solidFill>
              <a:srgbClr val="6E747E"/>
            </a:solidFill>
            <a:prstDash val="dash"/>
          </a:ln>
        </p:spPr>
      </p:sp>
      <p:sp>
        <p:nvSpPr>
          <p:cNvPr id="42" name="Text 40"/>
          <p:cNvSpPr txBox="1"/>
          <p:nvPr/>
        </p:nvSpPr>
        <p:spPr>
          <a:xfrm>
            <a:off x="658368" y="5376672"/>
            <a:ext cx="1853123" cy="292608"/>
          </a:xfrm>
          <a:prstGeom prst="rect">
            <a:avLst/>
          </a:prstGeom>
          <a:noFill/>
          <a:ln/>
        </p:spPr>
        <p:txBody>
          <a:bodyPr wrap="square" lIns="0" tIns="0" rIns="0" bIns="0" rtlCol="0" anchor="ctr"/>
          <a:lstStyle/>
          <a:p>
            <a:pPr indent="0" marL="0">
              <a:buNone/>
            </a:pPr>
            <a:r>
              <a:rPr lang="en-US" sz="1400" b="1" dirty="0">
                <a:solidFill>
                  <a:srgbClr val="1B2433"/>
                </a:solidFill>
                <a:latin typeface="Calibri" pitchFamily="34" charset="0"/>
                <a:ea typeface="Calibri" pitchFamily="34" charset="-122"/>
                <a:cs typeface="Calibri" pitchFamily="34" charset="-120"/>
              </a:rPr>
              <a:t>Mule score</a:t>
            </a:r>
            <a:endParaRPr lang="en-US" sz="1400" dirty="0"/>
          </a:p>
        </p:txBody>
      </p:sp>
      <p:sp>
        <p:nvSpPr>
          <p:cNvPr id="43" name="Text 41"/>
          <p:cNvSpPr txBox="1"/>
          <p:nvPr/>
        </p:nvSpPr>
        <p:spPr>
          <a:xfrm>
            <a:off x="658368" y="5705856"/>
            <a:ext cx="1853123" cy="502920"/>
          </a:xfrm>
          <a:prstGeom prst="rect">
            <a:avLst/>
          </a:prstGeom>
          <a:noFill/>
          <a:ln/>
        </p:spPr>
        <p:txBody>
          <a:bodyPr wrap="square" lIns="0" tIns="0" rIns="0" bIns="0" rtlCol="0" anchor="t"/>
          <a:lstStyle/>
          <a:p>
            <a:pPr indent="0" marL="0">
              <a:spcAft>
                <a:spcPts val="400"/>
              </a:spcAft>
              <a:buNone/>
            </a:pPr>
            <a:r>
              <a:rPr lang="en-US" sz="1150" dirty="0">
                <a:solidFill>
                  <a:srgbClr val="3A4353"/>
                </a:solidFill>
                <a:latin typeface="Calibri" pitchFamily="34" charset="0"/>
                <a:ea typeface="Calibri" pitchFamily="34" charset="-122"/>
                <a:cs typeface="Calibri" pitchFamily="34" charset="-120"/>
              </a:rPr>
              <a:t>New senders, speed of outflow, account age.</a:t>
            </a:r>
            <a:endParaRPr lang="en-US" sz="1150" dirty="0"/>
          </a:p>
        </p:txBody>
      </p:sp>
      <p:sp>
        <p:nvSpPr>
          <p:cNvPr id="44" name="Shape 42"/>
          <p:cNvSpPr/>
          <p:nvPr/>
        </p:nvSpPr>
        <p:spPr>
          <a:xfrm>
            <a:off x="2804099" y="5303520"/>
            <a:ext cx="2072579" cy="960120"/>
          </a:xfrm>
          <a:prstGeom prst="rect">
            <a:avLst/>
          </a:prstGeom>
          <a:solidFill>
            <a:srgbClr val="FFFFFF"/>
          </a:solidFill>
          <a:ln w="12700">
            <a:solidFill>
              <a:srgbClr val="6E747E"/>
            </a:solidFill>
            <a:prstDash val="dash"/>
          </a:ln>
        </p:spPr>
      </p:sp>
      <p:sp>
        <p:nvSpPr>
          <p:cNvPr id="45" name="Text 43"/>
          <p:cNvSpPr txBox="1"/>
          <p:nvPr/>
        </p:nvSpPr>
        <p:spPr>
          <a:xfrm>
            <a:off x="2913827" y="5376672"/>
            <a:ext cx="1853123" cy="292608"/>
          </a:xfrm>
          <a:prstGeom prst="rect">
            <a:avLst/>
          </a:prstGeom>
          <a:noFill/>
          <a:ln/>
        </p:spPr>
        <p:txBody>
          <a:bodyPr wrap="square" lIns="0" tIns="0" rIns="0" bIns="0" rtlCol="0" anchor="ctr"/>
          <a:lstStyle/>
          <a:p>
            <a:pPr indent="0" marL="0">
              <a:buNone/>
            </a:pPr>
            <a:r>
              <a:rPr lang="en-US" sz="1400" b="1" dirty="0">
                <a:solidFill>
                  <a:srgbClr val="1B2433"/>
                </a:solidFill>
                <a:latin typeface="Calibri" pitchFamily="34" charset="0"/>
                <a:ea typeface="Calibri" pitchFamily="34" charset="-122"/>
                <a:cs typeface="Calibri" pitchFamily="34" charset="-120"/>
              </a:rPr>
              <a:t>Suspect list</a:t>
            </a:r>
            <a:endParaRPr lang="en-US" sz="1400" dirty="0"/>
          </a:p>
        </p:txBody>
      </p:sp>
      <p:sp>
        <p:nvSpPr>
          <p:cNvPr id="46" name="Text 44"/>
          <p:cNvSpPr txBox="1"/>
          <p:nvPr/>
        </p:nvSpPr>
        <p:spPr>
          <a:xfrm>
            <a:off x="2913827" y="5705856"/>
            <a:ext cx="1853123" cy="502920"/>
          </a:xfrm>
          <a:prstGeom prst="rect">
            <a:avLst/>
          </a:prstGeom>
          <a:noFill/>
          <a:ln/>
        </p:spPr>
        <p:txBody>
          <a:bodyPr wrap="square" lIns="0" tIns="0" rIns="0" bIns="0" rtlCol="0" anchor="t"/>
          <a:lstStyle/>
          <a:p>
            <a:pPr indent="0" marL="0">
              <a:spcAft>
                <a:spcPts val="400"/>
              </a:spcAft>
              <a:buNone/>
            </a:pPr>
            <a:r>
              <a:rPr lang="en-US" sz="1150" dirty="0">
                <a:solidFill>
                  <a:srgbClr val="3A4353"/>
                </a:solidFill>
                <a:latin typeface="Calibri" pitchFamily="34" charset="0"/>
                <a:ea typeface="Calibri" pitchFamily="34" charset="-122"/>
                <a:cs typeface="Calibri" pitchFamily="34" charset="-120"/>
              </a:rPr>
              <a:t>A yes/no flag, never shown to customers.</a:t>
            </a:r>
            <a:endParaRPr lang="en-US" sz="1150" dirty="0"/>
          </a:p>
        </p:txBody>
      </p:sp>
      <p:sp>
        <p:nvSpPr>
          <p:cNvPr id="47" name="Shape 45"/>
          <p:cNvSpPr/>
          <p:nvPr/>
        </p:nvSpPr>
        <p:spPr>
          <a:xfrm>
            <a:off x="5059558" y="5303520"/>
            <a:ext cx="2072579" cy="960120"/>
          </a:xfrm>
          <a:prstGeom prst="rect">
            <a:avLst/>
          </a:prstGeom>
          <a:solidFill>
            <a:srgbClr val="FFFFFF"/>
          </a:solidFill>
          <a:ln w="12700">
            <a:solidFill>
              <a:srgbClr val="6E747E"/>
            </a:solidFill>
            <a:prstDash val="sysDot"/>
          </a:ln>
        </p:spPr>
      </p:sp>
      <p:sp>
        <p:nvSpPr>
          <p:cNvPr id="48" name="Text 46"/>
          <p:cNvSpPr txBox="1"/>
          <p:nvPr/>
        </p:nvSpPr>
        <p:spPr>
          <a:xfrm>
            <a:off x="5169286" y="5376672"/>
            <a:ext cx="1853123" cy="292608"/>
          </a:xfrm>
          <a:prstGeom prst="rect">
            <a:avLst/>
          </a:prstGeom>
          <a:noFill/>
          <a:ln/>
        </p:spPr>
        <p:txBody>
          <a:bodyPr wrap="square" lIns="0" tIns="0" rIns="0" bIns="0" rtlCol="0" anchor="ctr"/>
          <a:lstStyle/>
          <a:p>
            <a:pPr indent="0" marL="0">
              <a:buNone/>
            </a:pPr>
            <a:r>
              <a:rPr lang="en-US" sz="1400" b="1" dirty="0">
                <a:solidFill>
                  <a:srgbClr val="3A4353"/>
                </a:solidFill>
                <a:latin typeface="Calibri" pitchFamily="34" charset="0"/>
                <a:ea typeface="Calibri" pitchFamily="34" charset="-122"/>
                <a:cs typeface="Calibri" pitchFamily="34" charset="-120"/>
              </a:rPr>
              <a:t>Retraining</a:t>
            </a:r>
            <a:endParaRPr lang="en-US" sz="1400" dirty="0"/>
          </a:p>
        </p:txBody>
      </p:sp>
      <p:sp>
        <p:nvSpPr>
          <p:cNvPr id="49" name="Text 47"/>
          <p:cNvSpPr txBox="1"/>
          <p:nvPr/>
        </p:nvSpPr>
        <p:spPr>
          <a:xfrm>
            <a:off x="5169286" y="5705856"/>
            <a:ext cx="1853123" cy="502920"/>
          </a:xfrm>
          <a:prstGeom prst="rect">
            <a:avLst/>
          </a:prstGeom>
          <a:noFill/>
          <a:ln/>
        </p:spPr>
        <p:txBody>
          <a:bodyPr wrap="square" lIns="0" tIns="0" rIns="0" bIns="0" rtlCol="0" anchor="t"/>
          <a:lstStyle/>
          <a:p>
            <a:pPr indent="0" marL="0">
              <a:spcAft>
                <a:spcPts val="400"/>
              </a:spcAft>
              <a:buNone/>
            </a:pPr>
            <a:r>
              <a:rPr lang="en-US" sz="1150" dirty="0">
                <a:solidFill>
                  <a:srgbClr val="6E747E"/>
                </a:solidFill>
                <a:latin typeface="Calibri" pitchFamily="34" charset="0"/>
                <a:ea typeface="Calibri" pitchFamily="34" charset="-122"/>
                <a:cs typeface="Calibri" pitchFamily="34" charset="-120"/>
              </a:rPr>
              <a:t>Weekly, bank-confirmed cases only.</a:t>
            </a:r>
            <a:endParaRPr lang="en-US" sz="1150" dirty="0"/>
          </a:p>
        </p:txBody>
      </p:sp>
      <p:sp>
        <p:nvSpPr>
          <p:cNvPr id="50" name="Shape 48"/>
          <p:cNvSpPr/>
          <p:nvPr/>
        </p:nvSpPr>
        <p:spPr>
          <a:xfrm>
            <a:off x="7315017" y="5303520"/>
            <a:ext cx="2072579" cy="960120"/>
          </a:xfrm>
          <a:prstGeom prst="rect">
            <a:avLst/>
          </a:prstGeom>
          <a:solidFill>
            <a:srgbClr val="FFFFFF"/>
          </a:solidFill>
          <a:ln w="12700">
            <a:solidFill>
              <a:srgbClr val="6E747E"/>
            </a:solidFill>
            <a:prstDash val="sysDot"/>
          </a:ln>
        </p:spPr>
      </p:sp>
      <p:sp>
        <p:nvSpPr>
          <p:cNvPr id="51" name="Text 49"/>
          <p:cNvSpPr txBox="1"/>
          <p:nvPr/>
        </p:nvSpPr>
        <p:spPr>
          <a:xfrm>
            <a:off x="7424745" y="5376672"/>
            <a:ext cx="1853123" cy="292608"/>
          </a:xfrm>
          <a:prstGeom prst="rect">
            <a:avLst/>
          </a:prstGeom>
          <a:noFill/>
          <a:ln/>
        </p:spPr>
        <p:txBody>
          <a:bodyPr wrap="square" lIns="0" tIns="0" rIns="0" bIns="0" rtlCol="0" anchor="ctr"/>
          <a:lstStyle/>
          <a:p>
            <a:pPr indent="0" marL="0">
              <a:buNone/>
            </a:pPr>
            <a:r>
              <a:rPr lang="en-US" sz="1400" b="1" dirty="0">
                <a:solidFill>
                  <a:srgbClr val="3A4353"/>
                </a:solidFill>
                <a:latin typeface="Calibri" pitchFamily="34" charset="0"/>
                <a:ea typeface="Calibri" pitchFamily="34" charset="-122"/>
                <a:cs typeface="Calibri" pitchFamily="34" charset="-120"/>
              </a:rPr>
              <a:t>Payment hold</a:t>
            </a:r>
            <a:endParaRPr lang="en-US" sz="1400" dirty="0"/>
          </a:p>
        </p:txBody>
      </p:sp>
      <p:sp>
        <p:nvSpPr>
          <p:cNvPr id="52" name="Text 50"/>
          <p:cNvSpPr txBox="1"/>
          <p:nvPr/>
        </p:nvSpPr>
        <p:spPr>
          <a:xfrm>
            <a:off x="7424745" y="5705856"/>
            <a:ext cx="1853123" cy="502920"/>
          </a:xfrm>
          <a:prstGeom prst="rect">
            <a:avLst/>
          </a:prstGeom>
          <a:noFill/>
          <a:ln/>
        </p:spPr>
        <p:txBody>
          <a:bodyPr wrap="square" lIns="0" tIns="0" rIns="0" bIns="0" rtlCol="0" anchor="t"/>
          <a:lstStyle/>
          <a:p>
            <a:pPr indent="0" marL="0">
              <a:spcAft>
                <a:spcPts val="400"/>
              </a:spcAft>
              <a:buNone/>
            </a:pPr>
            <a:r>
              <a:rPr lang="en-US" sz="1150" dirty="0">
                <a:solidFill>
                  <a:srgbClr val="6E747E"/>
                </a:solidFill>
                <a:latin typeface="Calibri" pitchFamily="34" charset="0"/>
                <a:ea typeface="Calibri" pitchFamily="34" charset="-122"/>
                <a:cs typeface="Calibri" pitchFamily="34" charset="-120"/>
              </a:rPr>
              <a:t>Time-limited, through the bank’s payment system.</a:t>
            </a:r>
            <a:endParaRPr lang="en-US" sz="1150" dirty="0"/>
          </a:p>
        </p:txBody>
      </p:sp>
      <p:sp>
        <p:nvSpPr>
          <p:cNvPr id="53" name="Shape 51"/>
          <p:cNvSpPr/>
          <p:nvPr/>
        </p:nvSpPr>
        <p:spPr>
          <a:xfrm>
            <a:off x="9570476" y="5303520"/>
            <a:ext cx="2072579" cy="960120"/>
          </a:xfrm>
          <a:prstGeom prst="rect">
            <a:avLst/>
          </a:prstGeom>
          <a:solidFill>
            <a:srgbClr val="FFFFFF"/>
          </a:solidFill>
          <a:ln w="12700">
            <a:solidFill>
              <a:srgbClr val="6E747E"/>
            </a:solidFill>
            <a:prstDash val="sysDot"/>
          </a:ln>
        </p:spPr>
      </p:sp>
      <p:sp>
        <p:nvSpPr>
          <p:cNvPr id="54" name="Text 52"/>
          <p:cNvSpPr txBox="1"/>
          <p:nvPr/>
        </p:nvSpPr>
        <p:spPr>
          <a:xfrm>
            <a:off x="9680204" y="5376672"/>
            <a:ext cx="1853123" cy="292608"/>
          </a:xfrm>
          <a:prstGeom prst="rect">
            <a:avLst/>
          </a:prstGeom>
          <a:noFill/>
          <a:ln/>
        </p:spPr>
        <p:txBody>
          <a:bodyPr wrap="square" lIns="0" tIns="0" rIns="0" bIns="0" rtlCol="0" anchor="ctr"/>
          <a:lstStyle/>
          <a:p>
            <a:pPr indent="0" marL="0">
              <a:buNone/>
            </a:pPr>
            <a:r>
              <a:rPr lang="en-US" sz="1400" b="1" dirty="0">
                <a:solidFill>
                  <a:srgbClr val="3A4353"/>
                </a:solidFill>
                <a:latin typeface="Calibri" pitchFamily="34" charset="0"/>
                <a:ea typeface="Calibri" pitchFamily="34" charset="-122"/>
                <a:cs typeface="Calibri" pitchFamily="34" charset="-120"/>
              </a:rPr>
              <a:t>Reporting</a:t>
            </a:r>
            <a:endParaRPr lang="en-US" sz="1400" dirty="0"/>
          </a:p>
        </p:txBody>
      </p:sp>
      <p:sp>
        <p:nvSpPr>
          <p:cNvPr id="55" name="Text 53"/>
          <p:cNvSpPr txBox="1"/>
          <p:nvPr/>
        </p:nvSpPr>
        <p:spPr>
          <a:xfrm>
            <a:off x="9680204" y="5705856"/>
            <a:ext cx="1853123" cy="502920"/>
          </a:xfrm>
          <a:prstGeom prst="rect">
            <a:avLst/>
          </a:prstGeom>
          <a:noFill/>
          <a:ln/>
        </p:spPr>
        <p:txBody>
          <a:bodyPr wrap="square" lIns="0" tIns="0" rIns="0" bIns="0" rtlCol="0" anchor="t"/>
          <a:lstStyle/>
          <a:p>
            <a:pPr indent="0" marL="0">
              <a:spcAft>
                <a:spcPts val="400"/>
              </a:spcAft>
              <a:buNone/>
            </a:pPr>
            <a:r>
              <a:rPr lang="en-US" sz="1150" dirty="0">
                <a:solidFill>
                  <a:srgbClr val="6E747E"/>
                </a:solidFill>
                <a:latin typeface="Calibri" pitchFamily="34" charset="0"/>
                <a:ea typeface="Calibri" pitchFamily="34" charset="-122"/>
                <a:cs typeface="Calibri" pitchFamily="34" charset="-120"/>
              </a:rPr>
              <a:t>Confirmed scams to I4C (CFCFRMS / 1930).</a:t>
            </a:r>
            <a:endParaRPr lang="en-US" sz="1150" dirty="0"/>
          </a:p>
        </p:txBody>
      </p:sp>
      <p:sp>
        <p:nvSpPr>
          <p:cNvPr id="56" name="Text 54"/>
          <p:cNvSpPr txBox="1"/>
          <p:nvPr/>
        </p:nvSpPr>
        <p:spPr>
          <a:xfrm>
            <a:off x="548640" y="6355080"/>
            <a:ext cx="8229600" cy="228600"/>
          </a:xfrm>
          <a:prstGeom prst="rect">
            <a:avLst/>
          </a:prstGeom>
          <a:noFill/>
          <a:ln/>
        </p:spPr>
        <p:txBody>
          <a:bodyPr wrap="square" lIns="0" tIns="0" rIns="0" bIns="0" rtlCol="0" anchor="ctr"/>
          <a:lstStyle/>
          <a:p>
            <a:pPr indent="0" marL="0">
              <a:buNone/>
            </a:pPr>
            <a:r>
              <a:rPr lang="en-US" sz="1100" i="1" dirty="0">
                <a:solidFill>
                  <a:srgbClr val="6E747E"/>
                </a:solidFill>
                <a:latin typeface="Calibri" pitchFamily="34" charset="0"/>
                <a:ea typeface="Calibri" pitchFamily="34" charset="-122"/>
                <a:cs typeface="Calibri" pitchFamily="34" charset="-120"/>
              </a:rPr>
              <a:t>We have no integration with Amazon, NPCI, I4C or any bank yet.</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5486400" cy="274320"/>
          </a:xfrm>
          <a:prstGeom prst="rect">
            <a:avLst/>
          </a:prstGeom>
          <a:noFill/>
          <a:ln/>
        </p:spPr>
        <p:txBody>
          <a:bodyPr wrap="square" lIns="0" tIns="0" rIns="0" bIns="0" rtlCol="0" anchor="ctr"/>
          <a:lstStyle/>
          <a:p>
            <a:pPr indent="0" marL="0">
              <a:buNone/>
            </a:pPr>
            <a:r>
              <a:rPr lang="en-US" sz="1100" dirty="0">
                <a:solidFill>
                  <a:srgbClr val="6E747E"/>
                </a:solidFill>
                <a:latin typeface="Calibri" pitchFamily="34" charset="0"/>
                <a:ea typeface="Calibri" pitchFamily="34" charset="-122"/>
                <a:cs typeface="Calibri" pitchFamily="34" charset="-120"/>
              </a:rPr>
              <a:t>11  ·  Security</a:t>
            </a:r>
            <a:endParaRPr lang="en-US" sz="1100" dirty="0"/>
          </a:p>
        </p:txBody>
      </p:sp>
      <p:sp>
        <p:nvSpPr>
          <p:cNvPr id="3" name="Text 1"/>
          <p:cNvSpPr txBox="1"/>
          <p:nvPr/>
        </p:nvSpPr>
        <p:spPr>
          <a:xfrm>
            <a:off x="8899855" y="256032"/>
            <a:ext cx="2743200" cy="274320"/>
          </a:xfrm>
          <a:prstGeom prst="rect">
            <a:avLst/>
          </a:prstGeom>
          <a:noFill/>
          <a:ln/>
        </p:spPr>
        <p:txBody>
          <a:bodyPr wrap="square" lIns="0" tIns="0" rIns="0" bIns="0" rtlCol="0" anchor="ctr"/>
          <a:lstStyle/>
          <a:p>
            <a:pPr algn="r" indent="0" marL="0">
              <a:buNone/>
            </a:pPr>
            <a:r>
              <a:rPr lang="en-US" sz="1100" dirty="0">
                <a:solidFill>
                  <a:srgbClr val="6E747E"/>
                </a:solidFill>
                <a:latin typeface="Calibri" pitchFamily="34" charset="0"/>
                <a:ea typeface="Calibri" pitchFamily="34" charset="-122"/>
                <a:cs typeface="Calibri" pitchFamily="34" charset="-120"/>
              </a:rPr>
              <a:t>Chakravyuh</a:t>
            </a:r>
            <a:endParaRPr lang="en-US" sz="1100" dirty="0"/>
          </a:p>
        </p:txBody>
      </p:sp>
      <p:sp>
        <p:nvSpPr>
          <p:cNvPr id="4" name="Text 2"/>
          <p:cNvSpPr txBox="1"/>
          <p:nvPr/>
        </p:nvSpPr>
        <p:spPr>
          <a:xfrm>
            <a:off x="9814255" y="6446520"/>
            <a:ext cx="1828800" cy="228600"/>
          </a:xfrm>
          <a:prstGeom prst="rect">
            <a:avLst/>
          </a:prstGeom>
          <a:noFill/>
          <a:ln/>
        </p:spPr>
        <p:txBody>
          <a:bodyPr wrap="square" lIns="0" tIns="0" rIns="0" bIns="0" rtlCol="0" anchor="ctr"/>
          <a:lstStyle/>
          <a:p>
            <a:pPr algn="r" indent="0" marL="0">
              <a:buNone/>
            </a:pPr>
            <a:r>
              <a:rPr lang="en-US" sz="1000" dirty="0">
                <a:solidFill>
                  <a:srgbClr val="6E747E"/>
                </a:solidFill>
                <a:latin typeface="Calibri" pitchFamily="34" charset="0"/>
                <a:ea typeface="Calibri" pitchFamily="34" charset="-122"/>
                <a:cs typeface="Calibri" pitchFamily="34" charset="-120"/>
              </a:rPr>
              <a:t>12 / 16</a:t>
            </a:r>
            <a:endParaRPr lang="en-US" sz="1000" dirty="0"/>
          </a:p>
        </p:txBody>
      </p:sp>
      <p:sp>
        <p:nvSpPr>
          <p:cNvPr id="5" name="Text 3"/>
          <p:cNvSpPr txBox="1"/>
          <p:nvPr/>
        </p:nvSpPr>
        <p:spPr>
          <a:xfrm>
            <a:off x="548640" y="640080"/>
            <a:ext cx="11094415" cy="731520"/>
          </a:xfrm>
          <a:prstGeom prst="rect">
            <a:avLst/>
          </a:prstGeom>
          <a:noFill/>
          <a:ln/>
        </p:spPr>
        <p:txBody>
          <a:bodyPr wrap="square" lIns="0" tIns="0" rIns="0" bIns="0" rtlCol="0" anchor="t"/>
          <a:lstStyle/>
          <a:p>
            <a:pPr indent="0" marL="0">
              <a:buNone/>
            </a:pPr>
            <a:r>
              <a:rPr lang="en-US" sz="3400" b="1" dirty="0">
                <a:solidFill>
                  <a:srgbClr val="1B2433"/>
                </a:solidFill>
                <a:latin typeface="Cambria" pitchFamily="34" charset="0"/>
                <a:ea typeface="Cambria" pitchFamily="34" charset="-122"/>
                <a:cs typeface="Cambria" pitchFamily="34" charset="-120"/>
              </a:rPr>
              <a:t>Following one payment through the system</a:t>
            </a:r>
            <a:endParaRPr lang="en-US" sz="3400" dirty="0"/>
          </a:p>
        </p:txBody>
      </p:sp>
      <p:sp>
        <p:nvSpPr>
          <p:cNvPr id="6" name="Shape 4"/>
          <p:cNvSpPr/>
          <p:nvPr/>
        </p:nvSpPr>
        <p:spPr>
          <a:xfrm>
            <a:off x="548640" y="1463040"/>
            <a:ext cx="384048" cy="384048"/>
          </a:xfrm>
          <a:prstGeom prst="ellipse">
            <a:avLst/>
          </a:prstGeom>
          <a:solidFill>
            <a:srgbClr val="111A2B"/>
          </a:solidFill>
          <a:ln w="12700">
            <a:solidFill>
              <a:srgbClr val="111A2B"/>
            </a:solidFill>
            <a:prstDash val="solid"/>
          </a:ln>
        </p:spPr>
      </p:sp>
      <p:sp>
        <p:nvSpPr>
          <p:cNvPr id="7" name="Text 5"/>
          <p:cNvSpPr txBox="1"/>
          <p:nvPr/>
        </p:nvSpPr>
        <p:spPr>
          <a:xfrm>
            <a:off x="548640" y="1463040"/>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1</a:t>
            </a:r>
            <a:endParaRPr lang="en-US" sz="1500" dirty="0"/>
          </a:p>
        </p:txBody>
      </p:sp>
      <p:sp>
        <p:nvSpPr>
          <p:cNvPr id="8" name="Text 6"/>
          <p:cNvSpPr txBox="1"/>
          <p:nvPr/>
        </p:nvSpPr>
        <p:spPr>
          <a:xfrm>
            <a:off x="1097280" y="1444752"/>
            <a:ext cx="4206240" cy="274320"/>
          </a:xfrm>
          <a:prstGeom prst="rect">
            <a:avLst/>
          </a:prstGeom>
          <a:noFill/>
          <a:ln/>
        </p:spPr>
        <p:txBody>
          <a:bodyPr wrap="square" lIns="0" tIns="0" rIns="0" bIns="0" rtlCol="0" anchor="ctr"/>
          <a:lstStyle/>
          <a:p>
            <a:pPr indent="0" marL="0">
              <a:buNone/>
            </a:pPr>
            <a:r>
              <a:rPr lang="en-US" sz="1500" b="1" dirty="0">
                <a:solidFill>
                  <a:srgbClr val="1B2433"/>
                </a:solidFill>
                <a:latin typeface="Calibri" pitchFamily="34" charset="0"/>
                <a:ea typeface="Calibri" pitchFamily="34" charset="-122"/>
                <a:cs typeface="Calibri" pitchFamily="34" charset="-120"/>
              </a:rPr>
              <a:t>Customer taps Pay</a:t>
            </a:r>
            <a:endParaRPr lang="en-US" sz="1500" dirty="0"/>
          </a:p>
        </p:txBody>
      </p:sp>
      <p:sp>
        <p:nvSpPr>
          <p:cNvPr id="9" name="Text 7"/>
          <p:cNvSpPr txBox="1"/>
          <p:nvPr/>
        </p:nvSpPr>
        <p:spPr>
          <a:xfrm>
            <a:off x="1097280" y="1719072"/>
            <a:ext cx="4206240" cy="457200"/>
          </a:xfrm>
          <a:prstGeom prst="rect">
            <a:avLst/>
          </a:prstGeom>
          <a:noFill/>
          <a:ln/>
        </p:spPr>
        <p:txBody>
          <a:bodyPr wrap="square" lIns="0" tIns="0" rIns="0" bIns="0" rtlCol="0" anchor="t"/>
          <a:lstStyle/>
          <a:p>
            <a:pPr indent="0" marL="0">
              <a:spcAft>
                <a:spcPts val="400"/>
              </a:spcAft>
              <a:buNone/>
            </a:pPr>
            <a:r>
              <a:rPr lang="en-US" sz="1200" dirty="0">
                <a:solidFill>
                  <a:srgbClr val="3A4353"/>
                </a:solidFill>
                <a:latin typeface="Calibri" pitchFamily="34" charset="0"/>
                <a:ea typeface="Calibri" pitchFamily="34" charset="-122"/>
                <a:cs typeface="Calibri" pitchFamily="34" charset="-120"/>
              </a:rPr>
              <a:t>The app sends the signals that are true, the amount, a payee hash, a nonce and a timestamp.</a:t>
            </a:r>
            <a:endParaRPr lang="en-US" sz="1200" dirty="0"/>
          </a:p>
        </p:txBody>
      </p:sp>
      <p:sp>
        <p:nvSpPr>
          <p:cNvPr id="10" name="Shape 8"/>
          <p:cNvSpPr/>
          <p:nvPr/>
        </p:nvSpPr>
        <p:spPr>
          <a:xfrm>
            <a:off x="548640" y="2240280"/>
            <a:ext cx="384048" cy="384048"/>
          </a:xfrm>
          <a:prstGeom prst="ellipse">
            <a:avLst/>
          </a:prstGeom>
          <a:solidFill>
            <a:srgbClr val="111A2B"/>
          </a:solidFill>
          <a:ln w="12700">
            <a:solidFill>
              <a:srgbClr val="111A2B"/>
            </a:solidFill>
            <a:prstDash val="solid"/>
          </a:ln>
        </p:spPr>
      </p:sp>
      <p:sp>
        <p:nvSpPr>
          <p:cNvPr id="11" name="Text 9"/>
          <p:cNvSpPr txBox="1"/>
          <p:nvPr/>
        </p:nvSpPr>
        <p:spPr>
          <a:xfrm>
            <a:off x="548640" y="2240280"/>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2</a:t>
            </a:r>
            <a:endParaRPr lang="en-US" sz="1500" dirty="0"/>
          </a:p>
        </p:txBody>
      </p:sp>
      <p:sp>
        <p:nvSpPr>
          <p:cNvPr id="12" name="Text 10"/>
          <p:cNvSpPr txBox="1"/>
          <p:nvPr/>
        </p:nvSpPr>
        <p:spPr>
          <a:xfrm>
            <a:off x="1097280" y="2221992"/>
            <a:ext cx="4206240" cy="274320"/>
          </a:xfrm>
          <a:prstGeom prst="rect">
            <a:avLst/>
          </a:prstGeom>
          <a:noFill/>
          <a:ln/>
        </p:spPr>
        <p:txBody>
          <a:bodyPr wrap="square" lIns="0" tIns="0" rIns="0" bIns="0" rtlCol="0" anchor="ctr"/>
          <a:lstStyle/>
          <a:p>
            <a:pPr indent="0" marL="0">
              <a:buNone/>
            </a:pPr>
            <a:r>
              <a:rPr lang="en-US" sz="1500" b="1" dirty="0">
                <a:solidFill>
                  <a:srgbClr val="1B2433"/>
                </a:solidFill>
                <a:latin typeface="Calibri" pitchFamily="34" charset="0"/>
                <a:ea typeface="Calibri" pitchFamily="34" charset="-122"/>
                <a:cs typeface="Calibri" pitchFamily="34" charset="-120"/>
              </a:rPr>
              <a:t>Check the request</a:t>
            </a:r>
            <a:endParaRPr lang="en-US" sz="1500" dirty="0"/>
          </a:p>
        </p:txBody>
      </p:sp>
      <p:sp>
        <p:nvSpPr>
          <p:cNvPr id="13" name="Text 11"/>
          <p:cNvSpPr txBox="1"/>
          <p:nvPr/>
        </p:nvSpPr>
        <p:spPr>
          <a:xfrm>
            <a:off x="1097280" y="2496312"/>
            <a:ext cx="4206240" cy="457200"/>
          </a:xfrm>
          <a:prstGeom prst="rect">
            <a:avLst/>
          </a:prstGeom>
          <a:noFill/>
          <a:ln/>
        </p:spPr>
        <p:txBody>
          <a:bodyPr wrap="square" lIns="0" tIns="0" rIns="0" bIns="0" rtlCol="0" anchor="t"/>
          <a:lstStyle/>
          <a:p>
            <a:pPr indent="0" marL="0">
              <a:spcAft>
                <a:spcPts val="400"/>
              </a:spcAft>
              <a:buNone/>
            </a:pPr>
            <a:r>
              <a:rPr lang="en-US" sz="1200" dirty="0">
                <a:solidFill>
                  <a:srgbClr val="3A4353"/>
                </a:solidFill>
                <a:latin typeface="Calibri" pitchFamily="34" charset="0"/>
                <a:ea typeface="Calibri" pitchFamily="34" charset="-122"/>
                <a:cs typeface="Calibri" pitchFamily="34" charset="-120"/>
              </a:rPr>
              <a:t>The server rejects unknown signals, repeated nonces and anything older than 15 seconds.</a:t>
            </a:r>
            <a:endParaRPr lang="en-US" sz="1200" dirty="0"/>
          </a:p>
        </p:txBody>
      </p:sp>
      <p:sp>
        <p:nvSpPr>
          <p:cNvPr id="14" name="Shape 12"/>
          <p:cNvSpPr/>
          <p:nvPr/>
        </p:nvSpPr>
        <p:spPr>
          <a:xfrm>
            <a:off x="548640" y="3017520"/>
            <a:ext cx="384048" cy="384048"/>
          </a:xfrm>
          <a:prstGeom prst="ellipse">
            <a:avLst/>
          </a:prstGeom>
          <a:solidFill>
            <a:srgbClr val="111A2B"/>
          </a:solidFill>
          <a:ln w="12700">
            <a:solidFill>
              <a:srgbClr val="111A2B"/>
            </a:solidFill>
            <a:prstDash val="solid"/>
          </a:ln>
        </p:spPr>
      </p:sp>
      <p:sp>
        <p:nvSpPr>
          <p:cNvPr id="15" name="Text 13"/>
          <p:cNvSpPr txBox="1"/>
          <p:nvPr/>
        </p:nvSpPr>
        <p:spPr>
          <a:xfrm>
            <a:off x="548640" y="3017520"/>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3</a:t>
            </a:r>
            <a:endParaRPr lang="en-US" sz="1500" dirty="0"/>
          </a:p>
        </p:txBody>
      </p:sp>
      <p:sp>
        <p:nvSpPr>
          <p:cNvPr id="16" name="Text 14"/>
          <p:cNvSpPr txBox="1"/>
          <p:nvPr/>
        </p:nvSpPr>
        <p:spPr>
          <a:xfrm>
            <a:off x="1097280" y="2999232"/>
            <a:ext cx="4206240" cy="274320"/>
          </a:xfrm>
          <a:prstGeom prst="rect">
            <a:avLst/>
          </a:prstGeom>
          <a:noFill/>
          <a:ln/>
        </p:spPr>
        <p:txBody>
          <a:bodyPr wrap="square" lIns="0" tIns="0" rIns="0" bIns="0" rtlCol="0" anchor="ctr"/>
          <a:lstStyle/>
          <a:p>
            <a:pPr indent="0" marL="0">
              <a:buNone/>
            </a:pPr>
            <a:r>
              <a:rPr lang="en-US" sz="1500" b="1" dirty="0">
                <a:solidFill>
                  <a:srgbClr val="1B2433"/>
                </a:solidFill>
                <a:latin typeface="Calibri" pitchFamily="34" charset="0"/>
                <a:ea typeface="Calibri" pitchFamily="34" charset="-122"/>
                <a:cs typeface="Calibri" pitchFamily="34" charset="-120"/>
              </a:rPr>
              <a:t>Score</a:t>
            </a:r>
            <a:endParaRPr lang="en-US" sz="1500" dirty="0"/>
          </a:p>
        </p:txBody>
      </p:sp>
      <p:sp>
        <p:nvSpPr>
          <p:cNvPr id="17" name="Text 15"/>
          <p:cNvSpPr txBox="1"/>
          <p:nvPr/>
        </p:nvSpPr>
        <p:spPr>
          <a:xfrm>
            <a:off x="1097280" y="3273552"/>
            <a:ext cx="4206240" cy="457200"/>
          </a:xfrm>
          <a:prstGeom prst="rect">
            <a:avLst/>
          </a:prstGeom>
          <a:noFill/>
          <a:ln/>
        </p:spPr>
        <p:txBody>
          <a:bodyPr wrap="square" lIns="0" tIns="0" rIns="0" bIns="0" rtlCol="0" anchor="t"/>
          <a:lstStyle/>
          <a:p>
            <a:pPr indent="0" marL="0">
              <a:spcAft>
                <a:spcPts val="400"/>
              </a:spcAft>
              <a:buNone/>
            </a:pPr>
            <a:r>
              <a:rPr lang="en-US" sz="1200" dirty="0">
                <a:solidFill>
                  <a:srgbClr val="3A4353"/>
                </a:solidFill>
                <a:latin typeface="Calibri" pitchFamily="34" charset="0"/>
                <a:ea typeface="Calibri" pitchFamily="34" charset="-122"/>
                <a:cs typeface="Calibri" pitchFamily="34" charset="-120"/>
              </a:rPr>
              <a:t>Payee data is added, then stage scores, the two-stage rule, the level and the top five reasons.</a:t>
            </a:r>
            <a:endParaRPr lang="en-US" sz="1200" dirty="0"/>
          </a:p>
        </p:txBody>
      </p:sp>
      <p:sp>
        <p:nvSpPr>
          <p:cNvPr id="18" name="Shape 16"/>
          <p:cNvSpPr/>
          <p:nvPr/>
        </p:nvSpPr>
        <p:spPr>
          <a:xfrm>
            <a:off x="548640" y="3794760"/>
            <a:ext cx="384048" cy="384048"/>
          </a:xfrm>
          <a:prstGeom prst="ellipse">
            <a:avLst/>
          </a:prstGeom>
          <a:solidFill>
            <a:srgbClr val="D9480F"/>
          </a:solidFill>
          <a:ln w="12700">
            <a:solidFill>
              <a:srgbClr val="D9480F"/>
            </a:solidFill>
            <a:prstDash val="solid"/>
          </a:ln>
        </p:spPr>
      </p:sp>
      <p:sp>
        <p:nvSpPr>
          <p:cNvPr id="19" name="Text 17"/>
          <p:cNvSpPr txBox="1"/>
          <p:nvPr/>
        </p:nvSpPr>
        <p:spPr>
          <a:xfrm>
            <a:off x="548640" y="3794760"/>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4</a:t>
            </a:r>
            <a:endParaRPr lang="en-US" sz="1500" dirty="0"/>
          </a:p>
        </p:txBody>
      </p:sp>
      <p:sp>
        <p:nvSpPr>
          <p:cNvPr id="20" name="Text 18"/>
          <p:cNvSpPr txBox="1"/>
          <p:nvPr/>
        </p:nvSpPr>
        <p:spPr>
          <a:xfrm>
            <a:off x="1097280" y="3776472"/>
            <a:ext cx="4206240" cy="274320"/>
          </a:xfrm>
          <a:prstGeom prst="rect">
            <a:avLst/>
          </a:prstGeom>
          <a:noFill/>
          <a:ln/>
        </p:spPr>
        <p:txBody>
          <a:bodyPr wrap="square" lIns="0" tIns="0" rIns="0" bIns="0" rtlCol="0" anchor="ctr"/>
          <a:lstStyle/>
          <a:p>
            <a:pPr indent="0" marL="0">
              <a:buNone/>
            </a:pPr>
            <a:r>
              <a:rPr lang="en-US" sz="1500" b="1" dirty="0">
                <a:solidFill>
                  <a:srgbClr val="1B2433"/>
                </a:solidFill>
                <a:latin typeface="Calibri" pitchFamily="34" charset="0"/>
                <a:ea typeface="Calibri" pitchFamily="34" charset="-122"/>
                <a:cs typeface="Calibri" pitchFamily="34" charset="-120"/>
              </a:rPr>
              <a:t>Respond</a:t>
            </a:r>
            <a:endParaRPr lang="en-US" sz="1500" dirty="0"/>
          </a:p>
        </p:txBody>
      </p:sp>
      <p:sp>
        <p:nvSpPr>
          <p:cNvPr id="21" name="Text 19"/>
          <p:cNvSpPr txBox="1"/>
          <p:nvPr/>
        </p:nvSpPr>
        <p:spPr>
          <a:xfrm>
            <a:off x="1097280" y="4050792"/>
            <a:ext cx="4206240" cy="457200"/>
          </a:xfrm>
          <a:prstGeom prst="rect">
            <a:avLst/>
          </a:prstGeom>
          <a:noFill/>
          <a:ln/>
        </p:spPr>
        <p:txBody>
          <a:bodyPr wrap="square" lIns="0" tIns="0" rIns="0" bIns="0" rtlCol="0" anchor="t"/>
          <a:lstStyle/>
          <a:p>
            <a:pPr indent="0" marL="0">
              <a:spcAft>
                <a:spcPts val="400"/>
              </a:spcAft>
              <a:buNone/>
            </a:pPr>
            <a:r>
              <a:rPr lang="en-US" sz="1200" dirty="0">
                <a:solidFill>
                  <a:srgbClr val="3A4353"/>
                </a:solidFill>
                <a:latin typeface="Calibri" pitchFamily="34" charset="0"/>
                <a:ea typeface="Calibri" pitchFamily="34" charset="-122"/>
                <a:cs typeface="Calibri" pitchFamily="34" charset="-120"/>
              </a:rPr>
              <a:t>Level 0 allows, 1 logs, 2 warns and asks two questions, 3 holds the payment.</a:t>
            </a:r>
            <a:endParaRPr lang="en-US" sz="1200" dirty="0"/>
          </a:p>
        </p:txBody>
      </p:sp>
      <p:sp>
        <p:nvSpPr>
          <p:cNvPr id="22" name="Shape 20"/>
          <p:cNvSpPr/>
          <p:nvPr/>
        </p:nvSpPr>
        <p:spPr>
          <a:xfrm>
            <a:off x="548640" y="4572000"/>
            <a:ext cx="384048" cy="384048"/>
          </a:xfrm>
          <a:prstGeom prst="ellipse">
            <a:avLst/>
          </a:prstGeom>
          <a:solidFill>
            <a:srgbClr val="111A2B"/>
          </a:solidFill>
          <a:ln w="12700">
            <a:solidFill>
              <a:srgbClr val="111A2B"/>
            </a:solidFill>
            <a:prstDash val="solid"/>
          </a:ln>
        </p:spPr>
      </p:sp>
      <p:sp>
        <p:nvSpPr>
          <p:cNvPr id="23" name="Text 21"/>
          <p:cNvSpPr txBox="1"/>
          <p:nvPr/>
        </p:nvSpPr>
        <p:spPr>
          <a:xfrm>
            <a:off x="548640" y="4572000"/>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5</a:t>
            </a:r>
            <a:endParaRPr lang="en-US" sz="1500" dirty="0"/>
          </a:p>
        </p:txBody>
      </p:sp>
      <p:sp>
        <p:nvSpPr>
          <p:cNvPr id="24" name="Text 22"/>
          <p:cNvSpPr txBox="1"/>
          <p:nvPr/>
        </p:nvSpPr>
        <p:spPr>
          <a:xfrm>
            <a:off x="1097280" y="4553712"/>
            <a:ext cx="4206240" cy="274320"/>
          </a:xfrm>
          <a:prstGeom prst="rect">
            <a:avLst/>
          </a:prstGeom>
          <a:noFill/>
          <a:ln/>
        </p:spPr>
        <p:txBody>
          <a:bodyPr wrap="square" lIns="0" tIns="0" rIns="0" bIns="0" rtlCol="0" anchor="ctr"/>
          <a:lstStyle/>
          <a:p>
            <a:pPr indent="0" marL="0">
              <a:buNone/>
            </a:pPr>
            <a:r>
              <a:rPr lang="en-US" sz="1500" b="1" dirty="0">
                <a:solidFill>
                  <a:srgbClr val="1B2433"/>
                </a:solidFill>
                <a:latin typeface="Calibri" pitchFamily="34" charset="0"/>
                <a:ea typeface="Calibri" pitchFamily="34" charset="-122"/>
                <a:cs typeface="Calibri" pitchFamily="34" charset="-120"/>
              </a:rPr>
              <a:t>Review</a:t>
            </a:r>
            <a:endParaRPr lang="en-US" sz="1500" dirty="0"/>
          </a:p>
        </p:txBody>
      </p:sp>
      <p:sp>
        <p:nvSpPr>
          <p:cNvPr id="25" name="Text 23"/>
          <p:cNvSpPr txBox="1"/>
          <p:nvPr/>
        </p:nvSpPr>
        <p:spPr>
          <a:xfrm>
            <a:off x="1097280" y="4828032"/>
            <a:ext cx="4206240" cy="457200"/>
          </a:xfrm>
          <a:prstGeom prst="rect">
            <a:avLst/>
          </a:prstGeom>
          <a:noFill/>
          <a:ln/>
        </p:spPr>
        <p:txBody>
          <a:bodyPr wrap="square" lIns="0" tIns="0" rIns="0" bIns="0" rtlCol="0" anchor="t"/>
          <a:lstStyle/>
          <a:p>
            <a:pPr indent="0" marL="0">
              <a:spcAft>
                <a:spcPts val="400"/>
              </a:spcAft>
              <a:buNone/>
            </a:pPr>
            <a:r>
              <a:rPr lang="en-US" sz="1200" dirty="0">
                <a:solidFill>
                  <a:srgbClr val="3A4353"/>
                </a:solidFill>
                <a:latin typeface="Calibri" pitchFamily="34" charset="0"/>
                <a:ea typeface="Calibri" pitchFamily="34" charset="-122"/>
                <a:cs typeface="Calibri" pitchFamily="34" charset="-120"/>
              </a:rPr>
              <a:t>Held payments go to a bank agent with the record and reasons. Two staff approve a release.</a:t>
            </a:r>
            <a:endParaRPr lang="en-US" sz="1200" dirty="0"/>
          </a:p>
        </p:txBody>
      </p:sp>
      <p:sp>
        <p:nvSpPr>
          <p:cNvPr id="26" name="Shape 24"/>
          <p:cNvSpPr/>
          <p:nvPr/>
        </p:nvSpPr>
        <p:spPr>
          <a:xfrm>
            <a:off x="548640" y="5349240"/>
            <a:ext cx="384048" cy="384048"/>
          </a:xfrm>
          <a:prstGeom prst="ellipse">
            <a:avLst/>
          </a:prstGeom>
          <a:solidFill>
            <a:srgbClr val="111A2B"/>
          </a:solidFill>
          <a:ln w="12700">
            <a:solidFill>
              <a:srgbClr val="111A2B"/>
            </a:solidFill>
            <a:prstDash val="solid"/>
          </a:ln>
        </p:spPr>
      </p:sp>
      <p:sp>
        <p:nvSpPr>
          <p:cNvPr id="27" name="Text 25"/>
          <p:cNvSpPr txBox="1"/>
          <p:nvPr/>
        </p:nvSpPr>
        <p:spPr>
          <a:xfrm>
            <a:off x="548640" y="5349240"/>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6</a:t>
            </a:r>
            <a:endParaRPr lang="en-US" sz="1500" dirty="0"/>
          </a:p>
        </p:txBody>
      </p:sp>
      <p:sp>
        <p:nvSpPr>
          <p:cNvPr id="28" name="Text 26"/>
          <p:cNvSpPr txBox="1"/>
          <p:nvPr/>
        </p:nvSpPr>
        <p:spPr>
          <a:xfrm>
            <a:off x="1097280" y="5330952"/>
            <a:ext cx="4206240" cy="274320"/>
          </a:xfrm>
          <a:prstGeom prst="rect">
            <a:avLst/>
          </a:prstGeom>
          <a:noFill/>
          <a:ln/>
        </p:spPr>
        <p:txBody>
          <a:bodyPr wrap="square" lIns="0" tIns="0" rIns="0" bIns="0" rtlCol="0" anchor="ctr"/>
          <a:lstStyle/>
          <a:p>
            <a:pPr indent="0" marL="0">
              <a:buNone/>
            </a:pPr>
            <a:r>
              <a:rPr lang="en-US" sz="1500" b="1" dirty="0">
                <a:solidFill>
                  <a:srgbClr val="1B2433"/>
                </a:solidFill>
                <a:latin typeface="Calibri" pitchFamily="34" charset="0"/>
                <a:ea typeface="Calibri" pitchFamily="34" charset="-122"/>
                <a:cs typeface="Calibri" pitchFamily="34" charset="-120"/>
              </a:rPr>
              <a:t>Close</a:t>
            </a:r>
            <a:endParaRPr lang="en-US" sz="1500" dirty="0"/>
          </a:p>
        </p:txBody>
      </p:sp>
      <p:sp>
        <p:nvSpPr>
          <p:cNvPr id="29" name="Text 27"/>
          <p:cNvSpPr txBox="1"/>
          <p:nvPr/>
        </p:nvSpPr>
        <p:spPr>
          <a:xfrm>
            <a:off x="1097280" y="5605272"/>
            <a:ext cx="4206240" cy="457200"/>
          </a:xfrm>
          <a:prstGeom prst="rect">
            <a:avLst/>
          </a:prstGeom>
          <a:noFill/>
          <a:ln/>
        </p:spPr>
        <p:txBody>
          <a:bodyPr wrap="square" lIns="0" tIns="0" rIns="0" bIns="0" rtlCol="0" anchor="t"/>
          <a:lstStyle/>
          <a:p>
            <a:pPr indent="0" marL="0">
              <a:spcAft>
                <a:spcPts val="400"/>
              </a:spcAft>
              <a:buNone/>
            </a:pPr>
            <a:r>
              <a:rPr lang="en-US" sz="1200" dirty="0">
                <a:solidFill>
                  <a:srgbClr val="3A4353"/>
                </a:solidFill>
                <a:latin typeface="Calibri" pitchFamily="34" charset="0"/>
                <a:ea typeface="Calibri" pitchFamily="34" charset="-122"/>
                <a:cs typeface="Calibri" pitchFamily="34" charset="-120"/>
              </a:rPr>
              <a:t>Released, or confirmed and reported. The result is saved for retraining.</a:t>
            </a:r>
            <a:endParaRPr lang="en-US" sz="1200" dirty="0"/>
          </a:p>
        </p:txBody>
      </p:sp>
      <p:sp>
        <p:nvSpPr>
          <p:cNvPr id="30" name="Text 28"/>
          <p:cNvSpPr txBox="1"/>
          <p:nvPr/>
        </p:nvSpPr>
        <p:spPr>
          <a:xfrm>
            <a:off x="5669280" y="1417320"/>
            <a:ext cx="3657600" cy="274320"/>
          </a:xfrm>
          <a:prstGeom prst="rect">
            <a:avLst/>
          </a:prstGeom>
          <a:noFill/>
          <a:ln/>
        </p:spPr>
        <p:txBody>
          <a:bodyPr wrap="square" lIns="0" tIns="0" rIns="0" bIns="0" rtlCol="0" anchor="ctr"/>
          <a:lstStyle/>
          <a:p>
            <a:pPr indent="0" marL="0">
              <a:buNone/>
            </a:pPr>
            <a:r>
              <a:rPr lang="en-US" sz="1500" b="1" dirty="0">
                <a:solidFill>
                  <a:srgbClr val="1B2433"/>
                </a:solidFill>
                <a:latin typeface="Calibri" pitchFamily="34" charset="0"/>
                <a:ea typeface="Calibri" pitchFamily="34" charset="-122"/>
                <a:cs typeface="Calibri" pitchFamily="34" charset="-120"/>
              </a:rPr>
              <a:t>Security checks</a:t>
            </a:r>
            <a:endParaRPr lang="en-US" sz="15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669280" y="1783080"/>
          <a:ext cx="5971032" cy="914400"/>
        </p:xfrm>
        <a:graphic>
          <a:graphicData uri="http://schemas.openxmlformats.org/drawingml/2006/table">
            <a:tbl>
              <a:tblPr/>
              <a:tblGrid>
                <a:gridCol w="2011680"/>
                <a:gridCol w="2862072"/>
                <a:gridCol w="1097280"/>
              </a:tblGrid>
              <a:tr h="475488">
                <a:tc>
                  <a:txBody>
                    <a:bodyPr/>
                    <a:lstStyle/>
                    <a:p>
                      <a:pPr indent="0" marL="0">
                        <a:buNone/>
                      </a:pPr>
                      <a:r>
                        <a:rPr lang="en-US" sz="1250" b="1" dirty="0">
                          <a:solidFill>
                            <a:srgbClr val="3A4353"/>
                          </a:solidFill>
                          <a:latin typeface="Calibri" pitchFamily="34" charset="0"/>
                          <a:ea typeface="Calibri" pitchFamily="34" charset="-122"/>
                          <a:cs typeface="Calibri" pitchFamily="34" charset="-120"/>
                        </a:rPr>
                        <a:t>Risk</a:t>
                      </a:r>
                      <a:endParaRPr lang="en-US" sz="1250" dirty="0">
                        <a:latin typeface="Calibri" charset="0"/>
                        <a:ea typeface="Calibri" charset="0"/>
                        <a:cs typeface="Calibri" charset="0"/>
                      </a:endParaRPr>
                    </a:p>
                  </a:txBody>
                  <a:tcPr marL="0" marR="73152" marT="36576" marB="36576" anchor="ctr">
                    <a:lnL w="0" cap="flat" cmpd="sng" algn="ctr">
                      <a:noFill/>
                    </a:lnL>
                    <a:lnR w="0" cap="flat" cmpd="sng" algn="ctr">
                      <a:noFill/>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250" b="1" dirty="0">
                          <a:solidFill>
                            <a:srgbClr val="3A4353"/>
                          </a:solidFill>
                          <a:latin typeface="Calibri" pitchFamily="34" charset="0"/>
                          <a:ea typeface="Calibri" pitchFamily="34" charset="-122"/>
                          <a:cs typeface="Calibri" pitchFamily="34" charset="-120"/>
                        </a:rPr>
                        <a:t>What we do</a:t>
                      </a:r>
                      <a:endParaRPr lang="en-US" sz="1250" dirty="0">
                        <a:latin typeface="Calibri" charset="0"/>
                        <a:ea typeface="Calibri" charset="0"/>
                        <a:cs typeface="Calibri" charset="0"/>
                      </a:endParaRPr>
                    </a:p>
                  </a:txBody>
                  <a:tcPr marL="0" marR="73152" marT="36576" marB="36576" anchor="ctr">
                    <a:lnL w="0" cap="flat" cmpd="sng" algn="ctr">
                      <a:noFill/>
                    </a:lnL>
                    <a:lnR w="0" cap="flat" cmpd="sng" algn="ctr">
                      <a:noFill/>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endParaRPr lang="en-US" sz="1250" dirty="0">
                        <a:latin typeface="Calibri" charset="0"/>
                        <a:ea typeface="Calibri" charset="0"/>
                        <a:cs typeface="Calibri" charset="0"/>
                      </a:endParaRPr>
                    </a:p>
                  </a:txBody>
                  <a:tcPr marL="0" marR="73152" marT="36576" marB="36576" anchor="ctr">
                    <a:lnL w="0" cap="flat" cmpd="sng" algn="ctr">
                      <a:noFill/>
                    </a:lnL>
                    <a:lnR w="0" cap="flat" cmpd="sng" algn="ctr">
                      <a:noFill/>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r>
              <a:tr h="475488">
                <a:tc>
                  <a:txBody>
                    <a:bodyPr/>
                    <a:lstStyle/>
                    <a:p>
                      <a:pPr indent="0" marL="0">
                        <a:buNone/>
                      </a:pPr>
                      <a:r>
                        <a:rPr lang="en-US" sz="1250" dirty="0">
                          <a:solidFill>
                            <a:srgbClr val="1B2433"/>
                          </a:solidFill>
                          <a:latin typeface="Calibri" pitchFamily="34" charset="0"/>
                          <a:ea typeface="Calibri" pitchFamily="34" charset="-122"/>
                          <a:cs typeface="Calibri" pitchFamily="34" charset="-120"/>
                        </a:rPr>
                        <a:t>Old or repeated requests</a:t>
                      </a:r>
                      <a:endParaRPr lang="en-US" sz="1250" dirty="0">
                        <a:latin typeface="Calibri" charset="0"/>
                        <a:ea typeface="Calibri" charset="0"/>
                        <a:cs typeface="Calibri" charset="0"/>
                      </a:endParaRPr>
                    </a:p>
                  </a:txBody>
                  <a:tcPr marL="0" marR="73152" marT="36576" marB="36576" anchor="ctr">
                    <a:lnL w="0" cap="flat" cmpd="sng" algn="ctr">
                      <a:noFill/>
                    </a:lnL>
                    <a:lnR w="0" cap="flat" cmpd="sng" algn="ctr">
                      <a:noFill/>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250" dirty="0">
                          <a:solidFill>
                            <a:srgbClr val="3A4353"/>
                          </a:solidFill>
                          <a:latin typeface="Calibri" pitchFamily="34" charset="0"/>
                          <a:ea typeface="Calibri" pitchFamily="34" charset="-122"/>
                          <a:cs typeface="Calibri" pitchFamily="34" charset="-120"/>
                        </a:rPr>
                        <a:t>One-time nonce and a 15-second limit</a:t>
                      </a:r>
                      <a:endParaRPr lang="en-US" sz="1250" dirty="0">
                        <a:latin typeface="Calibri" charset="0"/>
                        <a:ea typeface="Calibri" charset="0"/>
                        <a:cs typeface="Calibri" charset="0"/>
                      </a:endParaRPr>
                    </a:p>
                  </a:txBody>
                  <a:tcPr marL="0" marR="73152" marT="36576" marB="36576" anchor="ctr">
                    <a:lnL w="0" cap="flat" cmpd="sng" algn="ctr">
                      <a:noFill/>
                    </a:lnL>
                    <a:lnR w="0" cap="flat" cmpd="sng" algn="ctr">
                      <a:noFill/>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endParaRPr lang="en-US" sz="1250" dirty="0">
                        <a:latin typeface="Calibri" charset="0"/>
                        <a:ea typeface="Calibri" charset="0"/>
                        <a:cs typeface="Calibri" charset="0"/>
                      </a:endParaRPr>
                    </a:p>
                  </a:txBody>
                  <a:tcPr marL="0" marR="73152" marT="36576" marB="36576" anchor="ctr">
                    <a:lnL w="0" cap="flat" cmpd="sng" algn="ctr">
                      <a:noFill/>
                    </a:lnL>
                    <a:lnR w="0" cap="flat" cmpd="sng" algn="ctr">
                      <a:noFill/>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r>
              <a:tr h="475488">
                <a:tc>
                  <a:txBody>
                    <a:bodyPr/>
                    <a:lstStyle/>
                    <a:p>
                      <a:pPr indent="0" marL="0">
                        <a:buNone/>
                      </a:pPr>
                      <a:r>
                        <a:rPr lang="en-US" sz="1250" dirty="0">
                          <a:solidFill>
                            <a:srgbClr val="1B2433"/>
                          </a:solidFill>
                          <a:latin typeface="Calibri" pitchFamily="34" charset="0"/>
                          <a:ea typeface="Calibri" pitchFamily="34" charset="-122"/>
                          <a:cs typeface="Calibri" pitchFamily="34" charset="-120"/>
                        </a:rPr>
                        <a:t>Extra or fake fields</a:t>
                      </a:r>
                      <a:endParaRPr lang="en-US" sz="1250" dirty="0">
                        <a:latin typeface="Calibri" charset="0"/>
                        <a:ea typeface="Calibri" charset="0"/>
                        <a:cs typeface="Calibri" charset="0"/>
                      </a:endParaRPr>
                    </a:p>
                  </a:txBody>
                  <a:tcPr marL="0" marR="73152" marT="36576" marB="36576" anchor="ctr">
                    <a:lnL w="0" cap="flat" cmpd="sng" algn="ctr">
                      <a:noFill/>
                    </a:lnL>
                    <a:lnR w="0" cap="flat" cmpd="sng" algn="ctr">
                      <a:noFill/>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250" dirty="0">
                          <a:solidFill>
                            <a:srgbClr val="3A4353"/>
                          </a:solidFill>
                          <a:latin typeface="Calibri" pitchFamily="34" charset="0"/>
                          <a:ea typeface="Calibri" pitchFamily="34" charset="-122"/>
                          <a:cs typeface="Calibri" pitchFamily="34" charset="-120"/>
                        </a:rPr>
                        <a:t>Only the 20 known signals are accepted</a:t>
                      </a:r>
                      <a:endParaRPr lang="en-US" sz="1250" dirty="0">
                        <a:latin typeface="Calibri" charset="0"/>
                        <a:ea typeface="Calibri" charset="0"/>
                        <a:cs typeface="Calibri" charset="0"/>
                      </a:endParaRPr>
                    </a:p>
                  </a:txBody>
                  <a:tcPr marL="0" marR="73152" marT="36576" marB="36576" anchor="ctr">
                    <a:lnL w="0" cap="flat" cmpd="sng" algn="ctr">
                      <a:noFill/>
                    </a:lnL>
                    <a:lnR w="0" cap="flat" cmpd="sng" algn="ctr">
                      <a:noFill/>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endParaRPr lang="en-US" sz="1250" dirty="0">
                        <a:latin typeface="Calibri" charset="0"/>
                        <a:ea typeface="Calibri" charset="0"/>
                        <a:cs typeface="Calibri" charset="0"/>
                      </a:endParaRPr>
                    </a:p>
                  </a:txBody>
                  <a:tcPr marL="0" marR="73152" marT="36576" marB="36576" anchor="ctr">
                    <a:lnL w="0" cap="flat" cmpd="sng" algn="ctr">
                      <a:noFill/>
                    </a:lnL>
                    <a:lnR w="0" cap="flat" cmpd="sng" algn="ctr">
                      <a:noFill/>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r>
              <a:tr h="475488">
                <a:tc>
                  <a:txBody>
                    <a:bodyPr/>
                    <a:lstStyle/>
                    <a:p>
                      <a:pPr indent="0" marL="0">
                        <a:buNone/>
                      </a:pPr>
                      <a:r>
                        <a:rPr lang="en-US" sz="1250" dirty="0">
                          <a:solidFill>
                            <a:srgbClr val="1B2433"/>
                          </a:solidFill>
                          <a:latin typeface="Calibri" pitchFamily="34" charset="0"/>
                          <a:ea typeface="Calibri" pitchFamily="34" charset="-122"/>
                          <a:cs typeface="Calibri" pitchFamily="34" charset="-120"/>
                        </a:rPr>
                        <a:t>Edited decision records</a:t>
                      </a:r>
                      <a:endParaRPr lang="en-US" sz="1250" dirty="0">
                        <a:latin typeface="Calibri" charset="0"/>
                        <a:ea typeface="Calibri" charset="0"/>
                        <a:cs typeface="Calibri" charset="0"/>
                      </a:endParaRPr>
                    </a:p>
                  </a:txBody>
                  <a:tcPr marL="0" marR="73152" marT="36576" marB="36576" anchor="ctr">
                    <a:lnL w="0" cap="flat" cmpd="sng" algn="ctr">
                      <a:noFill/>
                    </a:lnL>
                    <a:lnR w="0" cap="flat" cmpd="sng" algn="ctr">
                      <a:noFill/>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250" dirty="0">
                          <a:solidFill>
                            <a:srgbClr val="3A4353"/>
                          </a:solidFill>
                          <a:latin typeface="Calibri" pitchFamily="34" charset="0"/>
                          <a:ea typeface="Calibri" pitchFamily="34" charset="-122"/>
                          <a:cs typeface="Calibri" pitchFamily="34" charset="-120"/>
                        </a:rPr>
                        <a:t>Each record signed with HMAC-SHA256</a:t>
                      </a:r>
                      <a:endParaRPr lang="en-US" sz="1250" dirty="0">
                        <a:latin typeface="Calibri" charset="0"/>
                        <a:ea typeface="Calibri" charset="0"/>
                        <a:cs typeface="Calibri" charset="0"/>
                      </a:endParaRPr>
                    </a:p>
                  </a:txBody>
                  <a:tcPr marL="0" marR="73152" marT="36576" marB="36576" anchor="ctr">
                    <a:lnL w="0" cap="flat" cmpd="sng" algn="ctr">
                      <a:noFill/>
                    </a:lnL>
                    <a:lnR w="0" cap="flat" cmpd="sng" algn="ctr">
                      <a:noFill/>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endParaRPr lang="en-US" sz="1250" dirty="0">
                        <a:latin typeface="Calibri" charset="0"/>
                        <a:ea typeface="Calibri" charset="0"/>
                        <a:cs typeface="Calibri" charset="0"/>
                      </a:endParaRPr>
                    </a:p>
                  </a:txBody>
                  <a:tcPr marL="0" marR="73152" marT="36576" marB="36576" anchor="ctr">
                    <a:lnL w="0" cap="flat" cmpd="sng" algn="ctr">
                      <a:noFill/>
                    </a:lnL>
                    <a:lnR w="0" cap="flat" cmpd="sng" algn="ctr">
                      <a:noFill/>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r>
              <a:tr h="475488">
                <a:tc>
                  <a:txBody>
                    <a:bodyPr/>
                    <a:lstStyle/>
                    <a:p>
                      <a:pPr indent="0" marL="0">
                        <a:buNone/>
                      </a:pPr>
                      <a:r>
                        <a:rPr lang="en-US" sz="1250" dirty="0">
                          <a:solidFill>
                            <a:srgbClr val="1B2433"/>
                          </a:solidFill>
                          <a:latin typeface="Calibri" pitchFamily="34" charset="0"/>
                          <a:ea typeface="Calibri" pitchFamily="34" charset="-122"/>
                          <a:cs typeface="Calibri" pitchFamily="34" charset="-120"/>
                        </a:rPr>
                        <a:t>Fake or modified app</a:t>
                      </a:r>
                      <a:endParaRPr lang="en-US" sz="1250" dirty="0">
                        <a:latin typeface="Calibri" charset="0"/>
                        <a:ea typeface="Calibri" charset="0"/>
                        <a:cs typeface="Calibri" charset="0"/>
                      </a:endParaRPr>
                    </a:p>
                  </a:txBody>
                  <a:tcPr marL="0" marR="73152" marT="36576" marB="36576" anchor="ctr">
                    <a:lnL w="0" cap="flat" cmpd="sng" algn="ctr">
                      <a:noFill/>
                    </a:lnL>
                    <a:lnR w="0" cap="flat" cmpd="sng" algn="ctr">
                      <a:noFill/>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250" dirty="0">
                          <a:solidFill>
                            <a:srgbClr val="3A4353"/>
                          </a:solidFill>
                          <a:latin typeface="Calibri" pitchFamily="34" charset="0"/>
                          <a:ea typeface="Calibri" pitchFamily="34" charset="-122"/>
                          <a:cs typeface="Calibri" pitchFamily="34" charset="-120"/>
                        </a:rPr>
                        <a:t>Play Integrity token tied to a hash of the request</a:t>
                      </a:r>
                      <a:endParaRPr lang="en-US" sz="1250" dirty="0">
                        <a:latin typeface="Calibri" charset="0"/>
                        <a:ea typeface="Calibri" charset="0"/>
                        <a:cs typeface="Calibri" charset="0"/>
                      </a:endParaRPr>
                    </a:p>
                  </a:txBody>
                  <a:tcPr marL="0" marR="73152" marT="36576" marB="36576" anchor="ctr">
                    <a:lnL w="0" cap="flat" cmpd="sng" algn="ctr">
                      <a:noFill/>
                    </a:lnL>
                    <a:lnR w="0" cap="flat" cmpd="sng" algn="ctr">
                      <a:noFill/>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endParaRPr lang="en-US" sz="1250" dirty="0">
                        <a:latin typeface="Calibri" charset="0"/>
                        <a:ea typeface="Calibri" charset="0"/>
                        <a:cs typeface="Calibri" charset="0"/>
                      </a:endParaRPr>
                    </a:p>
                  </a:txBody>
                  <a:tcPr marL="0" marR="73152" marT="36576" marB="36576" anchor="ctr">
                    <a:lnL w="0" cap="flat" cmpd="sng" algn="ctr">
                      <a:noFill/>
                    </a:lnL>
                    <a:lnR w="0" cap="flat" cmpd="sng" algn="ctr">
                      <a:noFill/>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r>
              <a:tr h="475488">
                <a:tc>
                  <a:txBody>
                    <a:bodyPr/>
                    <a:lstStyle/>
                    <a:p>
                      <a:pPr indent="0" marL="0">
                        <a:buNone/>
                      </a:pPr>
                      <a:r>
                        <a:rPr lang="en-US" sz="1250" dirty="0">
                          <a:solidFill>
                            <a:srgbClr val="1B2433"/>
                          </a:solidFill>
                          <a:latin typeface="Calibri" pitchFamily="34" charset="0"/>
                          <a:ea typeface="Calibri" pitchFamily="34" charset="-122"/>
                          <a:cs typeface="Calibri" pitchFamily="34" charset="-120"/>
                        </a:rPr>
                        <a:t>Staff misuse</a:t>
                      </a:r>
                      <a:endParaRPr lang="en-US" sz="1250" dirty="0">
                        <a:latin typeface="Calibri" charset="0"/>
                        <a:ea typeface="Calibri" charset="0"/>
                        <a:cs typeface="Calibri" charset="0"/>
                      </a:endParaRPr>
                    </a:p>
                  </a:txBody>
                  <a:tcPr marL="0" marR="73152" marT="36576" marB="36576" anchor="ctr">
                    <a:lnL w="0" cap="flat" cmpd="sng" algn="ctr">
                      <a:noFill/>
                    </a:lnL>
                    <a:lnR w="0" cap="flat" cmpd="sng" algn="ctr">
                      <a:noFill/>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250" dirty="0">
                          <a:solidFill>
                            <a:srgbClr val="3A4353"/>
                          </a:solidFill>
                          <a:latin typeface="Calibri" pitchFamily="34" charset="0"/>
                          <a:ea typeface="Calibri" pitchFamily="34" charset="-122"/>
                          <a:cs typeface="Calibri" pitchFamily="34" charset="-120"/>
                        </a:rPr>
                        <a:t>Two approvers, both written into the record</a:t>
                      </a:r>
                      <a:endParaRPr lang="en-US" sz="1250" dirty="0">
                        <a:latin typeface="Calibri" charset="0"/>
                        <a:ea typeface="Calibri" charset="0"/>
                        <a:cs typeface="Calibri" charset="0"/>
                      </a:endParaRPr>
                    </a:p>
                  </a:txBody>
                  <a:tcPr marL="0" marR="73152" marT="36576" marB="36576" anchor="ctr">
                    <a:lnL w="0" cap="flat" cmpd="sng" algn="ctr">
                      <a:noFill/>
                    </a:lnL>
                    <a:lnR w="0" cap="flat" cmpd="sng" algn="ctr">
                      <a:noFill/>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endParaRPr lang="en-US" sz="1250" dirty="0">
                        <a:latin typeface="Calibri" charset="0"/>
                        <a:ea typeface="Calibri" charset="0"/>
                        <a:cs typeface="Calibri" charset="0"/>
                      </a:endParaRPr>
                    </a:p>
                  </a:txBody>
                  <a:tcPr marL="0" marR="73152" marT="36576" marB="36576" anchor="ctr">
                    <a:lnL w="0" cap="flat" cmpd="sng" algn="ctr">
                      <a:noFill/>
                    </a:lnL>
                    <a:lnR w="0" cap="flat" cmpd="sng" algn="ctr">
                      <a:noFill/>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r>
              <a:tr h="475488">
                <a:tc>
                  <a:txBody>
                    <a:bodyPr/>
                    <a:lstStyle/>
                    <a:p>
                      <a:pPr indent="0" marL="0">
                        <a:buNone/>
                      </a:pPr>
                      <a:r>
                        <a:rPr lang="en-US" sz="1250" dirty="0">
                          <a:solidFill>
                            <a:srgbClr val="1B2433"/>
                          </a:solidFill>
                          <a:latin typeface="Calibri" pitchFamily="34" charset="0"/>
                          <a:ea typeface="Calibri" pitchFamily="34" charset="-122"/>
                          <a:cs typeface="Calibri" pitchFamily="34" charset="-120"/>
                        </a:rPr>
                        <a:t>Record store leak</a:t>
                      </a:r>
                      <a:endParaRPr lang="en-US" sz="1250" dirty="0">
                        <a:latin typeface="Calibri" charset="0"/>
                        <a:ea typeface="Calibri" charset="0"/>
                        <a:cs typeface="Calibri" charset="0"/>
                      </a:endParaRPr>
                    </a:p>
                  </a:txBody>
                  <a:tcPr marL="0" marR="73152" marT="36576" marB="36576" anchor="ctr">
                    <a:lnL w="0" cap="flat" cmpd="sng" algn="ctr">
                      <a:noFill/>
                    </a:lnL>
                    <a:lnR w="0" cap="flat" cmpd="sng" algn="ctr">
                      <a:noFill/>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250" dirty="0">
                          <a:solidFill>
                            <a:srgbClr val="3A4353"/>
                          </a:solidFill>
                          <a:latin typeface="Calibri" pitchFamily="34" charset="0"/>
                          <a:ea typeface="Calibri" pitchFamily="34" charset="-122"/>
                          <a:cs typeface="Calibri" pitchFamily="34" charset="-120"/>
                        </a:rPr>
                        <a:t>No raw content in records; identity stored apart</a:t>
                      </a:r>
                      <a:endParaRPr lang="en-US" sz="1250" dirty="0">
                        <a:latin typeface="Calibri" charset="0"/>
                        <a:ea typeface="Calibri" charset="0"/>
                        <a:cs typeface="Calibri" charset="0"/>
                      </a:endParaRPr>
                    </a:p>
                  </a:txBody>
                  <a:tcPr marL="0" marR="73152" marT="36576" marB="36576" anchor="ctr">
                    <a:lnL w="0" cap="flat" cmpd="sng" algn="ctr">
                      <a:noFill/>
                    </a:lnL>
                    <a:lnR w="0" cap="flat" cmpd="sng" algn="ctr">
                      <a:noFill/>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endParaRPr lang="en-US" sz="1250" dirty="0">
                        <a:latin typeface="Calibri" charset="0"/>
                        <a:ea typeface="Calibri" charset="0"/>
                        <a:cs typeface="Calibri" charset="0"/>
                      </a:endParaRPr>
                    </a:p>
                  </a:txBody>
                  <a:tcPr marL="0" marR="73152" marT="36576" marB="36576" anchor="ctr">
                    <a:lnL w="0" cap="flat" cmpd="sng" algn="ctr">
                      <a:noFill/>
                    </a:lnL>
                    <a:lnR w="0" cap="flat" cmpd="sng" algn="ctr">
                      <a:noFill/>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r>
              <a:tr h="475488">
                <a:tc>
                  <a:txBody>
                    <a:bodyPr/>
                    <a:lstStyle/>
                    <a:p>
                      <a:pPr indent="0" marL="0">
                        <a:buNone/>
                      </a:pPr>
                      <a:r>
                        <a:rPr lang="en-US" sz="1250" dirty="0">
                          <a:solidFill>
                            <a:srgbClr val="1B2433"/>
                          </a:solidFill>
                          <a:latin typeface="Calibri" pitchFamily="34" charset="0"/>
                          <a:ea typeface="Calibri" pitchFamily="34" charset="-122"/>
                          <a:cs typeface="Calibri" pitchFamily="34" charset="-120"/>
                        </a:rPr>
                        <a:t>Poisoned labels</a:t>
                      </a:r>
                      <a:endParaRPr lang="en-US" sz="1250" dirty="0">
                        <a:latin typeface="Calibri" charset="0"/>
                        <a:ea typeface="Calibri" charset="0"/>
                        <a:cs typeface="Calibri" charset="0"/>
                      </a:endParaRPr>
                    </a:p>
                  </a:txBody>
                  <a:tcPr marL="0" marR="73152" marT="36576" marB="36576" anchor="ctr">
                    <a:lnL w="0" cap="flat" cmpd="sng" algn="ctr">
                      <a:noFill/>
                    </a:lnL>
                    <a:lnR w="0" cap="flat" cmpd="sng" algn="ctr">
                      <a:noFill/>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250" dirty="0">
                          <a:solidFill>
                            <a:srgbClr val="3A4353"/>
                          </a:solidFill>
                          <a:latin typeface="Calibri" pitchFamily="34" charset="0"/>
                          <a:ea typeface="Calibri" pitchFamily="34" charset="-122"/>
                          <a:cs typeface="Calibri" pitchFamily="34" charset="-120"/>
                        </a:rPr>
                        <a:t>Retrain only on bank-confirmed cases</a:t>
                      </a:r>
                      <a:endParaRPr lang="en-US" sz="1250" dirty="0">
                        <a:latin typeface="Calibri" charset="0"/>
                        <a:ea typeface="Calibri" charset="0"/>
                        <a:cs typeface="Calibri" charset="0"/>
                      </a:endParaRPr>
                    </a:p>
                  </a:txBody>
                  <a:tcPr marL="0" marR="73152" marT="36576" marB="36576" anchor="ctr">
                    <a:lnL w="0" cap="flat" cmpd="sng" algn="ctr">
                      <a:noFill/>
                    </a:lnL>
                    <a:lnR w="0" cap="flat" cmpd="sng" algn="ctr">
                      <a:noFill/>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endParaRPr lang="en-US" sz="1250" dirty="0">
                        <a:latin typeface="Calibri" charset="0"/>
                        <a:ea typeface="Calibri" charset="0"/>
                        <a:cs typeface="Calibri" charset="0"/>
                      </a:endParaRPr>
                    </a:p>
                  </a:txBody>
                  <a:tcPr marL="0" marR="73152" marT="36576" marB="36576" anchor="ctr">
                    <a:lnL w="0" cap="flat" cmpd="sng" algn="ctr">
                      <a:noFill/>
                    </a:lnL>
                    <a:lnR w="0" cap="flat" cmpd="sng" algn="ctr">
                      <a:noFill/>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r>
            </a:tbl>
          </a:graphicData>
        </a:graphic>
      </p:graphicFrame>
      <p:sp>
        <p:nvSpPr>
          <p:cNvPr id="32" name="Text 29"/>
          <p:cNvSpPr txBox="1"/>
          <p:nvPr/>
        </p:nvSpPr>
        <p:spPr>
          <a:xfrm>
            <a:off x="10634472" y="2377440"/>
            <a:ext cx="960120" cy="237744"/>
          </a:xfrm>
          <a:prstGeom prst="rect">
            <a:avLst/>
          </a:prstGeom>
          <a:noFill/>
          <a:ln w="9525">
            <a:solidFill>
              <a:srgbClr val="1B2433"/>
            </a:solidFill>
            <a:prstDash val="solid"/>
          </a:ln>
        </p:spPr>
        <p:txBody>
          <a:bodyPr wrap="square" lIns="0" tIns="0" rIns="0" bIns="0" rtlCol="0" anchor="ctr"/>
          <a:lstStyle/>
          <a:p>
            <a:pPr algn="ctr" indent="0" marL="0">
              <a:buNone/>
            </a:pPr>
            <a:r>
              <a:rPr lang="en-US" sz="1000" dirty="0">
                <a:solidFill>
                  <a:srgbClr val="1B2433"/>
                </a:solidFill>
                <a:latin typeface="Calibri" pitchFamily="34" charset="0"/>
                <a:ea typeface="Calibri" pitchFamily="34" charset="-122"/>
                <a:cs typeface="Calibri" pitchFamily="34" charset="-120"/>
              </a:rPr>
              <a:t>built</a:t>
            </a:r>
            <a:endParaRPr lang="en-US" sz="1000" dirty="0"/>
          </a:p>
        </p:txBody>
      </p:sp>
      <p:sp>
        <p:nvSpPr>
          <p:cNvPr id="33" name="Text 30"/>
          <p:cNvSpPr txBox="1"/>
          <p:nvPr/>
        </p:nvSpPr>
        <p:spPr>
          <a:xfrm>
            <a:off x="10634472" y="2852928"/>
            <a:ext cx="960120" cy="237744"/>
          </a:xfrm>
          <a:prstGeom prst="rect">
            <a:avLst/>
          </a:prstGeom>
          <a:noFill/>
          <a:ln w="9525">
            <a:solidFill>
              <a:srgbClr val="1B2433"/>
            </a:solidFill>
            <a:prstDash val="solid"/>
          </a:ln>
        </p:spPr>
        <p:txBody>
          <a:bodyPr wrap="square" lIns="0" tIns="0" rIns="0" bIns="0" rtlCol="0" anchor="ctr"/>
          <a:lstStyle/>
          <a:p>
            <a:pPr algn="ctr" indent="0" marL="0">
              <a:buNone/>
            </a:pPr>
            <a:r>
              <a:rPr lang="en-US" sz="1000" dirty="0">
                <a:solidFill>
                  <a:srgbClr val="1B2433"/>
                </a:solidFill>
                <a:latin typeface="Calibri" pitchFamily="34" charset="0"/>
                <a:ea typeface="Calibri" pitchFamily="34" charset="-122"/>
                <a:cs typeface="Calibri" pitchFamily="34" charset="-120"/>
              </a:rPr>
              <a:t>built</a:t>
            </a:r>
            <a:endParaRPr lang="en-US" sz="1000" dirty="0"/>
          </a:p>
        </p:txBody>
      </p:sp>
      <p:sp>
        <p:nvSpPr>
          <p:cNvPr id="34" name="Text 31"/>
          <p:cNvSpPr txBox="1"/>
          <p:nvPr/>
        </p:nvSpPr>
        <p:spPr>
          <a:xfrm>
            <a:off x="10634472" y="3328416"/>
            <a:ext cx="960120" cy="237744"/>
          </a:xfrm>
          <a:prstGeom prst="rect">
            <a:avLst/>
          </a:prstGeom>
          <a:noFill/>
          <a:ln w="9525">
            <a:solidFill>
              <a:srgbClr val="1B2433"/>
            </a:solidFill>
            <a:prstDash val="solid"/>
          </a:ln>
        </p:spPr>
        <p:txBody>
          <a:bodyPr wrap="square" lIns="0" tIns="0" rIns="0" bIns="0" rtlCol="0" anchor="ctr"/>
          <a:lstStyle/>
          <a:p>
            <a:pPr algn="ctr" indent="0" marL="0">
              <a:buNone/>
            </a:pPr>
            <a:r>
              <a:rPr lang="en-US" sz="1000" dirty="0">
                <a:solidFill>
                  <a:srgbClr val="1B2433"/>
                </a:solidFill>
                <a:latin typeface="Calibri" pitchFamily="34" charset="0"/>
                <a:ea typeface="Calibri" pitchFamily="34" charset="-122"/>
                <a:cs typeface="Calibri" pitchFamily="34" charset="-120"/>
              </a:rPr>
              <a:t>built</a:t>
            </a:r>
            <a:endParaRPr lang="en-US" sz="1000" dirty="0"/>
          </a:p>
        </p:txBody>
      </p:sp>
      <p:sp>
        <p:nvSpPr>
          <p:cNvPr id="35" name="Text 32"/>
          <p:cNvSpPr txBox="1"/>
          <p:nvPr/>
        </p:nvSpPr>
        <p:spPr>
          <a:xfrm>
            <a:off x="10634472" y="3803904"/>
            <a:ext cx="960120" cy="237744"/>
          </a:xfrm>
          <a:prstGeom prst="rect">
            <a:avLst/>
          </a:prstGeom>
          <a:noFill/>
          <a:ln w="9525">
            <a:solidFill>
              <a:srgbClr val="6E747E"/>
            </a:solidFill>
            <a:prstDash val="sysDot"/>
          </a:ln>
        </p:spPr>
        <p:txBody>
          <a:bodyPr wrap="square" lIns="0" tIns="0" rIns="0" bIns="0" rtlCol="0" anchor="ctr"/>
          <a:lstStyle/>
          <a:p>
            <a:pPr algn="ctr" indent="0" marL="0">
              <a:buNone/>
            </a:pPr>
            <a:r>
              <a:rPr lang="en-US" sz="1000" dirty="0">
                <a:solidFill>
                  <a:srgbClr val="6E747E"/>
                </a:solidFill>
                <a:latin typeface="Calibri" pitchFamily="34" charset="0"/>
                <a:ea typeface="Calibri" pitchFamily="34" charset="-122"/>
                <a:cs typeface="Calibri" pitchFamily="34" charset="-120"/>
              </a:rPr>
              <a:t>planned</a:t>
            </a:r>
            <a:endParaRPr lang="en-US" sz="1000" dirty="0"/>
          </a:p>
        </p:txBody>
      </p:sp>
      <p:sp>
        <p:nvSpPr>
          <p:cNvPr id="36" name="Text 33"/>
          <p:cNvSpPr txBox="1"/>
          <p:nvPr/>
        </p:nvSpPr>
        <p:spPr>
          <a:xfrm>
            <a:off x="10634472" y="4279392"/>
            <a:ext cx="960120" cy="237744"/>
          </a:xfrm>
          <a:prstGeom prst="rect">
            <a:avLst/>
          </a:prstGeom>
          <a:noFill/>
          <a:ln w="9525">
            <a:solidFill>
              <a:srgbClr val="6E747E"/>
            </a:solidFill>
            <a:prstDash val="sysDot"/>
          </a:ln>
        </p:spPr>
        <p:txBody>
          <a:bodyPr wrap="square" lIns="0" tIns="0" rIns="0" bIns="0" rtlCol="0" anchor="ctr"/>
          <a:lstStyle/>
          <a:p>
            <a:pPr algn="ctr" indent="0" marL="0">
              <a:buNone/>
            </a:pPr>
            <a:r>
              <a:rPr lang="en-US" sz="1000" dirty="0">
                <a:solidFill>
                  <a:srgbClr val="6E747E"/>
                </a:solidFill>
                <a:latin typeface="Calibri" pitchFamily="34" charset="0"/>
                <a:ea typeface="Calibri" pitchFamily="34" charset="-122"/>
                <a:cs typeface="Calibri" pitchFamily="34" charset="-120"/>
              </a:rPr>
              <a:t>planned</a:t>
            </a:r>
            <a:endParaRPr lang="en-US" sz="1000" dirty="0"/>
          </a:p>
        </p:txBody>
      </p:sp>
      <p:sp>
        <p:nvSpPr>
          <p:cNvPr id="37" name="Text 34"/>
          <p:cNvSpPr txBox="1"/>
          <p:nvPr/>
        </p:nvSpPr>
        <p:spPr>
          <a:xfrm>
            <a:off x="10634472" y="4754880"/>
            <a:ext cx="960120" cy="237744"/>
          </a:xfrm>
          <a:prstGeom prst="rect">
            <a:avLst/>
          </a:prstGeom>
          <a:noFill/>
          <a:ln w="9525">
            <a:solidFill>
              <a:srgbClr val="6E747E"/>
            </a:solidFill>
            <a:prstDash val="dash"/>
          </a:ln>
        </p:spPr>
        <p:txBody>
          <a:bodyPr wrap="square" lIns="0" tIns="0" rIns="0" bIns="0" rtlCol="0" anchor="ctr"/>
          <a:lstStyle/>
          <a:p>
            <a:pPr algn="ctr" indent="0" marL="0">
              <a:buNone/>
            </a:pPr>
            <a:r>
              <a:rPr lang="en-US" sz="1000" dirty="0">
                <a:solidFill>
                  <a:srgbClr val="6E747E"/>
                </a:solidFill>
                <a:latin typeface="Calibri" pitchFamily="34" charset="0"/>
                <a:ea typeface="Calibri" pitchFamily="34" charset="-122"/>
                <a:cs typeface="Calibri" pitchFamily="34" charset="-120"/>
              </a:rPr>
              <a:t>design only</a:t>
            </a:r>
            <a:endParaRPr lang="en-US" sz="1000" dirty="0"/>
          </a:p>
        </p:txBody>
      </p:sp>
      <p:sp>
        <p:nvSpPr>
          <p:cNvPr id="38" name="Text 35"/>
          <p:cNvSpPr txBox="1"/>
          <p:nvPr/>
        </p:nvSpPr>
        <p:spPr>
          <a:xfrm>
            <a:off x="10634472" y="5230368"/>
            <a:ext cx="960120" cy="237744"/>
          </a:xfrm>
          <a:prstGeom prst="rect">
            <a:avLst/>
          </a:prstGeom>
          <a:noFill/>
          <a:ln w="9525">
            <a:solidFill>
              <a:srgbClr val="6E747E"/>
            </a:solidFill>
            <a:prstDash val="dash"/>
          </a:ln>
        </p:spPr>
        <p:txBody>
          <a:bodyPr wrap="square" lIns="0" tIns="0" rIns="0" bIns="0" rtlCol="0" anchor="ctr"/>
          <a:lstStyle/>
          <a:p>
            <a:pPr algn="ctr" indent="0" marL="0">
              <a:buNone/>
            </a:pPr>
            <a:r>
              <a:rPr lang="en-US" sz="1000" dirty="0">
                <a:solidFill>
                  <a:srgbClr val="6E747E"/>
                </a:solidFill>
                <a:latin typeface="Calibri" pitchFamily="34" charset="0"/>
                <a:ea typeface="Calibri" pitchFamily="34" charset="-122"/>
                <a:cs typeface="Calibri" pitchFamily="34" charset="-120"/>
              </a:rPr>
              <a:t>design only</a:t>
            </a:r>
            <a:endParaRPr lang="en-US" sz="1000" dirty="0"/>
          </a:p>
        </p:txBody>
      </p:sp>
      <p:sp>
        <p:nvSpPr>
          <p:cNvPr id="39" name="Text 36"/>
          <p:cNvSpPr txBox="1"/>
          <p:nvPr/>
        </p:nvSpPr>
        <p:spPr>
          <a:xfrm>
            <a:off x="5669280" y="5715000"/>
            <a:ext cx="5943600" cy="548640"/>
          </a:xfrm>
          <a:prstGeom prst="rect">
            <a:avLst/>
          </a:prstGeom>
          <a:noFill/>
          <a:ln/>
        </p:spPr>
        <p:txBody>
          <a:bodyPr wrap="square" lIns="0" tIns="0" rIns="0" bIns="0" rtlCol="0" anchor="t"/>
          <a:lstStyle/>
          <a:p>
            <a:pPr indent="0" marL="0">
              <a:spcAft>
                <a:spcPts val="400"/>
              </a:spcAft>
              <a:buNone/>
            </a:pPr>
            <a:r>
              <a:rPr lang="en-US" sz="1200" dirty="0">
                <a:solidFill>
                  <a:srgbClr val="6E747E"/>
                </a:solidFill>
                <a:latin typeface="Calibri" pitchFamily="34" charset="0"/>
                <a:ea typeface="Calibri" pitchFamily="34" charset="-122"/>
                <a:cs typeface="Calibri" pitchFamily="34" charset="-120"/>
              </a:rPr>
              <a:t>If a customer complains about a hold, they quote the record ID on their screen and the bank can see exactly which signals caused it.</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5486400" cy="274320"/>
          </a:xfrm>
          <a:prstGeom prst="rect">
            <a:avLst/>
          </a:prstGeom>
          <a:noFill/>
          <a:ln/>
        </p:spPr>
        <p:txBody>
          <a:bodyPr wrap="square" lIns="0" tIns="0" rIns="0" bIns="0" rtlCol="0" anchor="ctr"/>
          <a:lstStyle/>
          <a:p>
            <a:pPr indent="0" marL="0">
              <a:buNone/>
            </a:pPr>
            <a:r>
              <a:rPr lang="en-US" sz="1100" dirty="0">
                <a:solidFill>
                  <a:srgbClr val="6E747E"/>
                </a:solidFill>
                <a:latin typeface="Calibri" pitchFamily="34" charset="0"/>
                <a:ea typeface="Calibri" pitchFamily="34" charset="-122"/>
                <a:cs typeface="Calibri" pitchFamily="34" charset="-120"/>
              </a:rPr>
              <a:t>12  ·  Rollout and cost</a:t>
            </a:r>
            <a:endParaRPr lang="en-US" sz="1100" dirty="0"/>
          </a:p>
        </p:txBody>
      </p:sp>
      <p:sp>
        <p:nvSpPr>
          <p:cNvPr id="3" name="Text 1"/>
          <p:cNvSpPr txBox="1"/>
          <p:nvPr/>
        </p:nvSpPr>
        <p:spPr>
          <a:xfrm>
            <a:off x="8899855" y="256032"/>
            <a:ext cx="2743200" cy="274320"/>
          </a:xfrm>
          <a:prstGeom prst="rect">
            <a:avLst/>
          </a:prstGeom>
          <a:noFill/>
          <a:ln/>
        </p:spPr>
        <p:txBody>
          <a:bodyPr wrap="square" lIns="0" tIns="0" rIns="0" bIns="0" rtlCol="0" anchor="ctr"/>
          <a:lstStyle/>
          <a:p>
            <a:pPr algn="r" indent="0" marL="0">
              <a:buNone/>
            </a:pPr>
            <a:r>
              <a:rPr lang="en-US" sz="1100" dirty="0">
                <a:solidFill>
                  <a:srgbClr val="6E747E"/>
                </a:solidFill>
                <a:latin typeface="Calibri" pitchFamily="34" charset="0"/>
                <a:ea typeface="Calibri" pitchFamily="34" charset="-122"/>
                <a:cs typeface="Calibri" pitchFamily="34" charset="-120"/>
              </a:rPr>
              <a:t>Chakravyuh</a:t>
            </a:r>
            <a:endParaRPr lang="en-US" sz="1100" dirty="0"/>
          </a:p>
        </p:txBody>
      </p:sp>
      <p:sp>
        <p:nvSpPr>
          <p:cNvPr id="4" name="Text 2"/>
          <p:cNvSpPr txBox="1"/>
          <p:nvPr/>
        </p:nvSpPr>
        <p:spPr>
          <a:xfrm>
            <a:off x="9814255" y="6446520"/>
            <a:ext cx="1828800" cy="228600"/>
          </a:xfrm>
          <a:prstGeom prst="rect">
            <a:avLst/>
          </a:prstGeom>
          <a:noFill/>
          <a:ln/>
        </p:spPr>
        <p:txBody>
          <a:bodyPr wrap="square" lIns="0" tIns="0" rIns="0" bIns="0" rtlCol="0" anchor="ctr"/>
          <a:lstStyle/>
          <a:p>
            <a:pPr algn="r" indent="0" marL="0">
              <a:buNone/>
            </a:pPr>
            <a:r>
              <a:rPr lang="en-US" sz="1000" dirty="0">
                <a:solidFill>
                  <a:srgbClr val="6E747E"/>
                </a:solidFill>
                <a:latin typeface="Calibri" pitchFamily="34" charset="0"/>
                <a:ea typeface="Calibri" pitchFamily="34" charset="-122"/>
                <a:cs typeface="Calibri" pitchFamily="34" charset="-120"/>
              </a:rPr>
              <a:t>13 / 16</a:t>
            </a:r>
            <a:endParaRPr lang="en-US" sz="1000" dirty="0"/>
          </a:p>
        </p:txBody>
      </p:sp>
      <p:sp>
        <p:nvSpPr>
          <p:cNvPr id="5" name="Text 3"/>
          <p:cNvSpPr txBox="1"/>
          <p:nvPr/>
        </p:nvSpPr>
        <p:spPr>
          <a:xfrm>
            <a:off x="548640" y="640080"/>
            <a:ext cx="11094415" cy="731520"/>
          </a:xfrm>
          <a:prstGeom prst="rect">
            <a:avLst/>
          </a:prstGeom>
          <a:noFill/>
          <a:ln/>
        </p:spPr>
        <p:txBody>
          <a:bodyPr wrap="square" lIns="0" tIns="0" rIns="0" bIns="0" rtlCol="0" anchor="t"/>
          <a:lstStyle/>
          <a:p>
            <a:pPr indent="0" marL="0">
              <a:buNone/>
            </a:pPr>
            <a:r>
              <a:rPr lang="en-US" sz="3400" b="1" dirty="0">
                <a:solidFill>
                  <a:srgbClr val="1B2433"/>
                </a:solidFill>
                <a:latin typeface="Cambria" pitchFamily="34" charset="0"/>
                <a:ea typeface="Cambria" pitchFamily="34" charset="-122"/>
                <a:cs typeface="Cambria" pitchFamily="34" charset="-120"/>
              </a:rPr>
              <a:t>Rollout plan and cost estimates</a:t>
            </a:r>
            <a:endParaRPr lang="en-US" sz="3400" dirty="0"/>
          </a:p>
        </p:txBody>
      </p:sp>
      <p:sp>
        <p:nvSpPr>
          <p:cNvPr id="6" name="Text 4"/>
          <p:cNvSpPr txBox="1"/>
          <p:nvPr/>
        </p:nvSpPr>
        <p:spPr>
          <a:xfrm>
            <a:off x="548640" y="1554480"/>
            <a:ext cx="1371600" cy="274320"/>
          </a:xfrm>
          <a:prstGeom prst="rect">
            <a:avLst/>
          </a:prstGeom>
          <a:noFill/>
          <a:ln/>
        </p:spPr>
        <p:txBody>
          <a:bodyPr wrap="square" lIns="0" tIns="0" rIns="0" bIns="0" rtlCol="0" anchor="ctr"/>
          <a:lstStyle/>
          <a:p>
            <a:pPr indent="0" marL="0">
              <a:buNone/>
            </a:pPr>
            <a:r>
              <a:rPr lang="en-US" sz="1300" b="1" dirty="0">
                <a:solidFill>
                  <a:srgbClr val="D9480F"/>
                </a:solidFill>
                <a:latin typeface="Calibri" pitchFamily="34" charset="0"/>
                <a:ea typeface="Calibri" pitchFamily="34" charset="-122"/>
                <a:cs typeface="Calibri" pitchFamily="34" charset="-120"/>
              </a:rPr>
              <a:t>Weeks 0–6</a:t>
            </a:r>
            <a:endParaRPr lang="en-US" sz="1300" dirty="0"/>
          </a:p>
        </p:txBody>
      </p:sp>
      <p:sp>
        <p:nvSpPr>
          <p:cNvPr id="7" name="Text 5"/>
          <p:cNvSpPr txBox="1"/>
          <p:nvPr/>
        </p:nvSpPr>
        <p:spPr>
          <a:xfrm>
            <a:off x="2011680" y="1554480"/>
            <a:ext cx="3474720" cy="274320"/>
          </a:xfrm>
          <a:prstGeom prst="rect">
            <a:avLst/>
          </a:prstGeom>
          <a:noFill/>
          <a:ln/>
        </p:spPr>
        <p:txBody>
          <a:bodyPr wrap="square" lIns="0" tIns="0" rIns="0" bIns="0" rtlCol="0" anchor="ctr"/>
          <a:lstStyle/>
          <a:p>
            <a:pPr indent="0" marL="0">
              <a:buNone/>
            </a:pPr>
            <a:r>
              <a:rPr lang="en-US" sz="1600" b="1" dirty="0">
                <a:solidFill>
                  <a:srgbClr val="1B2433"/>
                </a:solidFill>
                <a:latin typeface="Calibri" pitchFamily="34" charset="0"/>
                <a:ea typeface="Calibri" pitchFamily="34" charset="-122"/>
                <a:cs typeface="Calibri" pitchFamily="34" charset="-120"/>
              </a:rPr>
              <a:t>Shadow mode</a:t>
            </a:r>
            <a:endParaRPr lang="en-US" sz="1600" dirty="0"/>
          </a:p>
        </p:txBody>
      </p:sp>
      <p:sp>
        <p:nvSpPr>
          <p:cNvPr id="8" name="Text 6"/>
          <p:cNvSpPr txBox="1"/>
          <p:nvPr/>
        </p:nvSpPr>
        <p:spPr>
          <a:xfrm>
            <a:off x="2011680" y="1874520"/>
            <a:ext cx="3566160" cy="685800"/>
          </a:xfrm>
          <a:prstGeom prst="rect">
            <a:avLst/>
          </a:prstGeom>
          <a:noFill/>
          <a:ln/>
        </p:spPr>
        <p:txBody>
          <a:bodyPr wrap="square" lIns="0" tIns="0" rIns="0" bIns="0" rtlCol="0" anchor="t"/>
          <a:lstStyle/>
          <a:p>
            <a:pPr indent="0" marL="0">
              <a:spcAft>
                <a:spcPts val="400"/>
              </a:spcAft>
              <a:buNone/>
            </a:pPr>
            <a:r>
              <a:rPr lang="en-US" sz="1300" dirty="0">
                <a:solidFill>
                  <a:srgbClr val="3A4353"/>
                </a:solidFill>
                <a:latin typeface="Calibri" pitchFamily="34" charset="0"/>
                <a:ea typeface="Calibri" pitchFamily="34" charset="-122"/>
                <a:cs typeface="Calibri" pitchFamily="34" charset="-120"/>
              </a:rPr>
              <a:t>Score real payments but show nothing. Measure the alert rate and reset thresholds.</a:t>
            </a:r>
            <a:endParaRPr lang="en-US" sz="1300" dirty="0"/>
          </a:p>
        </p:txBody>
      </p:sp>
      <p:sp>
        <p:nvSpPr>
          <p:cNvPr id="9" name="Text 7"/>
          <p:cNvSpPr txBox="1"/>
          <p:nvPr/>
        </p:nvSpPr>
        <p:spPr>
          <a:xfrm>
            <a:off x="548640" y="2651760"/>
            <a:ext cx="1371600" cy="274320"/>
          </a:xfrm>
          <a:prstGeom prst="rect">
            <a:avLst/>
          </a:prstGeom>
          <a:noFill/>
          <a:ln/>
        </p:spPr>
        <p:txBody>
          <a:bodyPr wrap="square" lIns="0" tIns="0" rIns="0" bIns="0" rtlCol="0" anchor="ctr"/>
          <a:lstStyle/>
          <a:p>
            <a:pPr indent="0" marL="0">
              <a:buNone/>
            </a:pPr>
            <a:r>
              <a:rPr lang="en-US" sz="1300" b="1" dirty="0">
                <a:solidFill>
                  <a:srgbClr val="D9480F"/>
                </a:solidFill>
                <a:latin typeface="Calibri" pitchFamily="34" charset="0"/>
                <a:ea typeface="Calibri" pitchFamily="34" charset="-122"/>
                <a:cs typeface="Calibri" pitchFamily="34" charset="-120"/>
              </a:rPr>
              <a:t>Weeks 6–10</a:t>
            </a:r>
            <a:endParaRPr lang="en-US" sz="1300" dirty="0"/>
          </a:p>
        </p:txBody>
      </p:sp>
      <p:sp>
        <p:nvSpPr>
          <p:cNvPr id="10" name="Text 8"/>
          <p:cNvSpPr txBox="1"/>
          <p:nvPr/>
        </p:nvSpPr>
        <p:spPr>
          <a:xfrm>
            <a:off x="2011680" y="2651760"/>
            <a:ext cx="3474720" cy="274320"/>
          </a:xfrm>
          <a:prstGeom prst="rect">
            <a:avLst/>
          </a:prstGeom>
          <a:noFill/>
          <a:ln/>
        </p:spPr>
        <p:txBody>
          <a:bodyPr wrap="square" lIns="0" tIns="0" rIns="0" bIns="0" rtlCol="0" anchor="ctr"/>
          <a:lstStyle/>
          <a:p>
            <a:pPr indent="0" marL="0">
              <a:buNone/>
            </a:pPr>
            <a:r>
              <a:rPr lang="en-US" sz="1600" b="1" dirty="0">
                <a:solidFill>
                  <a:srgbClr val="1B2433"/>
                </a:solidFill>
                <a:latin typeface="Calibri" pitchFamily="34" charset="0"/>
                <a:ea typeface="Calibri" pitchFamily="34" charset="-122"/>
                <a:cs typeface="Calibri" pitchFamily="34" charset="-120"/>
              </a:rPr>
              <a:t>Levels 1 and 2</a:t>
            </a:r>
            <a:endParaRPr lang="en-US" sz="1600" dirty="0"/>
          </a:p>
        </p:txBody>
      </p:sp>
      <p:sp>
        <p:nvSpPr>
          <p:cNvPr id="11" name="Text 9"/>
          <p:cNvSpPr txBox="1"/>
          <p:nvPr/>
        </p:nvSpPr>
        <p:spPr>
          <a:xfrm>
            <a:off x="2011680" y="2971800"/>
            <a:ext cx="3566160" cy="685800"/>
          </a:xfrm>
          <a:prstGeom prst="rect">
            <a:avLst/>
          </a:prstGeom>
          <a:noFill/>
          <a:ln/>
        </p:spPr>
        <p:txBody>
          <a:bodyPr wrap="square" lIns="0" tIns="0" rIns="0" bIns="0" rtlCol="0" anchor="t"/>
          <a:lstStyle/>
          <a:p>
            <a:pPr indent="0" marL="0">
              <a:spcAft>
                <a:spcPts val="400"/>
              </a:spcAft>
              <a:buNone/>
            </a:pPr>
            <a:r>
              <a:rPr lang="en-US" sz="1300" dirty="0">
                <a:solidFill>
                  <a:srgbClr val="3A4353"/>
                </a:solidFill>
                <a:latin typeface="Calibri" pitchFamily="34" charset="0"/>
                <a:ea typeface="Calibri" pitchFamily="34" charset="-122"/>
                <a:cs typeface="Calibri" pitchFamily="34" charset="-120"/>
              </a:rPr>
              <a:t>Customers who opt in, and large payments to individuals. Move on only if alerts stay within the limit.</a:t>
            </a:r>
            <a:endParaRPr lang="en-US" sz="1300" dirty="0"/>
          </a:p>
        </p:txBody>
      </p:sp>
      <p:sp>
        <p:nvSpPr>
          <p:cNvPr id="12" name="Text 10"/>
          <p:cNvSpPr txBox="1"/>
          <p:nvPr/>
        </p:nvSpPr>
        <p:spPr>
          <a:xfrm>
            <a:off x="548640" y="3749040"/>
            <a:ext cx="1371600" cy="274320"/>
          </a:xfrm>
          <a:prstGeom prst="rect">
            <a:avLst/>
          </a:prstGeom>
          <a:noFill/>
          <a:ln/>
        </p:spPr>
        <p:txBody>
          <a:bodyPr wrap="square" lIns="0" tIns="0" rIns="0" bIns="0" rtlCol="0" anchor="ctr"/>
          <a:lstStyle/>
          <a:p>
            <a:pPr indent="0" marL="0">
              <a:buNone/>
            </a:pPr>
            <a:r>
              <a:rPr lang="en-US" sz="1300" b="1" dirty="0">
                <a:solidFill>
                  <a:srgbClr val="D9480F"/>
                </a:solidFill>
                <a:latin typeface="Calibri" pitchFamily="34" charset="0"/>
                <a:ea typeface="Calibri" pitchFamily="34" charset="-122"/>
                <a:cs typeface="Calibri" pitchFamily="34" charset="-120"/>
              </a:rPr>
              <a:t>From week 10</a:t>
            </a:r>
            <a:endParaRPr lang="en-US" sz="1300" dirty="0"/>
          </a:p>
        </p:txBody>
      </p:sp>
      <p:sp>
        <p:nvSpPr>
          <p:cNvPr id="13" name="Text 11"/>
          <p:cNvSpPr txBox="1"/>
          <p:nvPr/>
        </p:nvSpPr>
        <p:spPr>
          <a:xfrm>
            <a:off x="2011680" y="3749040"/>
            <a:ext cx="3474720" cy="274320"/>
          </a:xfrm>
          <a:prstGeom prst="rect">
            <a:avLst/>
          </a:prstGeom>
          <a:noFill/>
          <a:ln/>
        </p:spPr>
        <p:txBody>
          <a:bodyPr wrap="square" lIns="0" tIns="0" rIns="0" bIns="0" rtlCol="0" anchor="ctr"/>
          <a:lstStyle/>
          <a:p>
            <a:pPr indent="0" marL="0">
              <a:buNone/>
            </a:pPr>
            <a:r>
              <a:rPr lang="en-US" sz="1600" b="1" dirty="0">
                <a:solidFill>
                  <a:srgbClr val="1B2433"/>
                </a:solidFill>
                <a:latin typeface="Calibri" pitchFamily="34" charset="0"/>
                <a:ea typeface="Calibri" pitchFamily="34" charset="-122"/>
                <a:cs typeface="Calibri" pitchFamily="34" charset="-120"/>
              </a:rPr>
              <a:t>Level 3</a:t>
            </a:r>
            <a:endParaRPr lang="en-US" sz="1600" dirty="0"/>
          </a:p>
        </p:txBody>
      </p:sp>
      <p:sp>
        <p:nvSpPr>
          <p:cNvPr id="14" name="Text 12"/>
          <p:cNvSpPr txBox="1"/>
          <p:nvPr/>
        </p:nvSpPr>
        <p:spPr>
          <a:xfrm>
            <a:off x="2011680" y="4069080"/>
            <a:ext cx="3566160" cy="685800"/>
          </a:xfrm>
          <a:prstGeom prst="rect">
            <a:avLst/>
          </a:prstGeom>
          <a:noFill/>
          <a:ln/>
        </p:spPr>
        <p:txBody>
          <a:bodyPr wrap="square" lIns="0" tIns="0" rIns="0" bIns="0" rtlCol="0" anchor="t"/>
          <a:lstStyle/>
          <a:p>
            <a:pPr indent="0" marL="0">
              <a:spcAft>
                <a:spcPts val="400"/>
              </a:spcAft>
              <a:buNone/>
            </a:pPr>
            <a:r>
              <a:rPr lang="en-US" sz="1300" dirty="0">
                <a:solidFill>
                  <a:srgbClr val="3A4353"/>
                </a:solidFill>
                <a:latin typeface="Calibri" pitchFamily="34" charset="0"/>
                <a:ea typeface="Calibri" pitchFamily="34" charset="-122"/>
                <a:cs typeface="Calibri" pitchFamily="34" charset="-120"/>
              </a:rPr>
              <a:t>Payment holds with agent review and two-person release.</a:t>
            </a:r>
            <a:endParaRPr lang="en-US" sz="1300" dirty="0"/>
          </a:p>
        </p:txBody>
      </p:sp>
      <p:sp>
        <p:nvSpPr>
          <p:cNvPr id="15" name="Text 13"/>
          <p:cNvSpPr txBox="1"/>
          <p:nvPr/>
        </p:nvSpPr>
        <p:spPr>
          <a:xfrm>
            <a:off x="548640" y="4892040"/>
            <a:ext cx="2743200" cy="274320"/>
          </a:xfrm>
          <a:prstGeom prst="rect">
            <a:avLst/>
          </a:prstGeom>
          <a:noFill/>
          <a:ln/>
        </p:spPr>
        <p:txBody>
          <a:bodyPr wrap="square" lIns="0" tIns="0" rIns="0" bIns="0" rtlCol="0" anchor="ctr"/>
          <a:lstStyle/>
          <a:p>
            <a:pPr indent="0" marL="0">
              <a:buNone/>
            </a:pPr>
            <a:r>
              <a:rPr lang="en-US" sz="1400" b="1" dirty="0">
                <a:solidFill>
                  <a:srgbClr val="1B2433"/>
                </a:solidFill>
                <a:latin typeface="Calibri" pitchFamily="34" charset="0"/>
                <a:ea typeface="Calibri" pitchFamily="34" charset="-122"/>
                <a:cs typeface="Calibri" pitchFamily="34" charset="-120"/>
              </a:rPr>
              <a:t>Speed</a:t>
            </a:r>
            <a:endParaRPr lang="en-US" sz="1400" dirty="0"/>
          </a:p>
        </p:txBody>
      </p:sp>
      <p:sp>
        <p:nvSpPr>
          <p:cNvPr id="16" name="Text 14"/>
          <p:cNvSpPr txBox="1"/>
          <p:nvPr/>
        </p:nvSpPr>
        <p:spPr>
          <a:xfrm>
            <a:off x="548640" y="5166360"/>
            <a:ext cx="4937760" cy="822960"/>
          </a:xfrm>
          <a:prstGeom prst="rect">
            <a:avLst/>
          </a:prstGeom>
          <a:noFill/>
          <a:ln/>
        </p:spPr>
        <p:txBody>
          <a:bodyPr wrap="square" lIns="0" tIns="0" rIns="0" bIns="0" rtlCol="0" anchor="t"/>
          <a:lstStyle/>
          <a:p>
            <a:pPr indent="0" marL="0">
              <a:spcAft>
                <a:spcPts val="400"/>
              </a:spcAft>
              <a:buNone/>
            </a:pPr>
            <a:r>
              <a:rPr lang="en-US" sz="1300" dirty="0">
                <a:solidFill>
                  <a:srgbClr val="3A4353"/>
                </a:solidFill>
                <a:latin typeface="Calibri" pitchFamily="34" charset="0"/>
                <a:ea typeface="Calibri" pitchFamily="34" charset="-122"/>
                <a:cs typeface="Calibri" pitchFamily="34" charset="-120"/>
              </a:rPr>
              <a:t>Scoring takes about 23 µs per session on our machine. We aim for under 40 ms for the full round trip from the phone, but have not measured it.</a:t>
            </a:r>
            <a:endParaRPr lang="en-US" sz="1300" dirty="0"/>
          </a:p>
        </p:txBody>
      </p:sp>
      <p:sp>
        <p:nvSpPr>
          <p:cNvPr id="17" name="Shape 15"/>
          <p:cNvSpPr/>
          <p:nvPr/>
        </p:nvSpPr>
        <p:spPr>
          <a:xfrm>
            <a:off x="6035040" y="1417320"/>
            <a:ext cx="5605272" cy="4892040"/>
          </a:xfrm>
          <a:prstGeom prst="rect">
            <a:avLst/>
          </a:prstGeom>
          <a:solidFill>
            <a:srgbClr val="F3F4F6"/>
          </a:solidFill>
          <a:ln w="12700">
            <a:solidFill>
              <a:srgbClr val="F3F4F6"/>
            </a:solidFill>
            <a:prstDash val="solid"/>
          </a:ln>
        </p:spPr>
      </p:sp>
      <p:sp>
        <p:nvSpPr>
          <p:cNvPr id="18" name="Text 16"/>
          <p:cNvSpPr txBox="1"/>
          <p:nvPr/>
        </p:nvSpPr>
        <p:spPr>
          <a:xfrm>
            <a:off x="6309360" y="1572768"/>
            <a:ext cx="5120640" cy="274320"/>
          </a:xfrm>
          <a:prstGeom prst="rect">
            <a:avLst/>
          </a:prstGeom>
          <a:noFill/>
          <a:ln/>
        </p:spPr>
        <p:txBody>
          <a:bodyPr wrap="square" lIns="0" tIns="0" rIns="0" bIns="0" rtlCol="0" anchor="ctr"/>
          <a:lstStyle/>
          <a:p>
            <a:pPr indent="0" marL="0">
              <a:buNone/>
            </a:pPr>
            <a:r>
              <a:rPr lang="en-US" sz="1300" i="1" dirty="0">
                <a:solidFill>
                  <a:srgbClr val="D9480F"/>
                </a:solidFill>
                <a:latin typeface="Calibri" pitchFamily="34" charset="0"/>
                <a:ea typeface="Calibri" pitchFamily="34" charset="-122"/>
                <a:cs typeface="Calibri" pitchFamily="34" charset="-120"/>
              </a:rPr>
              <a:t>Estimates based on assumptions, not measured results</a:t>
            </a:r>
            <a:endParaRPr lang="en-US" sz="1300" dirty="0"/>
          </a:p>
        </p:txBody>
      </p:sp>
      <p:sp>
        <p:nvSpPr>
          <p:cNvPr id="19" name="Text 17"/>
          <p:cNvSpPr txBox="1"/>
          <p:nvPr/>
        </p:nvSpPr>
        <p:spPr>
          <a:xfrm>
            <a:off x="6309360" y="2011680"/>
            <a:ext cx="5120640" cy="274320"/>
          </a:xfrm>
          <a:prstGeom prst="rect">
            <a:avLst/>
          </a:prstGeom>
          <a:noFill/>
          <a:ln/>
        </p:spPr>
        <p:txBody>
          <a:bodyPr wrap="square" lIns="0" tIns="0" rIns="0" bIns="0" rtlCol="0" anchor="ctr"/>
          <a:lstStyle/>
          <a:p>
            <a:pPr indent="0" marL="0">
              <a:buNone/>
            </a:pPr>
            <a:r>
              <a:rPr lang="en-US" sz="1400" b="1" dirty="0">
                <a:solidFill>
                  <a:srgbClr val="1B2433"/>
                </a:solidFill>
                <a:latin typeface="Calibri" pitchFamily="34" charset="0"/>
                <a:ea typeface="Calibri" pitchFamily="34" charset="-122"/>
                <a:cs typeface="Calibri" pitchFamily="34" charset="-120"/>
              </a:rPr>
              <a:t>Most that could be saved per year</a:t>
            </a:r>
            <a:endParaRPr lang="en-US" sz="14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6309360" y="2331720"/>
          <a:ext cx="5074920" cy="914400"/>
        </p:xfrm>
        <a:graphic>
          <a:graphicData uri="http://schemas.openxmlformats.org/drawingml/2006/table">
            <a:tbl>
              <a:tblPr/>
              <a:tblGrid>
                <a:gridCol w="3657600"/>
                <a:gridCol w="1417320"/>
              </a:tblGrid>
              <a:tr h="329184">
                <a:tc>
                  <a:txBody>
                    <a:bodyPr/>
                    <a:lstStyle/>
                    <a:p>
                      <a:pPr indent="0" marL="0">
                        <a:buNone/>
                      </a:pPr>
                      <a:r>
                        <a:rPr lang="en-US" sz="1250" dirty="0">
                          <a:solidFill>
                            <a:srgbClr val="3A4353"/>
                          </a:solidFill>
                          <a:latin typeface="Calibri" pitchFamily="34" charset="0"/>
                          <a:ea typeface="Calibri" pitchFamily="34" charset="-122"/>
                          <a:cs typeface="Calibri" pitchFamily="34" charset="-120"/>
                        </a:rPr>
                        <a:t>National reported loss, 2024 (MHA)</a:t>
                      </a:r>
                      <a:endParaRPr lang="en-US" sz="1250" dirty="0">
                        <a:latin typeface="Calibri" charset="0"/>
                        <a:ea typeface="Calibri" charset="0"/>
                        <a:cs typeface="Calibri" charset="0"/>
                      </a:endParaRPr>
                    </a:p>
                  </a:txBody>
                  <a:tcPr marL="0" marR="18288" marT="27432" marB="27432">
                    <a:lnL w="0" cap="flat" cmpd="sng" algn="ctr">
                      <a:noFill/>
                    </a:lnL>
                    <a:lnR w="0" cap="flat" cmpd="sng" algn="ctr">
                      <a:noFill/>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r" indent="0" marL="0">
                        <a:buNone/>
                      </a:pPr>
                      <a:r>
                        <a:rPr lang="en-US" sz="1250" dirty="0">
                          <a:solidFill>
                            <a:srgbClr val="1B2433"/>
                          </a:solidFill>
                          <a:latin typeface="Calibri" pitchFamily="34" charset="0"/>
                          <a:ea typeface="Calibri" pitchFamily="34" charset="-122"/>
                          <a:cs typeface="Calibri" pitchFamily="34" charset="-120"/>
                        </a:rPr>
                        <a:t>₹22,845 cr</a:t>
                      </a:r>
                      <a:endParaRPr lang="en-US" sz="1250" dirty="0">
                        <a:latin typeface="Calibri" charset="0"/>
                        <a:ea typeface="Calibri" charset="0"/>
                        <a:cs typeface="Calibri" charset="0"/>
                      </a:endParaRPr>
                    </a:p>
                  </a:txBody>
                  <a:tcPr marL="0" marR="18288" marT="27432" marB="27432">
                    <a:lnL w="0" cap="flat" cmpd="sng" algn="ctr">
                      <a:noFill/>
                    </a:lnL>
                    <a:lnR w="0" cap="flat" cmpd="sng" algn="ctr">
                      <a:noFill/>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r>
              <a:tr h="329184">
                <a:tc>
                  <a:txBody>
                    <a:bodyPr/>
                    <a:lstStyle/>
                    <a:p>
                      <a:pPr indent="0" marL="0">
                        <a:buNone/>
                      </a:pPr>
                      <a:r>
                        <a:rPr lang="en-US" sz="1250" dirty="0">
                          <a:solidFill>
                            <a:srgbClr val="3A4353"/>
                          </a:solidFill>
                          <a:latin typeface="Calibri" pitchFamily="34" charset="0"/>
                          <a:ea typeface="Calibri" pitchFamily="34" charset="-122"/>
                          <a:cs typeface="Calibri" pitchFamily="34" charset="-120"/>
                        </a:rPr>
                        <a:t>× share for one pilot bank (our assumption)</a:t>
                      </a:r>
                      <a:endParaRPr lang="en-US" sz="1250" dirty="0">
                        <a:latin typeface="Calibri" charset="0"/>
                        <a:ea typeface="Calibri" charset="0"/>
                        <a:cs typeface="Calibri" charset="0"/>
                      </a:endParaRPr>
                    </a:p>
                  </a:txBody>
                  <a:tcPr marL="0" marR="18288" marT="27432" marB="27432">
                    <a:lnL w="0" cap="flat" cmpd="sng" algn="ctr">
                      <a:noFill/>
                    </a:lnL>
                    <a:lnR w="0" cap="flat" cmpd="sng" algn="ctr">
                      <a:noFill/>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r" indent="0" marL="0">
                        <a:buNone/>
                      </a:pPr>
                      <a:r>
                        <a:rPr lang="en-US" sz="1250" dirty="0">
                          <a:solidFill>
                            <a:srgbClr val="1B2433"/>
                          </a:solidFill>
                          <a:latin typeface="Calibri" pitchFamily="34" charset="0"/>
                          <a:ea typeface="Calibri" pitchFamily="34" charset="-122"/>
                          <a:cs typeface="Calibri" pitchFamily="34" charset="-120"/>
                        </a:rPr>
                        <a:t>2%</a:t>
                      </a:r>
                      <a:endParaRPr lang="en-US" sz="1250" dirty="0">
                        <a:latin typeface="Calibri" charset="0"/>
                        <a:ea typeface="Calibri" charset="0"/>
                        <a:cs typeface="Calibri" charset="0"/>
                      </a:endParaRPr>
                    </a:p>
                  </a:txBody>
                  <a:tcPr marL="0" marR="18288" marT="27432" marB="27432">
                    <a:lnL w="0" cap="flat" cmpd="sng" algn="ctr">
                      <a:noFill/>
                    </a:lnL>
                    <a:lnR w="0" cap="flat" cmpd="sng" algn="ctr">
                      <a:noFill/>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r>
              <a:tr h="329184">
                <a:tc>
                  <a:txBody>
                    <a:bodyPr/>
                    <a:lstStyle/>
                    <a:p>
                      <a:pPr indent="0" marL="0">
                        <a:buNone/>
                      </a:pPr>
                      <a:r>
                        <a:rPr lang="en-US" sz="1250" dirty="0">
                          <a:solidFill>
                            <a:srgbClr val="3A4353"/>
                          </a:solidFill>
                          <a:latin typeface="Calibri" pitchFamily="34" charset="0"/>
                          <a:ea typeface="Calibri" pitchFamily="34" charset="-122"/>
                          <a:cs typeface="Calibri" pitchFamily="34" charset="-120"/>
                        </a:rPr>
                        <a:t>× recall on synthetic data</a:t>
                      </a:r>
                      <a:endParaRPr lang="en-US" sz="1250" dirty="0">
                        <a:latin typeface="Calibri" charset="0"/>
                        <a:ea typeface="Calibri" charset="0"/>
                        <a:cs typeface="Calibri" charset="0"/>
                      </a:endParaRPr>
                    </a:p>
                  </a:txBody>
                  <a:tcPr marL="0" marR="18288" marT="27432" marB="27432">
                    <a:lnL w="0" cap="flat" cmpd="sng" algn="ctr">
                      <a:noFill/>
                    </a:lnL>
                    <a:lnR w="0" cap="flat" cmpd="sng" algn="ctr">
                      <a:noFill/>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r" indent="0" marL="0">
                        <a:buNone/>
                      </a:pPr>
                      <a:r>
                        <a:rPr lang="en-US" sz="1250" dirty="0">
                          <a:solidFill>
                            <a:srgbClr val="1B2433"/>
                          </a:solidFill>
                          <a:latin typeface="Calibri" pitchFamily="34" charset="0"/>
                          <a:ea typeface="Calibri" pitchFamily="34" charset="-122"/>
                          <a:cs typeface="Calibri" pitchFamily="34" charset="-120"/>
                        </a:rPr>
                        <a:t>92.3%</a:t>
                      </a:r>
                      <a:endParaRPr lang="en-US" sz="1250" dirty="0">
                        <a:latin typeface="Calibri" charset="0"/>
                        <a:ea typeface="Calibri" charset="0"/>
                        <a:cs typeface="Calibri" charset="0"/>
                      </a:endParaRPr>
                    </a:p>
                  </a:txBody>
                  <a:tcPr marL="0" marR="18288" marT="27432" marB="27432">
                    <a:lnL w="0" cap="flat" cmpd="sng" algn="ctr">
                      <a:noFill/>
                    </a:lnL>
                    <a:lnR w="0" cap="flat" cmpd="sng" algn="ctr">
                      <a:noFill/>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r>
              <a:tr h="329184">
                <a:tc>
                  <a:txBody>
                    <a:bodyPr/>
                    <a:lstStyle/>
                    <a:p>
                      <a:pPr indent="0" marL="0">
                        <a:buNone/>
                      </a:pPr>
                      <a:r>
                        <a:rPr lang="en-US" sz="1250" b="1" dirty="0">
                          <a:solidFill>
                            <a:srgbClr val="1B2433"/>
                          </a:solidFill>
                          <a:latin typeface="Calibri" pitchFamily="34" charset="0"/>
                          <a:ea typeface="Calibri" pitchFamily="34" charset="-122"/>
                          <a:cs typeface="Calibri" pitchFamily="34" charset="-120"/>
                        </a:rPr>
                        <a:t>= upper limit on savings</a:t>
                      </a:r>
                      <a:endParaRPr lang="en-US" sz="1250" dirty="0">
                        <a:latin typeface="Calibri" charset="0"/>
                        <a:ea typeface="Calibri" charset="0"/>
                        <a:cs typeface="Calibri" charset="0"/>
                      </a:endParaRPr>
                    </a:p>
                  </a:txBody>
                  <a:tcPr marL="0" marR="18288" marT="27432" marB="27432">
                    <a:lnL w="0" cap="flat" cmpd="sng" algn="ctr">
                      <a:noFill/>
                    </a:lnL>
                    <a:lnR w="0" cap="flat" cmpd="sng" algn="ctr">
                      <a:noFill/>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r" indent="0" marL="0">
                        <a:buNone/>
                      </a:pPr>
                      <a:r>
                        <a:rPr lang="en-US" sz="1250" b="1" dirty="0">
                          <a:solidFill>
                            <a:srgbClr val="D9480F"/>
                          </a:solidFill>
                          <a:latin typeface="Calibri" pitchFamily="34" charset="0"/>
                          <a:ea typeface="Calibri" pitchFamily="34" charset="-122"/>
                          <a:cs typeface="Calibri" pitchFamily="34" charset="-120"/>
                        </a:rPr>
                        <a:t>₹422 cr</a:t>
                      </a:r>
                      <a:endParaRPr lang="en-US" sz="1250" dirty="0">
                        <a:latin typeface="Calibri" charset="0"/>
                        <a:ea typeface="Calibri" charset="0"/>
                        <a:cs typeface="Calibri" charset="0"/>
                      </a:endParaRPr>
                    </a:p>
                  </a:txBody>
                  <a:tcPr marL="0" marR="18288" marT="27432" marB="27432">
                    <a:lnL w="0" cap="flat" cmpd="sng" algn="ctr">
                      <a:noFill/>
                    </a:lnL>
                    <a:lnR w="0" cap="flat" cmpd="sng" algn="ctr">
                      <a:noFill/>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r>
            </a:tbl>
          </a:graphicData>
        </a:graphic>
      </p:graphicFrame>
      <p:sp>
        <p:nvSpPr>
          <p:cNvPr id="21" name="Text 18"/>
          <p:cNvSpPr txBox="1"/>
          <p:nvPr/>
        </p:nvSpPr>
        <p:spPr>
          <a:xfrm>
            <a:off x="6309360" y="3611880"/>
            <a:ext cx="5074920" cy="457200"/>
          </a:xfrm>
          <a:prstGeom prst="rect">
            <a:avLst/>
          </a:prstGeom>
          <a:noFill/>
          <a:ln/>
        </p:spPr>
        <p:txBody>
          <a:bodyPr wrap="square" lIns="0" tIns="0" rIns="0" bIns="0" rtlCol="0" anchor="t"/>
          <a:lstStyle/>
          <a:p>
            <a:pPr indent="0" marL="0">
              <a:spcAft>
                <a:spcPts val="400"/>
              </a:spcAft>
              <a:buNone/>
            </a:pPr>
            <a:r>
              <a:rPr lang="en-US" sz="1100" dirty="0">
                <a:solidFill>
                  <a:srgbClr val="6E747E"/>
                </a:solidFill>
                <a:latin typeface="Calibri" pitchFamily="34" charset="0"/>
                <a:ea typeface="Calibri" pitchFamily="34" charset="-122"/>
                <a:cs typeface="Calibri" pitchFamily="34" charset="-120"/>
              </a:rPr>
              <a:t>Assumes every level-2 or level-3 alert stops the whole loss. Some customers pay anyway, so the real figure would be lower.</a:t>
            </a:r>
            <a:endParaRPr lang="en-US" sz="1100" dirty="0"/>
          </a:p>
        </p:txBody>
      </p:sp>
      <p:sp>
        <p:nvSpPr>
          <p:cNvPr id="22" name="Text 19"/>
          <p:cNvSpPr txBox="1"/>
          <p:nvPr/>
        </p:nvSpPr>
        <p:spPr>
          <a:xfrm>
            <a:off x="6309360" y="4114800"/>
            <a:ext cx="5120640" cy="274320"/>
          </a:xfrm>
          <a:prstGeom prst="rect">
            <a:avLst/>
          </a:prstGeom>
          <a:noFill/>
          <a:ln/>
        </p:spPr>
        <p:txBody>
          <a:bodyPr wrap="square" lIns="0" tIns="0" rIns="0" bIns="0" rtlCol="0" anchor="ctr"/>
          <a:lstStyle/>
          <a:p>
            <a:pPr indent="0" marL="0">
              <a:buNone/>
            </a:pPr>
            <a:r>
              <a:rPr lang="en-US" sz="1400" b="1" dirty="0">
                <a:solidFill>
                  <a:srgbClr val="1B2433"/>
                </a:solidFill>
                <a:latin typeface="Calibri" pitchFamily="34" charset="0"/>
                <a:ea typeface="Calibri" pitchFamily="34" charset="-122"/>
                <a:cs typeface="Calibri" pitchFamily="34" charset="-120"/>
              </a:rPr>
              <a:t>Cost for 30 million users, 250 payments each per year</a:t>
            </a:r>
            <a:endParaRPr lang="en-US" sz="1400" dirty="0"/>
          </a:p>
        </p:txBody>
      </p:sp>
      <p:graphicFrame>
        <p:nvGraphicFramePr>
          <p:cNvPr id="27" name="Table 1"/>
          <p:cNvGraphicFramePr>
            <a:graphicFrameLocks noGrp="1"/>
          </p:cNvGraphicFramePr>
          <p:nvPr>
            <p:extLst>
              <p:ext uri="{D42A27DB-BD31-4B8C-83A1-F6EECF244321}">
                <p14:modId xmlns:p14="http://schemas.microsoft.com/office/powerpoint/2010/main" val="1579011935"/>
              </p:ext>
            </p:extLst>
          </p:nvPr>
        </p:nvGraphicFramePr>
        <p:xfrm>
          <a:off x="6309360" y="4434840"/>
          <a:ext cx="5074920" cy="914400"/>
        </p:xfrm>
        <a:graphic>
          <a:graphicData uri="http://schemas.openxmlformats.org/drawingml/2006/table">
            <a:tbl>
              <a:tblPr/>
              <a:tblGrid>
                <a:gridCol w="3657600"/>
                <a:gridCol w="1417320"/>
              </a:tblGrid>
              <a:tr h="329184">
                <a:tc>
                  <a:txBody>
                    <a:bodyPr/>
                    <a:lstStyle/>
                    <a:p>
                      <a:pPr indent="0" marL="0">
                        <a:buNone/>
                      </a:pPr>
                      <a:r>
                        <a:rPr lang="en-US" sz="1250" dirty="0">
                          <a:solidFill>
                            <a:srgbClr val="3A4353"/>
                          </a:solidFill>
                          <a:latin typeface="Calibri" pitchFamily="34" charset="0"/>
                          <a:ea typeface="Calibri" pitchFamily="34" charset="-122"/>
                          <a:cs typeface="Calibri" pitchFamily="34" charset="-120"/>
                        </a:rPr>
                        <a:t>Servers (6 instances)</a:t>
                      </a:r>
                      <a:endParaRPr lang="en-US" sz="1250" dirty="0">
                        <a:latin typeface="Calibri" charset="0"/>
                        <a:ea typeface="Calibri" charset="0"/>
                        <a:cs typeface="Calibri" charset="0"/>
                      </a:endParaRPr>
                    </a:p>
                  </a:txBody>
                  <a:tcPr marL="0" marR="18288" marT="27432" marB="27432">
                    <a:lnL w="0" cap="flat" cmpd="sng" algn="ctr">
                      <a:noFill/>
                    </a:lnL>
                    <a:lnR w="0" cap="flat" cmpd="sng" algn="ctr">
                      <a:noFill/>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r" indent="0" marL="0">
                        <a:buNone/>
                      </a:pPr>
                      <a:r>
                        <a:rPr lang="en-US" sz="1250" dirty="0">
                          <a:solidFill>
                            <a:srgbClr val="1B2433"/>
                          </a:solidFill>
                          <a:latin typeface="Calibri" pitchFamily="34" charset="0"/>
                          <a:ea typeface="Calibri" pitchFamily="34" charset="-122"/>
                          <a:cs typeface="Calibri" pitchFamily="34" charset="-120"/>
                        </a:rPr>
                        <a:t>₹4.2 lakh / yr</a:t>
                      </a:r>
                      <a:endParaRPr lang="en-US" sz="1250" dirty="0">
                        <a:latin typeface="Calibri" charset="0"/>
                        <a:ea typeface="Calibri" charset="0"/>
                        <a:cs typeface="Calibri" charset="0"/>
                      </a:endParaRPr>
                    </a:p>
                  </a:txBody>
                  <a:tcPr marL="0" marR="18288" marT="27432" marB="27432">
                    <a:lnL w="0" cap="flat" cmpd="sng" algn="ctr">
                      <a:noFill/>
                    </a:lnL>
                    <a:lnR w="0" cap="flat" cmpd="sng" algn="ctr">
                      <a:noFill/>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r>
              <a:tr h="329184">
                <a:tc>
                  <a:txBody>
                    <a:bodyPr/>
                    <a:lstStyle/>
                    <a:p>
                      <a:pPr indent="0" marL="0">
                        <a:buNone/>
                      </a:pPr>
                      <a:r>
                        <a:rPr lang="en-US" sz="1250" dirty="0">
                          <a:solidFill>
                            <a:srgbClr val="3A4353"/>
                          </a:solidFill>
                          <a:latin typeface="Calibri" pitchFamily="34" charset="0"/>
                          <a:ea typeface="Calibri" pitchFamily="34" charset="-122"/>
                          <a:cs typeface="Calibri" pitchFamily="34" charset="-120"/>
                        </a:rPr>
                        <a:t>Storing signed records (2.6 TB / yr)</a:t>
                      </a:r>
                      <a:endParaRPr lang="en-US" sz="1250" dirty="0">
                        <a:latin typeface="Calibri" charset="0"/>
                        <a:ea typeface="Calibri" charset="0"/>
                        <a:cs typeface="Calibri" charset="0"/>
                      </a:endParaRPr>
                    </a:p>
                  </a:txBody>
                  <a:tcPr marL="0" marR="18288" marT="27432" marB="27432">
                    <a:lnL w="0" cap="flat" cmpd="sng" algn="ctr">
                      <a:noFill/>
                    </a:lnL>
                    <a:lnR w="0" cap="flat" cmpd="sng" algn="ctr">
                      <a:noFill/>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r" indent="0" marL="0">
                        <a:buNone/>
                      </a:pPr>
                      <a:r>
                        <a:rPr lang="en-US" sz="1250" dirty="0">
                          <a:solidFill>
                            <a:srgbClr val="1B2433"/>
                          </a:solidFill>
                          <a:latin typeface="Calibri" pitchFamily="34" charset="0"/>
                          <a:ea typeface="Calibri" pitchFamily="34" charset="-122"/>
                          <a:cs typeface="Calibri" pitchFamily="34" charset="-120"/>
                        </a:rPr>
                        <a:t>₹0.6 lakh / yr</a:t>
                      </a:r>
                      <a:endParaRPr lang="en-US" sz="1250" dirty="0">
                        <a:latin typeface="Calibri" charset="0"/>
                        <a:ea typeface="Calibri" charset="0"/>
                        <a:cs typeface="Calibri" charset="0"/>
                      </a:endParaRPr>
                    </a:p>
                  </a:txBody>
                  <a:tcPr marL="0" marR="18288" marT="27432" marB="27432">
                    <a:lnL w="0" cap="flat" cmpd="sng" algn="ctr">
                      <a:noFill/>
                    </a:lnL>
                    <a:lnR w="0" cap="flat" cmpd="sng" algn="ctr">
                      <a:noFill/>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r>
              <a:tr h="329184">
                <a:tc>
                  <a:txBody>
                    <a:bodyPr/>
                    <a:lstStyle/>
                    <a:p>
                      <a:pPr indent="0" marL="0">
                        <a:buNone/>
                      </a:pPr>
                      <a:r>
                        <a:rPr lang="en-US" sz="1250" dirty="0">
                          <a:solidFill>
                            <a:srgbClr val="3A4353"/>
                          </a:solidFill>
                          <a:latin typeface="Calibri" pitchFamily="34" charset="0"/>
                          <a:ea typeface="Calibri" pitchFamily="34" charset="-122"/>
                          <a:cs typeface="Calibri" pitchFamily="34" charset="-120"/>
                        </a:rPr>
                        <a:t>Genuine payments held at level 3</a:t>
                      </a:r>
                      <a:endParaRPr lang="en-US" sz="1250" dirty="0">
                        <a:latin typeface="Calibri" charset="0"/>
                        <a:ea typeface="Calibri" charset="0"/>
                        <a:cs typeface="Calibri" charset="0"/>
                      </a:endParaRPr>
                    </a:p>
                  </a:txBody>
                  <a:tcPr marL="0" marR="18288" marT="27432" marB="27432">
                    <a:lnL w="0" cap="flat" cmpd="sng" algn="ctr">
                      <a:noFill/>
                    </a:lnL>
                    <a:lnR w="0" cap="flat" cmpd="sng" algn="ctr">
                      <a:noFill/>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r" indent="0" marL="0">
                        <a:buNone/>
                      </a:pPr>
                      <a:r>
                        <a:rPr lang="en-US" sz="1250" dirty="0">
                          <a:solidFill>
                            <a:srgbClr val="1B2433"/>
                          </a:solidFill>
                          <a:latin typeface="Calibri" pitchFamily="34" charset="0"/>
                          <a:ea typeface="Calibri" pitchFamily="34" charset="-122"/>
                          <a:cs typeface="Calibri" pitchFamily="34" charset="-120"/>
                        </a:rPr>
                        <a:t>≈ 1,370 / day</a:t>
                      </a:r>
                      <a:endParaRPr lang="en-US" sz="1250" dirty="0">
                        <a:latin typeface="Calibri" charset="0"/>
                        <a:ea typeface="Calibri" charset="0"/>
                        <a:cs typeface="Calibri" charset="0"/>
                      </a:endParaRPr>
                    </a:p>
                  </a:txBody>
                  <a:tcPr marL="0" marR="18288" marT="27432" marB="27432">
                    <a:lnL w="0" cap="flat" cmpd="sng" algn="ctr">
                      <a:noFill/>
                    </a:lnL>
                    <a:lnR w="0" cap="flat" cmpd="sng" algn="ctr">
                      <a:noFill/>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r>
              <a:tr h="329184">
                <a:tc>
                  <a:txBody>
                    <a:bodyPr/>
                    <a:lstStyle/>
                    <a:p>
                      <a:pPr indent="0" marL="0">
                        <a:buNone/>
                      </a:pPr>
                      <a:r>
                        <a:rPr lang="en-US" sz="1250" b="1" dirty="0">
                          <a:solidFill>
                            <a:srgbClr val="1B2433"/>
                          </a:solidFill>
                          <a:latin typeface="Calibri" pitchFamily="34" charset="0"/>
                          <a:ea typeface="Calibri" pitchFamily="34" charset="-122"/>
                          <a:cs typeface="Calibri" pitchFamily="34" charset="-120"/>
                        </a:rPr>
                        <a:t>Agent time at 5 minutes each</a:t>
                      </a:r>
                      <a:endParaRPr lang="en-US" sz="1250" dirty="0">
                        <a:latin typeface="Calibri" charset="0"/>
                        <a:ea typeface="Calibri" charset="0"/>
                        <a:cs typeface="Calibri" charset="0"/>
                      </a:endParaRPr>
                    </a:p>
                  </a:txBody>
                  <a:tcPr marL="0" marR="18288" marT="27432" marB="27432">
                    <a:lnL w="0" cap="flat" cmpd="sng" algn="ctr">
                      <a:noFill/>
                    </a:lnL>
                    <a:lnR w="0" cap="flat" cmpd="sng" algn="ctr">
                      <a:noFill/>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r" indent="0" marL="0">
                        <a:buNone/>
                      </a:pPr>
                      <a:r>
                        <a:rPr lang="en-US" sz="1250" b="1" dirty="0">
                          <a:solidFill>
                            <a:srgbClr val="D9480F"/>
                          </a:solidFill>
                          <a:latin typeface="Calibri" pitchFamily="34" charset="0"/>
                          <a:ea typeface="Calibri" pitchFamily="34" charset="-122"/>
                          <a:cs typeface="Calibri" pitchFamily="34" charset="-120"/>
                        </a:rPr>
                        <a:t>≈ 114 h / day</a:t>
                      </a:r>
                      <a:endParaRPr lang="en-US" sz="1250" dirty="0">
                        <a:latin typeface="Calibri" charset="0"/>
                        <a:ea typeface="Calibri" charset="0"/>
                        <a:cs typeface="Calibri" charset="0"/>
                      </a:endParaRPr>
                    </a:p>
                  </a:txBody>
                  <a:tcPr marL="0" marR="18288" marT="27432" marB="27432">
                    <a:lnL w="0" cap="flat" cmpd="sng" algn="ctr">
                      <a:noFill/>
                    </a:lnL>
                    <a:lnR w="0" cap="flat" cmpd="sng" algn="ctr">
                      <a:noFill/>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r>
            </a:tbl>
          </a:graphicData>
        </a:graphic>
      </p:graphicFrame>
      <p:sp>
        <p:nvSpPr>
          <p:cNvPr id="24" name="Text 20"/>
          <p:cNvSpPr txBox="1"/>
          <p:nvPr/>
        </p:nvSpPr>
        <p:spPr>
          <a:xfrm>
            <a:off x="6309360" y="5806440"/>
            <a:ext cx="5074920" cy="411480"/>
          </a:xfrm>
          <a:prstGeom prst="rect">
            <a:avLst/>
          </a:prstGeom>
          <a:noFill/>
          <a:ln/>
        </p:spPr>
        <p:txBody>
          <a:bodyPr wrap="square" lIns="0" tIns="0" rIns="0" bIns="0" rtlCol="0" anchor="t"/>
          <a:lstStyle/>
          <a:p>
            <a:pPr indent="0" marL="0">
              <a:spcAft>
                <a:spcPts val="400"/>
              </a:spcAft>
              <a:buNone/>
            </a:pPr>
            <a:r>
              <a:rPr lang="en-US" sz="1100" dirty="0">
                <a:solidFill>
                  <a:srgbClr val="6E747E"/>
                </a:solidFill>
                <a:latin typeface="Calibri" pitchFamily="34" charset="0"/>
                <a:ea typeface="Calibri" pitchFamily="34" charset="-122"/>
                <a:cs typeface="Calibri" pitchFamily="34" charset="-120"/>
              </a:rPr>
              <a:t>Servers are cheap; staff time for reviews is the main cost. Development cost not included.</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5486400" cy="274320"/>
          </a:xfrm>
          <a:prstGeom prst="rect">
            <a:avLst/>
          </a:prstGeom>
          <a:noFill/>
          <a:ln/>
        </p:spPr>
        <p:txBody>
          <a:bodyPr wrap="square" lIns="0" tIns="0" rIns="0" bIns="0" rtlCol="0" anchor="ctr"/>
          <a:lstStyle/>
          <a:p>
            <a:pPr indent="0" marL="0">
              <a:buNone/>
            </a:pPr>
            <a:r>
              <a:rPr lang="en-US" sz="1100" dirty="0">
                <a:solidFill>
                  <a:srgbClr val="6E747E"/>
                </a:solidFill>
                <a:latin typeface="Calibri" pitchFamily="34" charset="0"/>
                <a:ea typeface="Calibri" pitchFamily="34" charset="-122"/>
                <a:cs typeface="Calibri" pitchFamily="34" charset="-120"/>
              </a:rPr>
              <a:t>13  ·  Next steps</a:t>
            </a:r>
            <a:endParaRPr lang="en-US" sz="1100" dirty="0"/>
          </a:p>
        </p:txBody>
      </p:sp>
      <p:sp>
        <p:nvSpPr>
          <p:cNvPr id="3" name="Text 1"/>
          <p:cNvSpPr txBox="1"/>
          <p:nvPr/>
        </p:nvSpPr>
        <p:spPr>
          <a:xfrm>
            <a:off x="8899855" y="256032"/>
            <a:ext cx="2743200" cy="274320"/>
          </a:xfrm>
          <a:prstGeom prst="rect">
            <a:avLst/>
          </a:prstGeom>
          <a:noFill/>
          <a:ln/>
        </p:spPr>
        <p:txBody>
          <a:bodyPr wrap="square" lIns="0" tIns="0" rIns="0" bIns="0" rtlCol="0" anchor="ctr"/>
          <a:lstStyle/>
          <a:p>
            <a:pPr algn="r" indent="0" marL="0">
              <a:buNone/>
            </a:pPr>
            <a:r>
              <a:rPr lang="en-US" sz="1100" dirty="0">
                <a:solidFill>
                  <a:srgbClr val="6E747E"/>
                </a:solidFill>
                <a:latin typeface="Calibri" pitchFamily="34" charset="0"/>
                <a:ea typeface="Calibri" pitchFamily="34" charset="-122"/>
                <a:cs typeface="Calibri" pitchFamily="34" charset="-120"/>
              </a:rPr>
              <a:t>Chakravyuh</a:t>
            </a:r>
            <a:endParaRPr lang="en-US" sz="1100" dirty="0"/>
          </a:p>
        </p:txBody>
      </p:sp>
      <p:sp>
        <p:nvSpPr>
          <p:cNvPr id="4" name="Text 2"/>
          <p:cNvSpPr txBox="1"/>
          <p:nvPr/>
        </p:nvSpPr>
        <p:spPr>
          <a:xfrm>
            <a:off x="9814255" y="6446520"/>
            <a:ext cx="1828800" cy="228600"/>
          </a:xfrm>
          <a:prstGeom prst="rect">
            <a:avLst/>
          </a:prstGeom>
          <a:noFill/>
          <a:ln/>
        </p:spPr>
        <p:txBody>
          <a:bodyPr wrap="square" lIns="0" tIns="0" rIns="0" bIns="0" rtlCol="0" anchor="ctr"/>
          <a:lstStyle/>
          <a:p>
            <a:pPr algn="r" indent="0" marL="0">
              <a:buNone/>
            </a:pPr>
            <a:r>
              <a:rPr lang="en-US" sz="1000" dirty="0">
                <a:solidFill>
                  <a:srgbClr val="6E747E"/>
                </a:solidFill>
                <a:latin typeface="Calibri" pitchFamily="34" charset="0"/>
                <a:ea typeface="Calibri" pitchFamily="34" charset="-122"/>
                <a:cs typeface="Calibri" pitchFamily="34" charset="-120"/>
              </a:rPr>
              <a:t>14 / 16</a:t>
            </a:r>
            <a:endParaRPr lang="en-US" sz="1000" dirty="0"/>
          </a:p>
        </p:txBody>
      </p:sp>
      <p:sp>
        <p:nvSpPr>
          <p:cNvPr id="5" name="Text 3"/>
          <p:cNvSpPr txBox="1"/>
          <p:nvPr/>
        </p:nvSpPr>
        <p:spPr>
          <a:xfrm>
            <a:off x="548640" y="640080"/>
            <a:ext cx="11094415" cy="731520"/>
          </a:xfrm>
          <a:prstGeom prst="rect">
            <a:avLst/>
          </a:prstGeom>
          <a:noFill/>
          <a:ln/>
        </p:spPr>
        <p:txBody>
          <a:bodyPr wrap="square" lIns="0" tIns="0" rIns="0" bIns="0" rtlCol="0" anchor="t"/>
          <a:lstStyle/>
          <a:p>
            <a:pPr indent="0" marL="0">
              <a:buNone/>
            </a:pPr>
            <a:r>
              <a:rPr lang="en-US" sz="3400" b="1" dirty="0">
                <a:solidFill>
                  <a:srgbClr val="1B2433"/>
                </a:solidFill>
                <a:latin typeface="Cambria" pitchFamily="34" charset="0"/>
                <a:ea typeface="Cambria" pitchFamily="34" charset="-122"/>
                <a:cs typeface="Cambria" pitchFamily="34" charset="-120"/>
              </a:rPr>
              <a:t>What we will build and show in the 48-hour finale</a:t>
            </a:r>
            <a:endParaRPr lang="en-US" sz="3400" dirty="0"/>
          </a:p>
        </p:txBody>
      </p:sp>
      <p:sp>
        <p:nvSpPr>
          <p:cNvPr id="6" name="Shape 4"/>
          <p:cNvSpPr/>
          <p:nvPr/>
        </p:nvSpPr>
        <p:spPr>
          <a:xfrm>
            <a:off x="548640" y="2057400"/>
            <a:ext cx="10820095" cy="0"/>
          </a:xfrm>
          <a:prstGeom prst="line">
            <a:avLst/>
          </a:prstGeom>
          <a:noFill/>
          <a:ln w="15875">
            <a:solidFill>
              <a:srgbClr val="3A4353"/>
            </a:solidFill>
            <a:prstDash val="solid"/>
          </a:ln>
        </p:spPr>
      </p:sp>
      <p:sp>
        <p:nvSpPr>
          <p:cNvPr id="7" name="Shape 5"/>
          <p:cNvSpPr/>
          <p:nvPr/>
        </p:nvSpPr>
        <p:spPr>
          <a:xfrm>
            <a:off x="539496" y="1956816"/>
            <a:ext cx="201168" cy="201168"/>
          </a:xfrm>
          <a:prstGeom prst="ellipse">
            <a:avLst/>
          </a:prstGeom>
          <a:solidFill>
            <a:srgbClr val="111A2B"/>
          </a:solidFill>
          <a:ln w="19050">
            <a:solidFill>
              <a:srgbClr val="111A2B"/>
            </a:solidFill>
            <a:prstDash val="solid"/>
          </a:ln>
        </p:spPr>
      </p:sp>
      <p:sp>
        <p:nvSpPr>
          <p:cNvPr id="8" name="Text 6"/>
          <p:cNvSpPr txBox="1"/>
          <p:nvPr/>
        </p:nvSpPr>
        <p:spPr>
          <a:xfrm>
            <a:off x="548640" y="2377440"/>
            <a:ext cx="1990283" cy="274320"/>
          </a:xfrm>
          <a:prstGeom prst="rect">
            <a:avLst/>
          </a:prstGeom>
          <a:noFill/>
          <a:ln/>
        </p:spPr>
        <p:txBody>
          <a:bodyPr wrap="square" lIns="0" tIns="0" rIns="0" bIns="0" rtlCol="0" anchor="ctr"/>
          <a:lstStyle/>
          <a:p>
            <a:pPr indent="0" marL="0">
              <a:buNone/>
            </a:pPr>
            <a:r>
              <a:rPr lang="en-US" sz="1400" b="1" dirty="0">
                <a:solidFill>
                  <a:srgbClr val="D9480F"/>
                </a:solidFill>
                <a:latin typeface="Calibri" pitchFamily="34" charset="0"/>
                <a:ea typeface="Calibri" pitchFamily="34" charset="-122"/>
                <a:cs typeface="Calibri" pitchFamily="34" charset="-120"/>
              </a:rPr>
              <a:t>H+0–8</a:t>
            </a:r>
            <a:endParaRPr lang="en-US" sz="1400" dirty="0"/>
          </a:p>
        </p:txBody>
      </p:sp>
      <p:sp>
        <p:nvSpPr>
          <p:cNvPr id="9" name="Text 7"/>
          <p:cNvSpPr txBox="1"/>
          <p:nvPr/>
        </p:nvSpPr>
        <p:spPr>
          <a:xfrm>
            <a:off x="548640" y="2697480"/>
            <a:ext cx="2036003" cy="365760"/>
          </a:xfrm>
          <a:prstGeom prst="rect">
            <a:avLst/>
          </a:prstGeom>
          <a:noFill/>
          <a:ln/>
        </p:spPr>
        <p:txBody>
          <a:bodyPr wrap="square" lIns="0" tIns="0" rIns="0" bIns="0" rtlCol="0" anchor="ctr"/>
          <a:lstStyle/>
          <a:p>
            <a:pPr indent="0" marL="0">
              <a:buNone/>
            </a:pPr>
            <a:r>
              <a:rPr lang="en-US" sz="1700" b="1" dirty="0">
                <a:solidFill>
                  <a:srgbClr val="1B2433"/>
                </a:solidFill>
                <a:latin typeface="Cambria" pitchFamily="34" charset="0"/>
                <a:ea typeface="Cambria" pitchFamily="34" charset="-122"/>
                <a:cs typeface="Cambria" pitchFamily="34" charset="-120"/>
              </a:rPr>
              <a:t>Replay harness</a:t>
            </a:r>
            <a:endParaRPr lang="en-US" sz="1700" dirty="0"/>
          </a:p>
        </p:txBody>
      </p:sp>
      <p:sp>
        <p:nvSpPr>
          <p:cNvPr id="10" name="Text 8"/>
          <p:cNvSpPr txBox="1"/>
          <p:nvPr/>
        </p:nvSpPr>
        <p:spPr>
          <a:xfrm>
            <a:off x="548640" y="3154680"/>
            <a:ext cx="1944563" cy="1005840"/>
          </a:xfrm>
          <a:prstGeom prst="rect">
            <a:avLst/>
          </a:prstGeom>
          <a:noFill/>
          <a:ln/>
        </p:spPr>
        <p:txBody>
          <a:bodyPr wrap="square" lIns="0" tIns="0" rIns="0" bIns="0" rtlCol="0" anchor="t"/>
          <a:lstStyle/>
          <a:p>
            <a:pPr indent="0" marL="0">
              <a:spcAft>
                <a:spcPts val="400"/>
              </a:spcAft>
              <a:buNone/>
            </a:pPr>
            <a:r>
              <a:rPr lang="en-US" sz="1400" dirty="0">
                <a:solidFill>
                  <a:srgbClr val="3A4353"/>
                </a:solidFill>
                <a:latin typeface="Calibri" pitchFamily="34" charset="0"/>
                <a:ea typeface="Calibri" pitchFamily="34" charset="-122"/>
                <a:cs typeface="Calibri" pitchFamily="34" charset="-120"/>
              </a:rPr>
              <a:t>Run saved test sessions through the server and check the records.</a:t>
            </a:r>
            <a:endParaRPr lang="en-US" sz="1400" dirty="0"/>
          </a:p>
        </p:txBody>
      </p:sp>
      <p:sp>
        <p:nvSpPr>
          <p:cNvPr id="11" name="Shape 9"/>
          <p:cNvSpPr/>
          <p:nvPr/>
        </p:nvSpPr>
        <p:spPr>
          <a:xfrm>
            <a:off x="2758379" y="1956816"/>
            <a:ext cx="201168" cy="201168"/>
          </a:xfrm>
          <a:prstGeom prst="ellipse">
            <a:avLst/>
          </a:prstGeom>
          <a:solidFill>
            <a:srgbClr val="111A2B"/>
          </a:solidFill>
          <a:ln w="19050">
            <a:solidFill>
              <a:srgbClr val="111A2B"/>
            </a:solidFill>
            <a:prstDash val="solid"/>
          </a:ln>
        </p:spPr>
      </p:sp>
      <p:sp>
        <p:nvSpPr>
          <p:cNvPr id="12" name="Text 10"/>
          <p:cNvSpPr txBox="1"/>
          <p:nvPr/>
        </p:nvSpPr>
        <p:spPr>
          <a:xfrm>
            <a:off x="2767523" y="2377440"/>
            <a:ext cx="1990283" cy="274320"/>
          </a:xfrm>
          <a:prstGeom prst="rect">
            <a:avLst/>
          </a:prstGeom>
          <a:noFill/>
          <a:ln/>
        </p:spPr>
        <p:txBody>
          <a:bodyPr wrap="square" lIns="0" tIns="0" rIns="0" bIns="0" rtlCol="0" anchor="ctr"/>
          <a:lstStyle/>
          <a:p>
            <a:pPr indent="0" marL="0">
              <a:buNone/>
            </a:pPr>
            <a:r>
              <a:rPr lang="en-US" sz="1400" b="1" dirty="0">
                <a:solidFill>
                  <a:srgbClr val="D9480F"/>
                </a:solidFill>
                <a:latin typeface="Calibri" pitchFamily="34" charset="0"/>
                <a:ea typeface="Calibri" pitchFamily="34" charset="-122"/>
                <a:cs typeface="Calibri" pitchFamily="34" charset="-120"/>
              </a:rPr>
              <a:t>H+8–20</a:t>
            </a:r>
            <a:endParaRPr lang="en-US" sz="1400" dirty="0"/>
          </a:p>
        </p:txBody>
      </p:sp>
      <p:sp>
        <p:nvSpPr>
          <p:cNvPr id="13" name="Text 11"/>
          <p:cNvSpPr txBox="1"/>
          <p:nvPr/>
        </p:nvSpPr>
        <p:spPr>
          <a:xfrm>
            <a:off x="2767523" y="2697480"/>
            <a:ext cx="2036003" cy="365760"/>
          </a:xfrm>
          <a:prstGeom prst="rect">
            <a:avLst/>
          </a:prstGeom>
          <a:noFill/>
          <a:ln/>
        </p:spPr>
        <p:txBody>
          <a:bodyPr wrap="square" lIns="0" tIns="0" rIns="0" bIns="0" rtlCol="0" anchor="ctr"/>
          <a:lstStyle/>
          <a:p>
            <a:pPr indent="0" marL="0">
              <a:buNone/>
            </a:pPr>
            <a:r>
              <a:rPr lang="en-US" sz="1700" b="1" dirty="0">
                <a:solidFill>
                  <a:srgbClr val="1B2433"/>
                </a:solidFill>
                <a:latin typeface="Cambria" pitchFamily="34" charset="0"/>
                <a:ea typeface="Cambria" pitchFamily="34" charset="-122"/>
                <a:cs typeface="Cambria" pitchFamily="34" charset="-120"/>
              </a:rPr>
              <a:t>Android signals</a:t>
            </a:r>
            <a:endParaRPr lang="en-US" sz="1700" dirty="0"/>
          </a:p>
        </p:txBody>
      </p:sp>
      <p:sp>
        <p:nvSpPr>
          <p:cNvPr id="14" name="Text 12"/>
          <p:cNvSpPr txBox="1"/>
          <p:nvPr/>
        </p:nvSpPr>
        <p:spPr>
          <a:xfrm>
            <a:off x="2767523" y="3154680"/>
            <a:ext cx="1944563" cy="1005840"/>
          </a:xfrm>
          <a:prstGeom prst="rect">
            <a:avLst/>
          </a:prstGeom>
          <a:noFill/>
          <a:ln/>
        </p:spPr>
        <p:txBody>
          <a:bodyPr wrap="square" lIns="0" tIns="0" rIns="0" bIns="0" rtlCol="0" anchor="t"/>
          <a:lstStyle/>
          <a:p>
            <a:pPr indent="0" marL="0">
              <a:spcAft>
                <a:spcPts val="400"/>
              </a:spcAft>
              <a:buNone/>
            </a:pPr>
            <a:r>
              <a:rPr lang="en-US" sz="1400" dirty="0">
                <a:solidFill>
                  <a:srgbClr val="3A4353"/>
                </a:solidFill>
                <a:latin typeface="Calibri" pitchFamily="34" charset="0"/>
                <a:ea typeface="Calibri" pitchFamily="34" charset="-122"/>
                <a:cs typeface="Calibri" pitchFamily="34" charset="-120"/>
              </a:rPr>
              <a:t>Read the 9 phone signals on a real Android phone and check them.</a:t>
            </a:r>
            <a:endParaRPr lang="en-US" sz="1400" dirty="0"/>
          </a:p>
        </p:txBody>
      </p:sp>
      <p:sp>
        <p:nvSpPr>
          <p:cNvPr id="15" name="Shape 13"/>
          <p:cNvSpPr/>
          <p:nvPr/>
        </p:nvSpPr>
        <p:spPr>
          <a:xfrm>
            <a:off x="4977262" y="1956816"/>
            <a:ext cx="201168" cy="201168"/>
          </a:xfrm>
          <a:prstGeom prst="ellipse">
            <a:avLst/>
          </a:prstGeom>
          <a:solidFill>
            <a:srgbClr val="111A2B"/>
          </a:solidFill>
          <a:ln w="19050">
            <a:solidFill>
              <a:srgbClr val="111A2B"/>
            </a:solidFill>
            <a:prstDash val="solid"/>
          </a:ln>
        </p:spPr>
      </p:sp>
      <p:sp>
        <p:nvSpPr>
          <p:cNvPr id="16" name="Text 14"/>
          <p:cNvSpPr txBox="1"/>
          <p:nvPr/>
        </p:nvSpPr>
        <p:spPr>
          <a:xfrm>
            <a:off x="4986406" y="2377440"/>
            <a:ext cx="1990283" cy="274320"/>
          </a:xfrm>
          <a:prstGeom prst="rect">
            <a:avLst/>
          </a:prstGeom>
          <a:noFill/>
          <a:ln/>
        </p:spPr>
        <p:txBody>
          <a:bodyPr wrap="square" lIns="0" tIns="0" rIns="0" bIns="0" rtlCol="0" anchor="ctr"/>
          <a:lstStyle/>
          <a:p>
            <a:pPr indent="0" marL="0">
              <a:buNone/>
            </a:pPr>
            <a:r>
              <a:rPr lang="en-US" sz="1400" b="1" dirty="0">
                <a:solidFill>
                  <a:srgbClr val="D9480F"/>
                </a:solidFill>
                <a:latin typeface="Calibri" pitchFamily="34" charset="0"/>
                <a:ea typeface="Calibri" pitchFamily="34" charset="-122"/>
                <a:cs typeface="Calibri" pitchFamily="34" charset="-120"/>
              </a:rPr>
              <a:t>H+20–32</a:t>
            </a:r>
            <a:endParaRPr lang="en-US" sz="1400" dirty="0"/>
          </a:p>
        </p:txBody>
      </p:sp>
      <p:sp>
        <p:nvSpPr>
          <p:cNvPr id="17" name="Text 15"/>
          <p:cNvSpPr txBox="1"/>
          <p:nvPr/>
        </p:nvSpPr>
        <p:spPr>
          <a:xfrm>
            <a:off x="4986406" y="2697480"/>
            <a:ext cx="2036003" cy="365760"/>
          </a:xfrm>
          <a:prstGeom prst="rect">
            <a:avLst/>
          </a:prstGeom>
          <a:noFill/>
          <a:ln/>
        </p:spPr>
        <p:txBody>
          <a:bodyPr wrap="square" lIns="0" tIns="0" rIns="0" bIns="0" rtlCol="0" anchor="ctr"/>
          <a:lstStyle/>
          <a:p>
            <a:pPr indent="0" marL="0">
              <a:buNone/>
            </a:pPr>
            <a:r>
              <a:rPr lang="en-US" sz="1700" b="1" dirty="0">
                <a:solidFill>
                  <a:srgbClr val="1B2433"/>
                </a:solidFill>
                <a:latin typeface="Cambria" pitchFamily="34" charset="0"/>
                <a:ea typeface="Cambria" pitchFamily="34" charset="-122"/>
                <a:cs typeface="Cambria" pitchFamily="34" charset="-120"/>
              </a:rPr>
              <a:t>Attack our model</a:t>
            </a:r>
            <a:endParaRPr lang="en-US" sz="1700" dirty="0"/>
          </a:p>
        </p:txBody>
      </p:sp>
      <p:sp>
        <p:nvSpPr>
          <p:cNvPr id="18" name="Text 16"/>
          <p:cNvSpPr txBox="1"/>
          <p:nvPr/>
        </p:nvSpPr>
        <p:spPr>
          <a:xfrm>
            <a:off x="4986406" y="3154680"/>
            <a:ext cx="1944563" cy="1005840"/>
          </a:xfrm>
          <a:prstGeom prst="rect">
            <a:avLst/>
          </a:prstGeom>
          <a:noFill/>
          <a:ln/>
        </p:spPr>
        <p:txBody>
          <a:bodyPr wrap="square" lIns="0" tIns="0" rIns="0" bIns="0" rtlCol="0" anchor="t"/>
          <a:lstStyle/>
          <a:p>
            <a:pPr indent="0" marL="0">
              <a:spcAft>
                <a:spcPts val="400"/>
              </a:spcAft>
              <a:buNone/>
            </a:pPr>
            <a:r>
              <a:rPr lang="en-US" sz="1400" dirty="0">
                <a:solidFill>
                  <a:srgbClr val="3A4353"/>
                </a:solidFill>
                <a:latin typeface="Calibri" pitchFamily="34" charset="0"/>
                <a:ea typeface="Calibri" pitchFamily="34" charset="-122"/>
                <a:cs typeface="Calibri" pitchFamily="34" charset="-120"/>
              </a:rPr>
              <a:t>Try to beat it with three changed scams, then retrain.</a:t>
            </a:r>
            <a:endParaRPr lang="en-US" sz="1400" dirty="0"/>
          </a:p>
        </p:txBody>
      </p:sp>
      <p:sp>
        <p:nvSpPr>
          <p:cNvPr id="19" name="Shape 17"/>
          <p:cNvSpPr/>
          <p:nvPr/>
        </p:nvSpPr>
        <p:spPr>
          <a:xfrm>
            <a:off x="7196145" y="1956816"/>
            <a:ext cx="201168" cy="201168"/>
          </a:xfrm>
          <a:prstGeom prst="ellipse">
            <a:avLst/>
          </a:prstGeom>
          <a:solidFill>
            <a:srgbClr val="111A2B"/>
          </a:solidFill>
          <a:ln w="19050">
            <a:solidFill>
              <a:srgbClr val="111A2B"/>
            </a:solidFill>
            <a:prstDash val="solid"/>
          </a:ln>
        </p:spPr>
      </p:sp>
      <p:sp>
        <p:nvSpPr>
          <p:cNvPr id="20" name="Text 18"/>
          <p:cNvSpPr txBox="1"/>
          <p:nvPr/>
        </p:nvSpPr>
        <p:spPr>
          <a:xfrm>
            <a:off x="7205289" y="2377440"/>
            <a:ext cx="1990283" cy="274320"/>
          </a:xfrm>
          <a:prstGeom prst="rect">
            <a:avLst/>
          </a:prstGeom>
          <a:noFill/>
          <a:ln/>
        </p:spPr>
        <p:txBody>
          <a:bodyPr wrap="square" lIns="0" tIns="0" rIns="0" bIns="0" rtlCol="0" anchor="ctr"/>
          <a:lstStyle/>
          <a:p>
            <a:pPr indent="0" marL="0">
              <a:buNone/>
            </a:pPr>
            <a:r>
              <a:rPr lang="en-US" sz="1400" b="1" dirty="0">
                <a:solidFill>
                  <a:srgbClr val="D9480F"/>
                </a:solidFill>
                <a:latin typeface="Calibri" pitchFamily="34" charset="0"/>
                <a:ea typeface="Calibri" pitchFamily="34" charset="-122"/>
                <a:cs typeface="Calibri" pitchFamily="34" charset="-120"/>
              </a:rPr>
              <a:t>H+32–44</a:t>
            </a:r>
            <a:endParaRPr lang="en-US" sz="1400" dirty="0"/>
          </a:p>
        </p:txBody>
      </p:sp>
      <p:sp>
        <p:nvSpPr>
          <p:cNvPr id="21" name="Text 19"/>
          <p:cNvSpPr txBox="1"/>
          <p:nvPr/>
        </p:nvSpPr>
        <p:spPr>
          <a:xfrm>
            <a:off x="7205289" y="2697480"/>
            <a:ext cx="2036003" cy="365760"/>
          </a:xfrm>
          <a:prstGeom prst="rect">
            <a:avLst/>
          </a:prstGeom>
          <a:noFill/>
          <a:ln/>
        </p:spPr>
        <p:txBody>
          <a:bodyPr wrap="square" lIns="0" tIns="0" rIns="0" bIns="0" rtlCol="0" anchor="ctr"/>
          <a:lstStyle/>
          <a:p>
            <a:pPr indent="0" marL="0">
              <a:buNone/>
            </a:pPr>
            <a:r>
              <a:rPr lang="en-US" sz="1700" b="1" dirty="0">
                <a:solidFill>
                  <a:srgbClr val="1B2433"/>
                </a:solidFill>
                <a:latin typeface="Cambria" pitchFamily="34" charset="0"/>
                <a:ea typeface="Cambria" pitchFamily="34" charset="-122"/>
                <a:cs typeface="Cambria" pitchFamily="34" charset="-120"/>
              </a:rPr>
              <a:t>End-to-end run</a:t>
            </a:r>
            <a:endParaRPr lang="en-US" sz="1700" dirty="0"/>
          </a:p>
        </p:txBody>
      </p:sp>
      <p:sp>
        <p:nvSpPr>
          <p:cNvPr id="22" name="Text 20"/>
          <p:cNvSpPr txBox="1"/>
          <p:nvPr/>
        </p:nvSpPr>
        <p:spPr>
          <a:xfrm>
            <a:off x="7205289" y="3154680"/>
            <a:ext cx="1944563" cy="1005840"/>
          </a:xfrm>
          <a:prstGeom prst="rect">
            <a:avLst/>
          </a:prstGeom>
          <a:noFill/>
          <a:ln/>
        </p:spPr>
        <p:txBody>
          <a:bodyPr wrap="square" lIns="0" tIns="0" rIns="0" bIns="0" rtlCol="0" anchor="t"/>
          <a:lstStyle/>
          <a:p>
            <a:pPr indent="0" marL="0">
              <a:spcAft>
                <a:spcPts val="400"/>
              </a:spcAft>
              <a:buNone/>
            </a:pPr>
            <a:r>
              <a:rPr lang="en-US" sz="1400" dirty="0">
                <a:solidFill>
                  <a:srgbClr val="3A4353"/>
                </a:solidFill>
                <a:latin typeface="Calibri" pitchFamily="34" charset="0"/>
                <a:ea typeface="Calibri" pitchFamily="34" charset="-122"/>
                <a:cs typeface="Calibri" pitchFamily="34" charset="-120"/>
              </a:rPr>
              <a:t>100 sessions through to agent review and release or report.</a:t>
            </a:r>
            <a:endParaRPr lang="en-US" sz="1400" dirty="0"/>
          </a:p>
        </p:txBody>
      </p:sp>
      <p:sp>
        <p:nvSpPr>
          <p:cNvPr id="23" name="Shape 21"/>
          <p:cNvSpPr/>
          <p:nvPr/>
        </p:nvSpPr>
        <p:spPr>
          <a:xfrm>
            <a:off x="9415028" y="1956816"/>
            <a:ext cx="201168" cy="201168"/>
          </a:xfrm>
          <a:prstGeom prst="ellipse">
            <a:avLst/>
          </a:prstGeom>
          <a:solidFill>
            <a:srgbClr val="D9480F"/>
          </a:solidFill>
          <a:ln w="19050">
            <a:solidFill>
              <a:srgbClr val="D9480F"/>
            </a:solidFill>
            <a:prstDash val="solid"/>
          </a:ln>
        </p:spPr>
      </p:sp>
      <p:sp>
        <p:nvSpPr>
          <p:cNvPr id="24" name="Text 22"/>
          <p:cNvSpPr txBox="1"/>
          <p:nvPr/>
        </p:nvSpPr>
        <p:spPr>
          <a:xfrm>
            <a:off x="9424172" y="2377440"/>
            <a:ext cx="1990283" cy="274320"/>
          </a:xfrm>
          <a:prstGeom prst="rect">
            <a:avLst/>
          </a:prstGeom>
          <a:noFill/>
          <a:ln/>
        </p:spPr>
        <p:txBody>
          <a:bodyPr wrap="square" lIns="0" tIns="0" rIns="0" bIns="0" rtlCol="0" anchor="ctr"/>
          <a:lstStyle/>
          <a:p>
            <a:pPr indent="0" marL="0">
              <a:buNone/>
            </a:pPr>
            <a:r>
              <a:rPr lang="en-US" sz="1400" b="1" dirty="0">
                <a:solidFill>
                  <a:srgbClr val="D9480F"/>
                </a:solidFill>
                <a:latin typeface="Calibri" pitchFamily="34" charset="0"/>
                <a:ea typeface="Calibri" pitchFamily="34" charset="-122"/>
                <a:cs typeface="Calibri" pitchFamily="34" charset="-120"/>
              </a:rPr>
              <a:t>H+44–48</a:t>
            </a:r>
            <a:endParaRPr lang="en-US" sz="1400" dirty="0"/>
          </a:p>
        </p:txBody>
      </p:sp>
      <p:sp>
        <p:nvSpPr>
          <p:cNvPr id="25" name="Text 23"/>
          <p:cNvSpPr txBox="1"/>
          <p:nvPr/>
        </p:nvSpPr>
        <p:spPr>
          <a:xfrm>
            <a:off x="9424172" y="2697480"/>
            <a:ext cx="2036003" cy="365760"/>
          </a:xfrm>
          <a:prstGeom prst="rect">
            <a:avLst/>
          </a:prstGeom>
          <a:noFill/>
          <a:ln/>
        </p:spPr>
        <p:txBody>
          <a:bodyPr wrap="square" lIns="0" tIns="0" rIns="0" bIns="0" rtlCol="0" anchor="ctr"/>
          <a:lstStyle/>
          <a:p>
            <a:pPr indent="0" marL="0">
              <a:buNone/>
            </a:pPr>
            <a:r>
              <a:rPr lang="en-US" sz="1700" b="1" dirty="0">
                <a:solidFill>
                  <a:srgbClr val="1B2433"/>
                </a:solidFill>
                <a:latin typeface="Cambria" pitchFamily="34" charset="0"/>
                <a:ea typeface="Cambria" pitchFamily="34" charset="-122"/>
                <a:cs typeface="Cambria" pitchFamily="34" charset="-120"/>
              </a:rPr>
              <a:t>Security review</a:t>
            </a:r>
            <a:endParaRPr lang="en-US" sz="1700" dirty="0"/>
          </a:p>
        </p:txBody>
      </p:sp>
      <p:sp>
        <p:nvSpPr>
          <p:cNvPr id="26" name="Text 24"/>
          <p:cNvSpPr txBox="1"/>
          <p:nvPr/>
        </p:nvSpPr>
        <p:spPr>
          <a:xfrm>
            <a:off x="9424172" y="3154680"/>
            <a:ext cx="1944563" cy="1005840"/>
          </a:xfrm>
          <a:prstGeom prst="rect">
            <a:avLst/>
          </a:prstGeom>
          <a:noFill/>
          <a:ln/>
        </p:spPr>
        <p:txBody>
          <a:bodyPr wrap="square" lIns="0" tIns="0" rIns="0" bIns="0" rtlCol="0" anchor="t"/>
          <a:lstStyle/>
          <a:p>
            <a:pPr indent="0" marL="0">
              <a:spcAft>
                <a:spcPts val="400"/>
              </a:spcAft>
              <a:buNone/>
            </a:pPr>
            <a:r>
              <a:rPr lang="en-US" sz="1400" dirty="0">
                <a:solidFill>
                  <a:srgbClr val="3A4353"/>
                </a:solidFill>
                <a:latin typeface="Calibri" pitchFamily="34" charset="0"/>
                <a:ea typeface="Calibri" pitchFamily="34" charset="-122"/>
                <a:cs typeface="Calibri" pitchFamily="34" charset="-120"/>
              </a:rPr>
              <a:t>Walk through records, replay checks, two-person release, known limits.</a:t>
            </a:r>
            <a:endParaRPr lang="en-US" sz="1400" dirty="0"/>
          </a:p>
        </p:txBody>
      </p:sp>
      <p:sp>
        <p:nvSpPr>
          <p:cNvPr id="27" name="Shape 25"/>
          <p:cNvSpPr/>
          <p:nvPr/>
        </p:nvSpPr>
        <p:spPr>
          <a:xfrm>
            <a:off x="548640" y="4297680"/>
            <a:ext cx="5364328" cy="1600200"/>
          </a:xfrm>
          <a:prstGeom prst="rect">
            <a:avLst/>
          </a:prstGeom>
          <a:solidFill>
            <a:srgbClr val="F3F4F6"/>
          </a:solidFill>
          <a:ln w="12700">
            <a:solidFill>
              <a:srgbClr val="F3F4F6"/>
            </a:solidFill>
            <a:prstDash val="solid"/>
          </a:ln>
        </p:spPr>
      </p:sp>
      <p:sp>
        <p:nvSpPr>
          <p:cNvPr id="28" name="Text 26"/>
          <p:cNvSpPr txBox="1"/>
          <p:nvPr/>
        </p:nvSpPr>
        <p:spPr>
          <a:xfrm>
            <a:off x="822960" y="4480560"/>
            <a:ext cx="4815688" cy="274320"/>
          </a:xfrm>
          <a:prstGeom prst="rect">
            <a:avLst/>
          </a:prstGeom>
          <a:noFill/>
          <a:ln/>
        </p:spPr>
        <p:txBody>
          <a:bodyPr wrap="square" lIns="0" tIns="0" rIns="0" bIns="0" rtlCol="0" anchor="ctr"/>
          <a:lstStyle/>
          <a:p>
            <a:pPr indent="0" marL="0">
              <a:buNone/>
            </a:pPr>
            <a:r>
              <a:rPr lang="en-US" sz="1500" b="1" dirty="0">
                <a:solidFill>
                  <a:srgbClr val="1B2433"/>
                </a:solidFill>
                <a:latin typeface="Calibri" pitchFamily="34" charset="0"/>
                <a:ea typeface="Calibri" pitchFamily="34" charset="-122"/>
                <a:cs typeface="Calibri" pitchFamily="34" charset="-120"/>
              </a:rPr>
              <a:t>Built so far</a:t>
            </a:r>
            <a:endParaRPr lang="en-US" sz="1500" dirty="0"/>
          </a:p>
        </p:txBody>
      </p:sp>
      <p:sp>
        <p:nvSpPr>
          <p:cNvPr id="29" name="Text 27"/>
          <p:cNvSpPr txBox="1"/>
          <p:nvPr/>
        </p:nvSpPr>
        <p:spPr>
          <a:xfrm>
            <a:off x="822960" y="4846320"/>
            <a:ext cx="4815688" cy="914400"/>
          </a:xfrm>
          <a:prstGeom prst="rect">
            <a:avLst/>
          </a:prstGeom>
          <a:noFill/>
          <a:ln/>
        </p:spPr>
        <p:txBody>
          <a:bodyPr wrap="square" lIns="0" tIns="0" rIns="0" bIns="0" rtlCol="0" anchor="t"/>
          <a:lstStyle/>
          <a:p>
            <a:pPr indent="0" marL="0">
              <a:spcAft>
                <a:spcPts val="400"/>
              </a:spcAft>
              <a:buNone/>
            </a:pPr>
            <a:r>
              <a:rPr lang="en-US" sz="1400" dirty="0">
                <a:solidFill>
                  <a:srgbClr val="3A4353"/>
                </a:solidFill>
                <a:latin typeface="Calibri" pitchFamily="34" charset="0"/>
                <a:ea typeface="Calibri" pitchFamily="34" charset="-122"/>
                <a:cs typeface="Calibri" pitchFamily="34" charset="-120"/>
              </a:rPr>
              <a:t>Scoring server · threshold setting · signed records with replay checks · synthetic data generator and evaluation · 8 automated tests</a:t>
            </a:r>
            <a:endParaRPr lang="en-US" sz="1400" dirty="0"/>
          </a:p>
        </p:txBody>
      </p:sp>
      <p:sp>
        <p:nvSpPr>
          <p:cNvPr id="30" name="Shape 28"/>
          <p:cNvSpPr/>
          <p:nvPr/>
        </p:nvSpPr>
        <p:spPr>
          <a:xfrm>
            <a:off x="6278728" y="4297680"/>
            <a:ext cx="5364328" cy="1600200"/>
          </a:xfrm>
          <a:prstGeom prst="rect">
            <a:avLst/>
          </a:prstGeom>
          <a:solidFill>
            <a:srgbClr val="FFFFFF"/>
          </a:solidFill>
          <a:ln w="12700">
            <a:solidFill>
              <a:srgbClr val="6E747E"/>
            </a:solidFill>
            <a:prstDash val="sysDot"/>
          </a:ln>
        </p:spPr>
      </p:sp>
      <p:sp>
        <p:nvSpPr>
          <p:cNvPr id="31" name="Text 29"/>
          <p:cNvSpPr txBox="1"/>
          <p:nvPr/>
        </p:nvSpPr>
        <p:spPr>
          <a:xfrm>
            <a:off x="6553048" y="4480560"/>
            <a:ext cx="4815688" cy="274320"/>
          </a:xfrm>
          <a:prstGeom prst="rect">
            <a:avLst/>
          </a:prstGeom>
          <a:noFill/>
          <a:ln/>
        </p:spPr>
        <p:txBody>
          <a:bodyPr wrap="square" lIns="0" tIns="0" rIns="0" bIns="0" rtlCol="0" anchor="ctr"/>
          <a:lstStyle/>
          <a:p>
            <a:pPr indent="0" marL="0">
              <a:buNone/>
            </a:pPr>
            <a:r>
              <a:rPr lang="en-US" sz="1500" b="1" dirty="0">
                <a:solidFill>
                  <a:srgbClr val="1B2433"/>
                </a:solidFill>
                <a:latin typeface="Calibri" pitchFamily="34" charset="0"/>
                <a:ea typeface="Calibri" pitchFamily="34" charset="-122"/>
                <a:cs typeface="Calibri" pitchFamily="34" charset="-120"/>
              </a:rPr>
              <a:t>Not built yet</a:t>
            </a:r>
            <a:endParaRPr lang="en-US" sz="1500" dirty="0"/>
          </a:p>
        </p:txBody>
      </p:sp>
      <p:sp>
        <p:nvSpPr>
          <p:cNvPr id="32" name="Text 30"/>
          <p:cNvSpPr txBox="1"/>
          <p:nvPr/>
        </p:nvSpPr>
        <p:spPr>
          <a:xfrm>
            <a:off x="6553048" y="4846320"/>
            <a:ext cx="4815688" cy="914400"/>
          </a:xfrm>
          <a:prstGeom prst="rect">
            <a:avLst/>
          </a:prstGeom>
          <a:noFill/>
          <a:ln/>
        </p:spPr>
        <p:txBody>
          <a:bodyPr wrap="square" lIns="0" tIns="0" rIns="0" bIns="0" rtlCol="0" anchor="t"/>
          <a:lstStyle/>
          <a:p>
            <a:pPr indent="0" marL="0">
              <a:spcAft>
                <a:spcPts val="400"/>
              </a:spcAft>
              <a:buNone/>
            </a:pPr>
            <a:r>
              <a:rPr lang="en-US" sz="1400" dirty="0">
                <a:solidFill>
                  <a:srgbClr val="3A4353"/>
                </a:solidFill>
                <a:latin typeface="Calibri" pitchFamily="34" charset="0"/>
                <a:ea typeface="Calibri" pitchFamily="34" charset="-122"/>
                <a:cs typeface="Calibri" pitchFamily="34" charset="-120"/>
              </a:rPr>
              <a:t>Android SDK · payment hold · agent screen · testing on real bank data</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11A2B"/>
        </a:solidFill>
      </p:bgPr>
    </p:bg>
    <p:spTree>
      <p:nvGrpSpPr>
        <p:cNvPr id="1" name=""/>
        <p:cNvGrpSpPr/>
        <p:nvPr/>
      </p:nvGrpSpPr>
      <p:grpSpPr>
        <a:xfrm>
          <a:off x="0" y="0"/>
          <a:ext cx="0" cy="0"/>
          <a:chOff x="0" y="0"/>
          <a:chExt cx="0" cy="0"/>
        </a:xfrm>
      </p:grpSpPr>
      <p:sp>
        <p:nvSpPr>
          <p:cNvPr id="2" name="Text 0"/>
          <p:cNvSpPr txBox="1"/>
          <p:nvPr/>
        </p:nvSpPr>
        <p:spPr>
          <a:xfrm>
            <a:off x="640080" y="822960"/>
            <a:ext cx="7315200" cy="822960"/>
          </a:xfrm>
          <a:prstGeom prst="rect">
            <a:avLst/>
          </a:prstGeom>
          <a:noFill/>
          <a:ln/>
        </p:spPr>
        <p:txBody>
          <a:bodyPr wrap="square" lIns="0" tIns="0" rIns="0" bIns="0" rtlCol="0" anchor="ctr"/>
          <a:lstStyle/>
          <a:p>
            <a:pPr indent="0" marL="0">
              <a:buNone/>
            </a:pPr>
            <a:r>
              <a:rPr lang="en-US" sz="4400" b="1" dirty="0">
                <a:solidFill>
                  <a:srgbClr val="ECE8E0"/>
                </a:solidFill>
                <a:latin typeface="Cambria" pitchFamily="34" charset="0"/>
                <a:ea typeface="Cambria" pitchFamily="34" charset="-122"/>
                <a:cs typeface="Cambria" pitchFamily="34" charset="-120"/>
              </a:rPr>
              <a:t>Chakravyuh</a:t>
            </a:r>
            <a:endParaRPr lang="en-US" sz="4400" dirty="0"/>
          </a:p>
        </p:txBody>
      </p:sp>
      <p:sp>
        <p:nvSpPr>
          <p:cNvPr id="3" name="Text 1"/>
          <p:cNvSpPr txBox="1"/>
          <p:nvPr/>
        </p:nvSpPr>
        <p:spPr>
          <a:xfrm>
            <a:off x="640080" y="1645920"/>
            <a:ext cx="9144000" cy="457200"/>
          </a:xfrm>
          <a:prstGeom prst="rect">
            <a:avLst/>
          </a:prstGeom>
          <a:noFill/>
          <a:ln/>
        </p:spPr>
        <p:txBody>
          <a:bodyPr wrap="square" lIns="0" tIns="0" rIns="0" bIns="0" rtlCol="0" anchor="ctr"/>
          <a:lstStyle/>
          <a:p>
            <a:pPr indent="0" marL="0">
              <a:buNone/>
            </a:pPr>
            <a:r>
              <a:rPr lang="en-US" sz="2200" i="1" dirty="0">
                <a:solidFill>
                  <a:srgbClr val="8E97A6"/>
                </a:solidFill>
                <a:latin typeface="Cambria" pitchFamily="34" charset="0"/>
                <a:ea typeface="Cambria" pitchFamily="34" charset="-122"/>
                <a:cs typeface="Cambria" pitchFamily="34" charset="-120"/>
              </a:rPr>
              <a:t>Intercept the scam workflow, not the transaction.</a:t>
            </a:r>
            <a:endParaRPr lang="en-US" sz="2200" dirty="0"/>
          </a:p>
        </p:txBody>
      </p:sp>
      <p:sp>
        <p:nvSpPr>
          <p:cNvPr id="4" name="Text 2"/>
          <p:cNvSpPr txBox="1"/>
          <p:nvPr/>
        </p:nvSpPr>
        <p:spPr>
          <a:xfrm>
            <a:off x="640080" y="2834640"/>
            <a:ext cx="3383280" cy="822960"/>
          </a:xfrm>
          <a:prstGeom prst="rect">
            <a:avLst/>
          </a:prstGeom>
          <a:noFill/>
          <a:ln/>
        </p:spPr>
        <p:txBody>
          <a:bodyPr wrap="square" lIns="0" tIns="0" rIns="0" bIns="0" rtlCol="0" anchor="ctr"/>
          <a:lstStyle/>
          <a:p>
            <a:pPr indent="0" marL="0">
              <a:buNone/>
            </a:pPr>
            <a:r>
              <a:rPr lang="en-US" sz="4000" b="1" dirty="0">
                <a:solidFill>
                  <a:srgbClr val="D9480F"/>
                </a:solidFill>
                <a:latin typeface="Cambria" pitchFamily="34" charset="0"/>
                <a:ea typeface="Cambria" pitchFamily="34" charset="-122"/>
                <a:cs typeface="Cambria" pitchFamily="34" charset="-120"/>
              </a:rPr>
              <a:t>92.3%</a:t>
            </a:r>
            <a:endParaRPr lang="en-US" sz="4000" dirty="0"/>
          </a:p>
        </p:txBody>
      </p:sp>
      <p:sp>
        <p:nvSpPr>
          <p:cNvPr id="5" name="Text 3"/>
          <p:cNvSpPr txBox="1"/>
          <p:nvPr/>
        </p:nvSpPr>
        <p:spPr>
          <a:xfrm>
            <a:off x="640080" y="3657600"/>
            <a:ext cx="3200400" cy="640080"/>
          </a:xfrm>
          <a:prstGeom prst="rect">
            <a:avLst/>
          </a:prstGeom>
          <a:noFill/>
          <a:ln/>
        </p:spPr>
        <p:txBody>
          <a:bodyPr wrap="square" lIns="0" tIns="0" rIns="0" bIns="0" rtlCol="0" anchor="t"/>
          <a:lstStyle/>
          <a:p>
            <a:pPr indent="0" marL="0">
              <a:spcAft>
                <a:spcPts val="400"/>
              </a:spcAft>
              <a:buNone/>
            </a:pPr>
            <a:r>
              <a:rPr lang="en-US" sz="1500" dirty="0">
                <a:solidFill>
                  <a:srgbClr val="8E97A6"/>
                </a:solidFill>
                <a:latin typeface="Calibri" pitchFamily="34" charset="0"/>
                <a:ea typeface="Calibri" pitchFamily="34" charset="-122"/>
                <a:cs typeface="Calibri" pitchFamily="34" charset="-120"/>
              </a:rPr>
              <a:t>of synthetic scam sessions reach level 2 or 3</a:t>
            </a:r>
            <a:endParaRPr lang="en-US" sz="1500" dirty="0"/>
          </a:p>
        </p:txBody>
      </p:sp>
      <p:sp>
        <p:nvSpPr>
          <p:cNvPr id="6" name="Text 4"/>
          <p:cNvSpPr txBox="1"/>
          <p:nvPr/>
        </p:nvSpPr>
        <p:spPr>
          <a:xfrm>
            <a:off x="4297680" y="2834640"/>
            <a:ext cx="3383280" cy="822960"/>
          </a:xfrm>
          <a:prstGeom prst="rect">
            <a:avLst/>
          </a:prstGeom>
          <a:noFill/>
          <a:ln/>
        </p:spPr>
        <p:txBody>
          <a:bodyPr wrap="square" lIns="0" tIns="0" rIns="0" bIns="0" rtlCol="0" anchor="ctr"/>
          <a:lstStyle/>
          <a:p>
            <a:pPr indent="0" marL="0">
              <a:buNone/>
            </a:pPr>
            <a:r>
              <a:rPr lang="en-US" sz="4000" b="1" dirty="0">
                <a:solidFill>
                  <a:srgbClr val="ECE8E0"/>
                </a:solidFill>
                <a:latin typeface="Cambria" pitchFamily="34" charset="0"/>
                <a:ea typeface="Cambria" pitchFamily="34" charset="-122"/>
                <a:cs typeface="Cambria" pitchFamily="34" charset="-120"/>
              </a:rPr>
              <a:t>2.77 / 1,000</a:t>
            </a:r>
            <a:endParaRPr lang="en-US" sz="4000" dirty="0"/>
          </a:p>
        </p:txBody>
      </p:sp>
      <p:sp>
        <p:nvSpPr>
          <p:cNvPr id="7" name="Text 5"/>
          <p:cNvSpPr txBox="1"/>
          <p:nvPr/>
        </p:nvSpPr>
        <p:spPr>
          <a:xfrm>
            <a:off x="4297680" y="3657600"/>
            <a:ext cx="3200400" cy="640080"/>
          </a:xfrm>
          <a:prstGeom prst="rect">
            <a:avLst/>
          </a:prstGeom>
          <a:noFill/>
          <a:ln/>
        </p:spPr>
        <p:txBody>
          <a:bodyPr wrap="square" lIns="0" tIns="0" rIns="0" bIns="0" rtlCol="0" anchor="t"/>
          <a:lstStyle/>
          <a:p>
            <a:pPr indent="0" marL="0">
              <a:spcAft>
                <a:spcPts val="400"/>
              </a:spcAft>
              <a:buNone/>
            </a:pPr>
            <a:r>
              <a:rPr lang="en-US" sz="1500" dirty="0">
                <a:solidFill>
                  <a:srgbClr val="8E97A6"/>
                </a:solidFill>
                <a:latin typeface="Calibri" pitchFamily="34" charset="0"/>
                <a:ea typeface="Calibri" pitchFamily="34" charset="-122"/>
                <a:cs typeface="Calibri" pitchFamily="34" charset="-120"/>
              </a:rPr>
              <a:t>genuine payments interrupted</a:t>
            </a:r>
            <a:endParaRPr lang="en-US" sz="1500" dirty="0"/>
          </a:p>
        </p:txBody>
      </p:sp>
      <p:sp>
        <p:nvSpPr>
          <p:cNvPr id="8" name="Text 6"/>
          <p:cNvSpPr txBox="1"/>
          <p:nvPr/>
        </p:nvSpPr>
        <p:spPr>
          <a:xfrm>
            <a:off x="7955280" y="2834640"/>
            <a:ext cx="3383280" cy="822960"/>
          </a:xfrm>
          <a:prstGeom prst="rect">
            <a:avLst/>
          </a:prstGeom>
          <a:noFill/>
          <a:ln/>
        </p:spPr>
        <p:txBody>
          <a:bodyPr wrap="square" lIns="0" tIns="0" rIns="0" bIns="0" rtlCol="0" anchor="ctr"/>
          <a:lstStyle/>
          <a:p>
            <a:pPr indent="0" marL="0">
              <a:buNone/>
            </a:pPr>
            <a:r>
              <a:rPr lang="en-US" sz="4000" b="1" dirty="0">
                <a:solidFill>
                  <a:srgbClr val="ECE8E0"/>
                </a:solidFill>
                <a:latin typeface="Cambria" pitchFamily="34" charset="0"/>
                <a:ea typeface="Cambria" pitchFamily="34" charset="-122"/>
                <a:cs typeface="Cambria" pitchFamily="34" charset="-120"/>
              </a:rPr>
              <a:t>20</a:t>
            </a:r>
            <a:endParaRPr lang="en-US" sz="4000" dirty="0"/>
          </a:p>
        </p:txBody>
      </p:sp>
      <p:sp>
        <p:nvSpPr>
          <p:cNvPr id="9" name="Text 7"/>
          <p:cNvSpPr txBox="1"/>
          <p:nvPr/>
        </p:nvSpPr>
        <p:spPr>
          <a:xfrm>
            <a:off x="7955280" y="3657600"/>
            <a:ext cx="3200400" cy="640080"/>
          </a:xfrm>
          <a:prstGeom prst="rect">
            <a:avLst/>
          </a:prstGeom>
          <a:noFill/>
          <a:ln/>
        </p:spPr>
        <p:txBody>
          <a:bodyPr wrap="square" lIns="0" tIns="0" rIns="0" bIns="0" rtlCol="0" anchor="t"/>
          <a:lstStyle/>
          <a:p>
            <a:pPr indent="0" marL="0">
              <a:spcAft>
                <a:spcPts val="400"/>
              </a:spcAft>
              <a:buNone/>
            </a:pPr>
            <a:r>
              <a:rPr lang="en-US" sz="1500" dirty="0">
                <a:solidFill>
                  <a:srgbClr val="8E97A6"/>
                </a:solidFill>
                <a:latin typeface="Calibri" pitchFamily="34" charset="0"/>
                <a:ea typeface="Calibri" pitchFamily="34" charset="-122"/>
                <a:cs typeface="Calibri" pitchFamily="34" charset="-120"/>
              </a:rPr>
              <a:t>signals, none of them raw audio, text or screen content</a:t>
            </a:r>
            <a:endParaRPr lang="en-US" sz="1500" dirty="0"/>
          </a:p>
        </p:txBody>
      </p:sp>
      <p:sp>
        <p:nvSpPr>
          <p:cNvPr id="10" name="Shape 8"/>
          <p:cNvSpPr/>
          <p:nvPr/>
        </p:nvSpPr>
        <p:spPr>
          <a:xfrm>
            <a:off x="640080" y="5029200"/>
            <a:ext cx="10911535" cy="0"/>
          </a:xfrm>
          <a:prstGeom prst="line">
            <a:avLst/>
          </a:prstGeom>
          <a:noFill/>
          <a:ln w="9525">
            <a:solidFill>
              <a:srgbClr val="2C3850"/>
            </a:solidFill>
            <a:prstDash val="solid"/>
          </a:ln>
        </p:spPr>
      </p:sp>
      <p:sp>
        <p:nvSpPr>
          <p:cNvPr id="11" name="Text 9"/>
          <p:cNvSpPr txBox="1"/>
          <p:nvPr/>
        </p:nvSpPr>
        <p:spPr>
          <a:xfrm>
            <a:off x="640080" y="5257800"/>
            <a:ext cx="6400800" cy="457200"/>
          </a:xfrm>
          <a:prstGeom prst="rect">
            <a:avLst/>
          </a:prstGeom>
          <a:noFill/>
          <a:ln/>
        </p:spPr>
        <p:txBody>
          <a:bodyPr wrap="square" lIns="0" tIns="0" rIns="0" bIns="0" rtlCol="0" anchor="ctr"/>
          <a:lstStyle/>
          <a:p>
            <a:pPr indent="0" marL="0">
              <a:buNone/>
            </a:pPr>
            <a:r>
              <a:rPr lang="en-US" sz="2400" dirty="0">
                <a:solidFill>
                  <a:srgbClr val="ECE8E0"/>
                </a:solidFill>
                <a:latin typeface="Cambria" pitchFamily="34" charset="0"/>
                <a:ea typeface="Cambria" pitchFamily="34" charset="-122"/>
                <a:cs typeface="Cambria" pitchFamily="34" charset="-120"/>
              </a:rPr>
              <a:t>Thank you. Questions welcome.</a:t>
            </a:r>
            <a:endParaRPr lang="en-US" sz="2400" dirty="0"/>
          </a:p>
        </p:txBody>
      </p:sp>
      <p:sp>
        <p:nvSpPr>
          <p:cNvPr id="12" name="Text 10"/>
          <p:cNvSpPr txBox="1"/>
          <p:nvPr/>
        </p:nvSpPr>
        <p:spPr>
          <a:xfrm>
            <a:off x="640080" y="5806440"/>
            <a:ext cx="6400800" cy="320040"/>
          </a:xfrm>
          <a:prstGeom prst="rect">
            <a:avLst/>
          </a:prstGeom>
          <a:noFill/>
          <a:ln/>
        </p:spPr>
        <p:txBody>
          <a:bodyPr wrap="square" lIns="0" tIns="0" rIns="0" bIns="0" rtlCol="0" anchor="ctr"/>
          <a:lstStyle/>
          <a:p>
            <a:pPr indent="0" marL="0">
              <a:buNone/>
            </a:pPr>
            <a:r>
              <a:rPr lang="en-US" sz="1400" dirty="0">
                <a:solidFill>
                  <a:srgbClr val="8E97A6"/>
                </a:solidFill>
                <a:latin typeface="Calibri" pitchFamily="34" charset="0"/>
                <a:ea typeface="Calibri" pitchFamily="34" charset="-122"/>
                <a:cs typeface="Calibri" pitchFamily="34" charset="-120"/>
              </a:rPr>
              <a:t>Mathews V Manoj  ·  24ec357@mgits.ac.in</a:t>
            </a:r>
            <a:endParaRPr lang="en-US" sz="1400" dirty="0"/>
          </a:p>
        </p:txBody>
      </p:sp>
      <p:sp>
        <p:nvSpPr>
          <p:cNvPr id="13" name="Text 11"/>
          <p:cNvSpPr txBox="1"/>
          <p:nvPr/>
        </p:nvSpPr>
        <p:spPr>
          <a:xfrm>
            <a:off x="7894015" y="5806440"/>
            <a:ext cx="3657600" cy="320040"/>
          </a:xfrm>
          <a:prstGeom prst="rect">
            <a:avLst/>
          </a:prstGeom>
          <a:noFill/>
          <a:ln/>
        </p:spPr>
        <p:txBody>
          <a:bodyPr wrap="square" lIns="0" tIns="0" rIns="0" bIns="0" rtlCol="0" anchor="ctr"/>
          <a:lstStyle/>
          <a:p>
            <a:pPr algn="r" indent="0" marL="0">
              <a:buNone/>
            </a:pPr>
            <a:r>
              <a:rPr lang="en-US" sz="1200" i="1" dirty="0">
                <a:solidFill>
                  <a:srgbClr val="8E97A6"/>
                </a:solidFill>
                <a:latin typeface="Calibri" pitchFamily="34" charset="0"/>
                <a:ea typeface="Calibri" pitchFamily="34" charset="-122"/>
                <a:cs typeface="Calibri" pitchFamily="34" charset="-120"/>
              </a:rPr>
              <a:t>All results are on synthetic data.</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5486400" cy="274320"/>
          </a:xfrm>
          <a:prstGeom prst="rect">
            <a:avLst/>
          </a:prstGeom>
          <a:noFill/>
          <a:ln/>
        </p:spPr>
        <p:txBody>
          <a:bodyPr wrap="square" lIns="0" tIns="0" rIns="0" bIns="0" rtlCol="0" anchor="ctr"/>
          <a:lstStyle/>
          <a:p>
            <a:pPr indent="0" marL="0">
              <a:buNone/>
            </a:pPr>
            <a:r>
              <a:rPr lang="en-US" sz="1100" dirty="0">
                <a:solidFill>
                  <a:srgbClr val="6E747E"/>
                </a:solidFill>
                <a:latin typeface="Calibri" pitchFamily="34" charset="0"/>
                <a:ea typeface="Calibri" pitchFamily="34" charset="-122"/>
                <a:cs typeface="Calibri" pitchFamily="34" charset="-120"/>
              </a:rPr>
              <a:t>Appendix</a:t>
            </a:r>
            <a:endParaRPr lang="en-US" sz="1100" dirty="0"/>
          </a:p>
        </p:txBody>
      </p:sp>
      <p:sp>
        <p:nvSpPr>
          <p:cNvPr id="3" name="Text 1"/>
          <p:cNvSpPr txBox="1"/>
          <p:nvPr/>
        </p:nvSpPr>
        <p:spPr>
          <a:xfrm>
            <a:off x="8899855" y="256032"/>
            <a:ext cx="2743200" cy="274320"/>
          </a:xfrm>
          <a:prstGeom prst="rect">
            <a:avLst/>
          </a:prstGeom>
          <a:noFill/>
          <a:ln/>
        </p:spPr>
        <p:txBody>
          <a:bodyPr wrap="square" lIns="0" tIns="0" rIns="0" bIns="0" rtlCol="0" anchor="ctr"/>
          <a:lstStyle/>
          <a:p>
            <a:pPr algn="r" indent="0" marL="0">
              <a:buNone/>
            </a:pPr>
            <a:r>
              <a:rPr lang="en-US" sz="1100" dirty="0">
                <a:solidFill>
                  <a:srgbClr val="6E747E"/>
                </a:solidFill>
                <a:latin typeface="Calibri" pitchFamily="34" charset="0"/>
                <a:ea typeface="Calibri" pitchFamily="34" charset="-122"/>
                <a:cs typeface="Calibri" pitchFamily="34" charset="-120"/>
              </a:rPr>
              <a:t>Chakravyuh</a:t>
            </a:r>
            <a:endParaRPr lang="en-US" sz="1100" dirty="0"/>
          </a:p>
        </p:txBody>
      </p:sp>
      <p:sp>
        <p:nvSpPr>
          <p:cNvPr id="4" name="Text 2"/>
          <p:cNvSpPr txBox="1"/>
          <p:nvPr/>
        </p:nvSpPr>
        <p:spPr>
          <a:xfrm>
            <a:off x="9814255" y="6446520"/>
            <a:ext cx="1828800" cy="228600"/>
          </a:xfrm>
          <a:prstGeom prst="rect">
            <a:avLst/>
          </a:prstGeom>
          <a:noFill/>
          <a:ln/>
        </p:spPr>
        <p:txBody>
          <a:bodyPr wrap="square" lIns="0" tIns="0" rIns="0" bIns="0" rtlCol="0" anchor="ctr"/>
          <a:lstStyle/>
          <a:p>
            <a:pPr algn="r" indent="0" marL="0">
              <a:buNone/>
            </a:pPr>
            <a:r>
              <a:rPr lang="en-US" sz="1000" dirty="0">
                <a:solidFill>
                  <a:srgbClr val="6E747E"/>
                </a:solidFill>
                <a:latin typeface="Calibri" pitchFamily="34" charset="0"/>
                <a:ea typeface="Calibri" pitchFamily="34" charset="-122"/>
                <a:cs typeface="Calibri" pitchFamily="34" charset="-120"/>
              </a:rPr>
              <a:t>16 / 16</a:t>
            </a:r>
            <a:endParaRPr lang="en-US" sz="1000" dirty="0"/>
          </a:p>
        </p:txBody>
      </p:sp>
      <p:sp>
        <p:nvSpPr>
          <p:cNvPr id="5" name="Text 3"/>
          <p:cNvSpPr txBox="1"/>
          <p:nvPr/>
        </p:nvSpPr>
        <p:spPr>
          <a:xfrm>
            <a:off x="548640" y="640080"/>
            <a:ext cx="11094415" cy="731520"/>
          </a:xfrm>
          <a:prstGeom prst="rect">
            <a:avLst/>
          </a:prstGeom>
          <a:noFill/>
          <a:ln/>
        </p:spPr>
        <p:txBody>
          <a:bodyPr wrap="square" lIns="0" tIns="0" rIns="0" bIns="0" rtlCol="0" anchor="t"/>
          <a:lstStyle/>
          <a:p>
            <a:pPr indent="0" marL="0">
              <a:buNone/>
            </a:pPr>
            <a:r>
              <a:rPr lang="en-US" sz="2800" b="1" dirty="0">
                <a:solidFill>
                  <a:srgbClr val="1B2433"/>
                </a:solidFill>
                <a:latin typeface="Cambria" pitchFamily="34" charset="0"/>
                <a:ea typeface="Cambria" pitchFamily="34" charset="-122"/>
                <a:cs typeface="Cambria" pitchFamily="34" charset="-120"/>
              </a:rPr>
              <a:t>All 20 signals and their weights</a:t>
            </a:r>
            <a:endParaRPr lang="en-US" sz="28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5486400" cy="914400"/>
        </p:xfrm>
        <a:graphic>
          <a:graphicData uri="http://schemas.openxmlformats.org/drawingml/2006/table">
            <a:tbl>
              <a:tblPr/>
              <a:tblGrid>
                <a:gridCol w="1783080"/>
                <a:gridCol w="685800"/>
                <a:gridCol w="822960"/>
                <a:gridCol w="502920"/>
                <a:gridCol w="1691640"/>
              </a:tblGrid>
              <a:tr h="393192">
                <a:tc>
                  <a:txBody>
                    <a:bodyPr/>
                    <a:lstStyle/>
                    <a:p>
                      <a:pPr indent="0" marL="0">
                        <a:buNone/>
                      </a:pPr>
                      <a:r>
                        <a:rPr lang="en-US" sz="1000" b="1" dirty="0">
                          <a:solidFill>
                            <a:srgbClr val="3A4353"/>
                          </a:solidFill>
                          <a:latin typeface="Calibri" pitchFamily="34" charset="0"/>
                          <a:ea typeface="Calibri" pitchFamily="34" charset="-122"/>
                          <a:cs typeface="Calibri" pitchFamily="34" charset="-120"/>
                        </a:rPr>
                        <a:t>Signal</a:t>
                      </a:r>
                      <a:endParaRPr lang="en-US" sz="1000" dirty="0">
                        <a:latin typeface="Calibri" charset="0"/>
                        <a:ea typeface="Calibri" charset="0"/>
                        <a:cs typeface="Calibri" charset="0"/>
                      </a:endParaRPr>
                    </a:p>
                  </a:txBody>
                  <a:tcPr marL="0" marR="54864" marT="18288" marB="18288" anchor="ctr">
                    <a:lnL w="0" cap="flat" cmpd="sng" algn="ctr">
                      <a:noFill/>
                    </a:lnL>
                    <a:lnR w="0" cap="flat" cmpd="sng" algn="ctr">
                      <a:noFill/>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indent="0" marL="0">
                        <a:buNone/>
                      </a:pPr>
                      <a:r>
                        <a:rPr lang="en-US" sz="1000" b="1" dirty="0">
                          <a:solidFill>
                            <a:srgbClr val="3A4353"/>
                          </a:solidFill>
                          <a:latin typeface="Calibri" pitchFamily="34" charset="0"/>
                          <a:ea typeface="Calibri" pitchFamily="34" charset="-122"/>
                          <a:cs typeface="Calibri" pitchFamily="34" charset="-120"/>
                        </a:rPr>
                        <a:t>Stage</a:t>
                      </a:r>
                      <a:endParaRPr lang="en-US" sz="1000" dirty="0">
                        <a:latin typeface="Calibri" charset="0"/>
                        <a:ea typeface="Calibri" charset="0"/>
                        <a:cs typeface="Calibri" charset="0"/>
                      </a:endParaRPr>
                    </a:p>
                  </a:txBody>
                  <a:tcPr marL="0" marR="54864" marT="18288" marB="18288" anchor="ctr">
                    <a:lnL w="0" cap="flat" cmpd="sng" algn="ctr">
                      <a:noFill/>
                    </a:lnL>
                    <a:lnR w="0" cap="flat" cmpd="sng" algn="ctr">
                      <a:noFill/>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indent="0" marL="0">
                        <a:buNone/>
                      </a:pPr>
                      <a:r>
                        <a:rPr lang="en-US" sz="1000" b="1" dirty="0">
                          <a:solidFill>
                            <a:srgbClr val="3A4353"/>
                          </a:solidFill>
                          <a:latin typeface="Calibri" pitchFamily="34" charset="0"/>
                          <a:ea typeface="Calibri" pitchFamily="34" charset="-122"/>
                          <a:cs typeface="Calibri" pitchFamily="34" charset="-120"/>
                        </a:rPr>
                        <a:t>Source</a:t>
                      </a:r>
                      <a:endParaRPr lang="en-US" sz="1000" dirty="0">
                        <a:latin typeface="Calibri" charset="0"/>
                        <a:ea typeface="Calibri" charset="0"/>
                        <a:cs typeface="Calibri" charset="0"/>
                      </a:endParaRPr>
                    </a:p>
                  </a:txBody>
                  <a:tcPr marL="0" marR="54864" marT="18288" marB="18288" anchor="ctr">
                    <a:lnL w="0" cap="flat" cmpd="sng" algn="ctr">
                      <a:noFill/>
                    </a:lnL>
                    <a:lnR w="0" cap="flat" cmpd="sng" algn="ctr">
                      <a:noFill/>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indent="0" marL="0">
                        <a:buNone/>
                      </a:pPr>
                      <a:r>
                        <a:rPr lang="en-US" sz="1000" b="1" dirty="0">
                          <a:solidFill>
                            <a:srgbClr val="3A4353"/>
                          </a:solidFill>
                          <a:latin typeface="Calibri" pitchFamily="34" charset="0"/>
                          <a:ea typeface="Calibri" pitchFamily="34" charset="-122"/>
                          <a:cs typeface="Calibri" pitchFamily="34" charset="-120"/>
                        </a:rPr>
                        <a:t>Weight</a:t>
                      </a:r>
                      <a:endParaRPr lang="en-US" sz="1000" dirty="0">
                        <a:latin typeface="Calibri" charset="0"/>
                        <a:ea typeface="Calibri" charset="0"/>
                        <a:cs typeface="Calibri" charset="0"/>
                      </a:endParaRPr>
                    </a:p>
                  </a:txBody>
                  <a:tcPr marL="0" marR="54864" marT="18288" marB="18288" anchor="ctr">
                    <a:lnL w="0" cap="flat" cmpd="sng" algn="ctr">
                      <a:noFill/>
                    </a:lnL>
                    <a:lnR w="0" cap="flat" cmpd="sng" algn="ctr">
                      <a:noFill/>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indent="0" marL="0">
                        <a:buNone/>
                      </a:pPr>
                      <a:r>
                        <a:rPr lang="en-US" sz="1000" b="1" dirty="0">
                          <a:solidFill>
                            <a:srgbClr val="3A4353"/>
                          </a:solidFill>
                          <a:latin typeface="Calibri" pitchFamily="34" charset="0"/>
                          <a:ea typeface="Calibri" pitchFamily="34" charset="-122"/>
                          <a:cs typeface="Calibri" pitchFamily="34" charset="-120"/>
                        </a:rPr>
                        <a:t>Meaning</a:t>
                      </a:r>
                      <a:endParaRPr lang="en-US" sz="1000" dirty="0">
                        <a:latin typeface="Calibri" charset="0"/>
                        <a:ea typeface="Calibri" charset="0"/>
                        <a:cs typeface="Calibri" charset="0"/>
                      </a:endParaRPr>
                    </a:p>
                  </a:txBody>
                  <a:tcPr marL="0" marR="54864" marT="18288" marB="18288" anchor="ctr">
                    <a:lnL w="0" cap="flat" cmpd="sng" algn="ctr">
                      <a:noFill/>
                    </a:lnL>
                    <a:lnR w="0" cap="flat" cmpd="sng" algn="ctr">
                      <a:noFill/>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r>
              <a:tr h="393192">
                <a:tc>
                  <a:txBody>
                    <a:bodyPr/>
                    <a:lstStyle/>
                    <a:p>
                      <a:pPr indent="0" marL="0">
                        <a:buNone/>
                      </a:pPr>
                      <a:r>
                        <a:rPr lang="en-US" sz="950" dirty="0">
                          <a:solidFill>
                            <a:srgbClr val="1B2433"/>
                          </a:solidFill>
                          <a:latin typeface="Courier New" pitchFamily="34" charset="0"/>
                          <a:ea typeface="Courier New" pitchFamily="34" charset="-122"/>
                          <a:cs typeface="Courier New" pitchFamily="34" charset="-120"/>
                        </a:rPr>
                        <a:t>call_unknown_active</a:t>
                      </a:r>
                      <a:endParaRPr lang="en-US" sz="950" dirty="0">
                        <a:latin typeface="Courier New" charset="0"/>
                        <a:ea typeface="Courier New" charset="0"/>
                        <a:cs typeface="Courier New" charset="0"/>
                      </a:endParaRPr>
                    </a:p>
                  </a:txBody>
                  <a:tcPr marL="0" marR="54864" marT="18288" marB="18288" anchor="ctr">
                    <a:lnL w="0" cap="flat" cmpd="sng" algn="ctr">
                      <a:noFill/>
                    </a:lnL>
                    <a:lnR w="0" cap="flat" cmpd="sng" algn="ctr">
                      <a:noFill/>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indent="0" marL="0">
                        <a:buNone/>
                      </a:pPr>
                      <a:r>
                        <a:rPr lang="en-US" sz="1000" dirty="0">
                          <a:solidFill>
                            <a:srgbClr val="3A4353"/>
                          </a:solidFill>
                          <a:latin typeface="Calibri" pitchFamily="34" charset="0"/>
                          <a:ea typeface="Calibri" pitchFamily="34" charset="-122"/>
                          <a:cs typeface="Calibri" pitchFamily="34" charset="-120"/>
                        </a:rPr>
                        <a:t>contact</a:t>
                      </a:r>
                      <a:endParaRPr lang="en-US" sz="1000" dirty="0">
                        <a:latin typeface="Calibri" charset="0"/>
                        <a:ea typeface="Calibri" charset="0"/>
                        <a:cs typeface="Calibri" charset="0"/>
                      </a:endParaRPr>
                    </a:p>
                  </a:txBody>
                  <a:tcPr marL="0" marR="54864" marT="18288" marB="18288" anchor="ctr">
                    <a:lnL w="0" cap="flat" cmpd="sng" algn="ctr">
                      <a:noFill/>
                    </a:lnL>
                    <a:lnR w="0" cap="flat" cmpd="sng" algn="ctr">
                      <a:noFill/>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indent="0" marL="0">
                        <a:buNone/>
                      </a:pPr>
                      <a:r>
                        <a:rPr lang="en-US" sz="1000" dirty="0">
                          <a:solidFill>
                            <a:srgbClr val="3A4353"/>
                          </a:solidFill>
                          <a:latin typeface="Calibri" pitchFamily="34" charset="0"/>
                          <a:ea typeface="Calibri" pitchFamily="34" charset="-122"/>
                          <a:cs typeface="Calibri" pitchFamily="34" charset="-120"/>
                        </a:rPr>
                        <a:t>phone</a:t>
                      </a:r>
                      <a:endParaRPr lang="en-US" sz="1000" dirty="0">
                        <a:latin typeface="Calibri" charset="0"/>
                        <a:ea typeface="Calibri" charset="0"/>
                        <a:cs typeface="Calibri" charset="0"/>
                      </a:endParaRPr>
                    </a:p>
                  </a:txBody>
                  <a:tcPr marL="0" marR="54864" marT="18288" marB="18288" anchor="ctr">
                    <a:lnL w="0" cap="flat" cmpd="sng" algn="ctr">
                      <a:noFill/>
                    </a:lnL>
                    <a:lnR w="0" cap="flat" cmpd="sng" algn="ctr">
                      <a:noFill/>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r" indent="0" marL="0">
                        <a:buNone/>
                      </a:pPr>
                      <a:r>
                        <a:rPr lang="en-US" sz="1000" dirty="0">
                          <a:solidFill>
                            <a:srgbClr val="3A4353"/>
                          </a:solidFill>
                          <a:latin typeface="Calibri" pitchFamily="34" charset="0"/>
                          <a:ea typeface="Calibri" pitchFamily="34" charset="-122"/>
                          <a:cs typeface="Calibri" pitchFamily="34" charset="-120"/>
                        </a:rPr>
                        <a:t>+1.13</a:t>
                      </a:r>
                      <a:endParaRPr lang="en-US" sz="1000" dirty="0">
                        <a:latin typeface="Calibri" charset="0"/>
                        <a:ea typeface="Calibri" charset="0"/>
                        <a:cs typeface="Calibri" charset="0"/>
                      </a:endParaRPr>
                    </a:p>
                  </a:txBody>
                  <a:tcPr marL="0" marR="54864" marT="18288" marB="18288" anchor="ctr">
                    <a:lnL w="0" cap="flat" cmpd="sng" algn="ctr">
                      <a:noFill/>
                    </a:lnL>
                    <a:lnR w="0" cap="flat" cmpd="sng" algn="ctr">
                      <a:noFill/>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indent="0" marL="0">
                        <a:buNone/>
                      </a:pPr>
                      <a:r>
                        <a:rPr lang="en-US" sz="1000" dirty="0">
                          <a:solidFill>
                            <a:srgbClr val="3A4353"/>
                          </a:solidFill>
                          <a:latin typeface="Calibri" pitchFamily="34" charset="0"/>
                          <a:ea typeface="Calibri" pitchFamily="34" charset="-122"/>
                          <a:cs typeface="Calibri" pitchFamily="34" charset="-120"/>
                        </a:rPr>
                        <a:t>On a call with a number not in contacts</a:t>
                      </a:r>
                      <a:endParaRPr lang="en-US" sz="1000" dirty="0">
                        <a:latin typeface="Calibri" charset="0"/>
                        <a:ea typeface="Calibri" charset="0"/>
                        <a:cs typeface="Calibri" charset="0"/>
                      </a:endParaRPr>
                    </a:p>
                  </a:txBody>
                  <a:tcPr marL="0" marR="54864" marT="18288" marB="18288" anchor="ctr">
                    <a:lnL w="0" cap="flat" cmpd="sng" algn="ctr">
                      <a:noFill/>
                    </a:lnL>
                    <a:lnR w="0" cap="flat" cmpd="sng" algn="ctr">
                      <a:noFill/>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r>
              <a:tr h="393192">
                <a:tc>
                  <a:txBody>
                    <a:bodyPr/>
                    <a:lstStyle/>
                    <a:p>
                      <a:pPr indent="0" marL="0">
                        <a:buNone/>
                      </a:pPr>
                      <a:r>
                        <a:rPr lang="en-US" sz="950" dirty="0">
                          <a:solidFill>
                            <a:srgbClr val="1B2433"/>
                          </a:solidFill>
                          <a:latin typeface="Courier New" pitchFamily="34" charset="0"/>
                          <a:ea typeface="Courier New" pitchFamily="34" charset="-122"/>
                          <a:cs typeface="Courier New" pitchFamily="34" charset="-120"/>
                        </a:rPr>
                        <a:t>call_long</a:t>
                      </a:r>
                      <a:endParaRPr lang="en-US" sz="950" dirty="0">
                        <a:latin typeface="Courier New" charset="0"/>
                        <a:ea typeface="Courier New" charset="0"/>
                        <a:cs typeface="Courier New" charset="0"/>
                      </a:endParaRPr>
                    </a:p>
                  </a:txBody>
                  <a:tcPr marL="0" marR="54864" marT="18288" marB="18288" anchor="ctr">
                    <a:lnL w="0" cap="flat" cmpd="sng" algn="ctr">
                      <a:noFill/>
                    </a:lnL>
                    <a:lnR w="0" cap="flat" cmpd="sng" algn="ctr">
                      <a:noFill/>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indent="0" marL="0">
                        <a:buNone/>
                      </a:pPr>
                      <a:r>
                        <a:rPr lang="en-US" sz="1000" dirty="0">
                          <a:solidFill>
                            <a:srgbClr val="3A4353"/>
                          </a:solidFill>
                          <a:latin typeface="Calibri" pitchFamily="34" charset="0"/>
                          <a:ea typeface="Calibri" pitchFamily="34" charset="-122"/>
                          <a:cs typeface="Calibri" pitchFamily="34" charset="-120"/>
                        </a:rPr>
                        <a:t>contact</a:t>
                      </a:r>
                      <a:endParaRPr lang="en-US" sz="1000" dirty="0">
                        <a:latin typeface="Calibri" charset="0"/>
                        <a:ea typeface="Calibri" charset="0"/>
                        <a:cs typeface="Calibri" charset="0"/>
                      </a:endParaRPr>
                    </a:p>
                  </a:txBody>
                  <a:tcPr marL="0" marR="54864" marT="18288" marB="18288" anchor="ctr">
                    <a:lnL w="0" cap="flat" cmpd="sng" algn="ctr">
                      <a:noFill/>
                    </a:lnL>
                    <a:lnR w="0" cap="flat" cmpd="sng" algn="ctr">
                      <a:noFill/>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indent="0" marL="0">
                        <a:buNone/>
                      </a:pPr>
                      <a:r>
                        <a:rPr lang="en-US" sz="1000" dirty="0">
                          <a:solidFill>
                            <a:srgbClr val="3A4353"/>
                          </a:solidFill>
                          <a:latin typeface="Calibri" pitchFamily="34" charset="0"/>
                          <a:ea typeface="Calibri" pitchFamily="34" charset="-122"/>
                          <a:cs typeface="Calibri" pitchFamily="34" charset="-120"/>
                        </a:rPr>
                        <a:t>phone</a:t>
                      </a:r>
                      <a:endParaRPr lang="en-US" sz="1000" dirty="0">
                        <a:latin typeface="Calibri" charset="0"/>
                        <a:ea typeface="Calibri" charset="0"/>
                        <a:cs typeface="Calibri" charset="0"/>
                      </a:endParaRPr>
                    </a:p>
                  </a:txBody>
                  <a:tcPr marL="0" marR="54864" marT="18288" marB="18288" anchor="ctr">
                    <a:lnL w="0" cap="flat" cmpd="sng" algn="ctr">
                      <a:noFill/>
                    </a:lnL>
                    <a:lnR w="0" cap="flat" cmpd="sng" algn="ctr">
                      <a:noFill/>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r" indent="0" marL="0">
                        <a:buNone/>
                      </a:pPr>
                      <a:r>
                        <a:rPr lang="en-US" sz="1000" dirty="0">
                          <a:solidFill>
                            <a:srgbClr val="3A4353"/>
                          </a:solidFill>
                          <a:latin typeface="Calibri" pitchFamily="34" charset="0"/>
                          <a:ea typeface="Calibri" pitchFamily="34" charset="-122"/>
                          <a:cs typeface="Calibri" pitchFamily="34" charset="-120"/>
                        </a:rPr>
                        <a:t>+1.52</a:t>
                      </a:r>
                      <a:endParaRPr lang="en-US" sz="1000" dirty="0">
                        <a:latin typeface="Calibri" charset="0"/>
                        <a:ea typeface="Calibri" charset="0"/>
                        <a:cs typeface="Calibri" charset="0"/>
                      </a:endParaRPr>
                    </a:p>
                  </a:txBody>
                  <a:tcPr marL="0" marR="54864" marT="18288" marB="18288" anchor="ctr">
                    <a:lnL w="0" cap="flat" cmpd="sng" algn="ctr">
                      <a:noFill/>
                    </a:lnL>
                    <a:lnR w="0" cap="flat" cmpd="sng" algn="ctr">
                      <a:noFill/>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indent="0" marL="0">
                        <a:buNone/>
                      </a:pPr>
                      <a:r>
                        <a:rPr lang="en-US" sz="1000" dirty="0">
                          <a:solidFill>
                            <a:srgbClr val="3A4353"/>
                          </a:solidFill>
                          <a:latin typeface="Calibri" pitchFamily="34" charset="0"/>
                          <a:ea typeface="Calibri" pitchFamily="34" charset="-122"/>
                          <a:cs typeface="Calibri" pitchFamily="34" charset="-120"/>
                        </a:rPr>
                        <a:t>Call longer than 20 minutes</a:t>
                      </a:r>
                      <a:endParaRPr lang="en-US" sz="1000" dirty="0">
                        <a:latin typeface="Calibri" charset="0"/>
                        <a:ea typeface="Calibri" charset="0"/>
                        <a:cs typeface="Calibri" charset="0"/>
                      </a:endParaRPr>
                    </a:p>
                  </a:txBody>
                  <a:tcPr marL="0" marR="54864" marT="18288" marB="18288" anchor="ctr">
                    <a:lnL w="0" cap="flat" cmpd="sng" algn="ctr">
                      <a:noFill/>
                    </a:lnL>
                    <a:lnR w="0" cap="flat" cmpd="sng" algn="ctr">
                      <a:noFill/>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r>
              <a:tr h="393192">
                <a:tc>
                  <a:txBody>
                    <a:bodyPr/>
                    <a:lstStyle/>
                    <a:p>
                      <a:pPr indent="0" marL="0">
                        <a:buNone/>
                      </a:pPr>
                      <a:r>
                        <a:rPr lang="en-US" sz="950" dirty="0">
                          <a:solidFill>
                            <a:srgbClr val="1B2433"/>
                          </a:solidFill>
                          <a:latin typeface="Courier New" pitchFamily="34" charset="0"/>
                          <a:ea typeface="Courier New" pitchFamily="34" charset="-122"/>
                          <a:cs typeface="Courier New" pitchFamily="34" charset="-120"/>
                        </a:rPr>
                        <a:t>video_call</a:t>
                      </a:r>
                      <a:endParaRPr lang="en-US" sz="950" dirty="0">
                        <a:latin typeface="Courier New" charset="0"/>
                        <a:ea typeface="Courier New" charset="0"/>
                        <a:cs typeface="Courier New" charset="0"/>
                      </a:endParaRPr>
                    </a:p>
                  </a:txBody>
                  <a:tcPr marL="0" marR="54864" marT="18288" marB="18288" anchor="ctr">
                    <a:lnL w="0" cap="flat" cmpd="sng" algn="ctr">
                      <a:noFill/>
                    </a:lnL>
                    <a:lnR w="0" cap="flat" cmpd="sng" algn="ctr">
                      <a:noFill/>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indent="0" marL="0">
                        <a:buNone/>
                      </a:pPr>
                      <a:r>
                        <a:rPr lang="en-US" sz="1000" dirty="0">
                          <a:solidFill>
                            <a:srgbClr val="3A4353"/>
                          </a:solidFill>
                          <a:latin typeface="Calibri" pitchFamily="34" charset="0"/>
                          <a:ea typeface="Calibri" pitchFamily="34" charset="-122"/>
                          <a:cs typeface="Calibri" pitchFamily="34" charset="-120"/>
                        </a:rPr>
                        <a:t>contact</a:t>
                      </a:r>
                      <a:endParaRPr lang="en-US" sz="1000" dirty="0">
                        <a:latin typeface="Calibri" charset="0"/>
                        <a:ea typeface="Calibri" charset="0"/>
                        <a:cs typeface="Calibri" charset="0"/>
                      </a:endParaRPr>
                    </a:p>
                  </a:txBody>
                  <a:tcPr marL="0" marR="54864" marT="18288" marB="18288" anchor="ctr">
                    <a:lnL w="0" cap="flat" cmpd="sng" algn="ctr">
                      <a:noFill/>
                    </a:lnL>
                    <a:lnR w="0" cap="flat" cmpd="sng" algn="ctr">
                      <a:noFill/>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indent="0" marL="0">
                        <a:buNone/>
                      </a:pPr>
                      <a:r>
                        <a:rPr lang="en-US" sz="1000" dirty="0">
                          <a:solidFill>
                            <a:srgbClr val="3A4353"/>
                          </a:solidFill>
                          <a:latin typeface="Calibri" pitchFamily="34" charset="0"/>
                          <a:ea typeface="Calibri" pitchFamily="34" charset="-122"/>
                          <a:cs typeface="Calibri" pitchFamily="34" charset="-120"/>
                        </a:rPr>
                        <a:t>phone</a:t>
                      </a:r>
                      <a:endParaRPr lang="en-US" sz="1000" dirty="0">
                        <a:latin typeface="Calibri" charset="0"/>
                        <a:ea typeface="Calibri" charset="0"/>
                        <a:cs typeface="Calibri" charset="0"/>
                      </a:endParaRPr>
                    </a:p>
                  </a:txBody>
                  <a:tcPr marL="0" marR="54864" marT="18288" marB="18288" anchor="ctr">
                    <a:lnL w="0" cap="flat" cmpd="sng" algn="ctr">
                      <a:noFill/>
                    </a:lnL>
                    <a:lnR w="0" cap="flat" cmpd="sng" algn="ctr">
                      <a:noFill/>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r" indent="0" marL="0">
                        <a:buNone/>
                      </a:pPr>
                      <a:r>
                        <a:rPr lang="en-US" sz="1000" dirty="0">
                          <a:solidFill>
                            <a:srgbClr val="3A4353"/>
                          </a:solidFill>
                          <a:latin typeface="Calibri" pitchFamily="34" charset="0"/>
                          <a:ea typeface="Calibri" pitchFamily="34" charset="-122"/>
                          <a:cs typeface="Calibri" pitchFamily="34" charset="-120"/>
                        </a:rPr>
                        <a:t>+0.55</a:t>
                      </a:r>
                      <a:endParaRPr lang="en-US" sz="1000" dirty="0">
                        <a:latin typeface="Calibri" charset="0"/>
                        <a:ea typeface="Calibri" charset="0"/>
                        <a:cs typeface="Calibri" charset="0"/>
                      </a:endParaRPr>
                    </a:p>
                  </a:txBody>
                  <a:tcPr marL="0" marR="54864" marT="18288" marB="18288" anchor="ctr">
                    <a:lnL w="0" cap="flat" cmpd="sng" algn="ctr">
                      <a:noFill/>
                    </a:lnL>
                    <a:lnR w="0" cap="flat" cmpd="sng" algn="ctr">
                      <a:noFill/>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indent="0" marL="0">
                        <a:buNone/>
                      </a:pPr>
                      <a:r>
                        <a:rPr lang="en-US" sz="1000" dirty="0">
                          <a:solidFill>
                            <a:srgbClr val="3A4353"/>
                          </a:solidFill>
                          <a:latin typeface="Calibri" pitchFamily="34" charset="0"/>
                          <a:ea typeface="Calibri" pitchFamily="34" charset="-122"/>
                          <a:cs typeface="Calibri" pitchFamily="34" charset="-120"/>
                        </a:rPr>
                        <a:t>Video/VoIP call active</a:t>
                      </a:r>
                      <a:endParaRPr lang="en-US" sz="1000" dirty="0">
                        <a:latin typeface="Calibri" charset="0"/>
                        <a:ea typeface="Calibri" charset="0"/>
                        <a:cs typeface="Calibri" charset="0"/>
                      </a:endParaRPr>
                    </a:p>
                  </a:txBody>
                  <a:tcPr marL="0" marR="54864" marT="18288" marB="18288" anchor="ctr">
                    <a:lnL w="0" cap="flat" cmpd="sng" algn="ctr">
                      <a:noFill/>
                    </a:lnL>
                    <a:lnR w="0" cap="flat" cmpd="sng" algn="ctr">
                      <a:noFill/>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r>
              <a:tr h="393192">
                <a:tc>
                  <a:txBody>
                    <a:bodyPr/>
                    <a:lstStyle/>
                    <a:p>
                      <a:pPr indent="0" marL="0">
                        <a:buNone/>
                      </a:pPr>
                      <a:r>
                        <a:rPr lang="en-US" sz="950" dirty="0">
                          <a:solidFill>
                            <a:srgbClr val="1B2433"/>
                          </a:solidFill>
                          <a:latin typeface="Courier New" pitchFamily="34" charset="0"/>
                          <a:ea typeface="Courier New" pitchFamily="34" charset="-122"/>
                          <a:cs typeface="Courier New" pitchFamily="34" charset="-120"/>
                        </a:rPr>
                        <a:t>sms_scam_flag</a:t>
                      </a:r>
                      <a:endParaRPr lang="en-US" sz="950" dirty="0">
                        <a:latin typeface="Courier New" charset="0"/>
                        <a:ea typeface="Courier New" charset="0"/>
                        <a:cs typeface="Courier New" charset="0"/>
                      </a:endParaRPr>
                    </a:p>
                  </a:txBody>
                  <a:tcPr marL="0" marR="54864" marT="18288" marB="18288" anchor="ctr">
                    <a:lnL w="0" cap="flat" cmpd="sng" algn="ctr">
                      <a:noFill/>
                    </a:lnL>
                    <a:lnR w="0" cap="flat" cmpd="sng" algn="ctr">
                      <a:noFill/>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indent="0" marL="0">
                        <a:buNone/>
                      </a:pPr>
                      <a:r>
                        <a:rPr lang="en-US" sz="1000" dirty="0">
                          <a:solidFill>
                            <a:srgbClr val="3A4353"/>
                          </a:solidFill>
                          <a:latin typeface="Calibri" pitchFamily="34" charset="0"/>
                          <a:ea typeface="Calibri" pitchFamily="34" charset="-122"/>
                          <a:cs typeface="Calibri" pitchFamily="34" charset="-120"/>
                        </a:rPr>
                        <a:t>contact</a:t>
                      </a:r>
                      <a:endParaRPr lang="en-US" sz="1000" dirty="0">
                        <a:latin typeface="Calibri" charset="0"/>
                        <a:ea typeface="Calibri" charset="0"/>
                        <a:cs typeface="Calibri" charset="0"/>
                      </a:endParaRPr>
                    </a:p>
                  </a:txBody>
                  <a:tcPr marL="0" marR="54864" marT="18288" marB="18288" anchor="ctr">
                    <a:lnL w="0" cap="flat" cmpd="sng" algn="ctr">
                      <a:noFill/>
                    </a:lnL>
                    <a:lnR w="0" cap="flat" cmpd="sng" algn="ctr">
                      <a:noFill/>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indent="0" marL="0">
                        <a:buNone/>
                      </a:pPr>
                      <a:r>
                        <a:rPr lang="en-US" sz="1000" dirty="0">
                          <a:solidFill>
                            <a:srgbClr val="3A4353"/>
                          </a:solidFill>
                          <a:latin typeface="Calibri" pitchFamily="34" charset="0"/>
                          <a:ea typeface="Calibri" pitchFamily="34" charset="-122"/>
                          <a:cs typeface="Calibri" pitchFamily="34" charset="-120"/>
                        </a:rPr>
                        <a:t>phone</a:t>
                      </a:r>
                      <a:endParaRPr lang="en-US" sz="1000" dirty="0">
                        <a:latin typeface="Calibri" charset="0"/>
                        <a:ea typeface="Calibri" charset="0"/>
                        <a:cs typeface="Calibri" charset="0"/>
                      </a:endParaRPr>
                    </a:p>
                  </a:txBody>
                  <a:tcPr marL="0" marR="54864" marT="18288" marB="18288" anchor="ctr">
                    <a:lnL w="0" cap="flat" cmpd="sng" algn="ctr">
                      <a:noFill/>
                    </a:lnL>
                    <a:lnR w="0" cap="flat" cmpd="sng" algn="ctr">
                      <a:noFill/>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r" indent="0" marL="0">
                        <a:buNone/>
                      </a:pPr>
                      <a:r>
                        <a:rPr lang="en-US" sz="1000" dirty="0">
                          <a:solidFill>
                            <a:srgbClr val="3A4353"/>
                          </a:solidFill>
                          <a:latin typeface="Calibri" pitchFamily="34" charset="0"/>
                          <a:ea typeface="Calibri" pitchFamily="34" charset="-122"/>
                          <a:cs typeface="Calibri" pitchFamily="34" charset="-120"/>
                        </a:rPr>
                        <a:t>+1.50</a:t>
                      </a:r>
                      <a:endParaRPr lang="en-US" sz="1000" dirty="0">
                        <a:latin typeface="Calibri" charset="0"/>
                        <a:ea typeface="Calibri" charset="0"/>
                        <a:cs typeface="Calibri" charset="0"/>
                      </a:endParaRPr>
                    </a:p>
                  </a:txBody>
                  <a:tcPr marL="0" marR="54864" marT="18288" marB="18288" anchor="ctr">
                    <a:lnL w="0" cap="flat" cmpd="sng" algn="ctr">
                      <a:noFill/>
                    </a:lnL>
                    <a:lnR w="0" cap="flat" cmpd="sng" algn="ctr">
                      <a:noFill/>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indent="0" marL="0">
                        <a:buNone/>
                      </a:pPr>
                      <a:r>
                        <a:rPr lang="en-US" sz="1000" dirty="0">
                          <a:solidFill>
                            <a:srgbClr val="3A4353"/>
                          </a:solidFill>
                          <a:latin typeface="Calibri" pitchFamily="34" charset="0"/>
                          <a:ea typeface="Calibri" pitchFamily="34" charset="-122"/>
                          <a:cs typeface="Calibri" pitchFamily="34" charset="-120"/>
                        </a:rPr>
                        <a:t>Scam-lure SMS in the last 24 h</a:t>
                      </a:r>
                      <a:endParaRPr lang="en-US" sz="1000" dirty="0">
                        <a:latin typeface="Calibri" charset="0"/>
                        <a:ea typeface="Calibri" charset="0"/>
                        <a:cs typeface="Calibri" charset="0"/>
                      </a:endParaRPr>
                    </a:p>
                  </a:txBody>
                  <a:tcPr marL="0" marR="54864" marT="18288" marB="18288" anchor="ctr">
                    <a:lnL w="0" cap="flat" cmpd="sng" algn="ctr">
                      <a:noFill/>
                    </a:lnL>
                    <a:lnR w="0" cap="flat" cmpd="sng" algn="ctr">
                      <a:noFill/>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r>
              <a:tr h="393192">
                <a:tc>
                  <a:txBody>
                    <a:bodyPr/>
                    <a:lstStyle/>
                    <a:p>
                      <a:pPr indent="0" marL="0">
                        <a:buNone/>
                      </a:pPr>
                      <a:r>
                        <a:rPr lang="en-US" sz="950" dirty="0">
                          <a:solidFill>
                            <a:srgbClr val="1B2433"/>
                          </a:solidFill>
                          <a:latin typeface="Courier New" pitchFamily="34" charset="0"/>
                          <a:ea typeface="Courier New" pitchFamily="34" charset="-122"/>
                          <a:cs typeface="Courier New" pitchFamily="34" charset="-120"/>
                        </a:rPr>
                        <a:t>bait_credit_7d</a:t>
                      </a:r>
                      <a:endParaRPr lang="en-US" sz="950" dirty="0">
                        <a:latin typeface="Courier New" charset="0"/>
                        <a:ea typeface="Courier New" charset="0"/>
                        <a:cs typeface="Courier New" charset="0"/>
                      </a:endParaRPr>
                    </a:p>
                  </a:txBody>
                  <a:tcPr marL="0" marR="54864" marT="18288" marB="18288" anchor="ctr">
                    <a:lnL w="0" cap="flat" cmpd="sng" algn="ctr">
                      <a:noFill/>
                    </a:lnL>
                    <a:lnR w="0" cap="flat" cmpd="sng" algn="ctr">
                      <a:noFill/>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indent="0" marL="0">
                        <a:buNone/>
                      </a:pPr>
                      <a:r>
                        <a:rPr lang="en-US" sz="1000" dirty="0">
                          <a:solidFill>
                            <a:srgbClr val="3A4353"/>
                          </a:solidFill>
                          <a:latin typeface="Calibri" pitchFamily="34" charset="0"/>
                          <a:ea typeface="Calibri" pitchFamily="34" charset="-122"/>
                          <a:cs typeface="Calibri" pitchFamily="34" charset="-120"/>
                        </a:rPr>
                        <a:t>contact</a:t>
                      </a:r>
                      <a:endParaRPr lang="en-US" sz="1000" dirty="0">
                        <a:latin typeface="Calibri" charset="0"/>
                        <a:ea typeface="Calibri" charset="0"/>
                        <a:cs typeface="Calibri" charset="0"/>
                      </a:endParaRPr>
                    </a:p>
                  </a:txBody>
                  <a:tcPr marL="0" marR="54864" marT="18288" marB="18288" anchor="ctr">
                    <a:lnL w="0" cap="flat" cmpd="sng" algn="ctr">
                      <a:noFill/>
                    </a:lnL>
                    <a:lnR w="0" cap="flat" cmpd="sng" algn="ctr">
                      <a:noFill/>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indent="0" marL="0">
                        <a:buNone/>
                      </a:pPr>
                      <a:r>
                        <a:rPr lang="en-US" sz="1000" dirty="0">
                          <a:solidFill>
                            <a:srgbClr val="3A4353"/>
                          </a:solidFill>
                          <a:latin typeface="Calibri" pitchFamily="34" charset="0"/>
                          <a:ea typeface="Calibri" pitchFamily="34" charset="-122"/>
                          <a:cs typeface="Calibri" pitchFamily="34" charset="-120"/>
                        </a:rPr>
                        <a:t>bank</a:t>
                      </a:r>
                      <a:endParaRPr lang="en-US" sz="1000" dirty="0">
                        <a:latin typeface="Calibri" charset="0"/>
                        <a:ea typeface="Calibri" charset="0"/>
                        <a:cs typeface="Calibri" charset="0"/>
                      </a:endParaRPr>
                    </a:p>
                  </a:txBody>
                  <a:tcPr marL="0" marR="54864" marT="18288" marB="18288" anchor="ctr">
                    <a:lnL w="0" cap="flat" cmpd="sng" algn="ctr">
                      <a:noFill/>
                    </a:lnL>
                    <a:lnR w="0" cap="flat" cmpd="sng" algn="ctr">
                      <a:noFill/>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r" indent="0" marL="0">
                        <a:buNone/>
                      </a:pPr>
                      <a:r>
                        <a:rPr lang="en-US" sz="1000" dirty="0">
                          <a:solidFill>
                            <a:srgbClr val="3A4353"/>
                          </a:solidFill>
                          <a:latin typeface="Calibri" pitchFamily="34" charset="0"/>
                          <a:ea typeface="Calibri" pitchFamily="34" charset="-122"/>
                          <a:cs typeface="Calibri" pitchFamily="34" charset="-120"/>
                        </a:rPr>
                        <a:t>+3.00</a:t>
                      </a:r>
                      <a:endParaRPr lang="en-US" sz="1000" dirty="0">
                        <a:latin typeface="Calibri" charset="0"/>
                        <a:ea typeface="Calibri" charset="0"/>
                        <a:cs typeface="Calibri" charset="0"/>
                      </a:endParaRPr>
                    </a:p>
                  </a:txBody>
                  <a:tcPr marL="0" marR="54864" marT="18288" marB="18288" anchor="ctr">
                    <a:lnL w="0" cap="flat" cmpd="sng" algn="ctr">
                      <a:noFill/>
                    </a:lnL>
                    <a:lnR w="0" cap="flat" cmpd="sng" algn="ctr">
                      <a:noFill/>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indent="0" marL="0">
                        <a:buNone/>
                      </a:pPr>
                      <a:r>
                        <a:rPr lang="en-US" sz="1000" dirty="0">
                          <a:solidFill>
                            <a:srgbClr val="3A4353"/>
                          </a:solidFill>
                          <a:latin typeface="Calibri" pitchFamily="34" charset="0"/>
                          <a:ea typeface="Calibri" pitchFamily="34" charset="-122"/>
                          <a:cs typeface="Calibri" pitchFamily="34" charset="-120"/>
                        </a:rPr>
                        <a:t>Small ‘profit’ credits from strangers, last 7 days</a:t>
                      </a:r>
                      <a:endParaRPr lang="en-US" sz="1000" dirty="0">
                        <a:latin typeface="Calibri" charset="0"/>
                        <a:ea typeface="Calibri" charset="0"/>
                        <a:cs typeface="Calibri" charset="0"/>
                      </a:endParaRPr>
                    </a:p>
                  </a:txBody>
                  <a:tcPr marL="0" marR="54864" marT="18288" marB="18288" anchor="ctr">
                    <a:lnL w="0" cap="flat" cmpd="sng" algn="ctr">
                      <a:noFill/>
                    </a:lnL>
                    <a:lnR w="0" cap="flat" cmpd="sng" algn="ctr">
                      <a:noFill/>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r>
              <a:tr h="393192">
                <a:tc>
                  <a:txBody>
                    <a:bodyPr/>
                    <a:lstStyle/>
                    <a:p>
                      <a:pPr indent="0" marL="0">
                        <a:buNone/>
                      </a:pPr>
                      <a:r>
                        <a:rPr lang="en-US" sz="950" dirty="0">
                          <a:solidFill>
                            <a:srgbClr val="1B2433"/>
                          </a:solidFill>
                          <a:latin typeface="Courier New" pitchFamily="34" charset="0"/>
                          <a:ea typeface="Courier New" pitchFamily="34" charset="-122"/>
                          <a:cs typeface="Courier New" pitchFamily="34" charset="-120"/>
                        </a:rPr>
                        <a:t>remote_access</a:t>
                      </a:r>
                      <a:endParaRPr lang="en-US" sz="950" dirty="0">
                        <a:latin typeface="Courier New" charset="0"/>
                        <a:ea typeface="Courier New" charset="0"/>
                        <a:cs typeface="Courier New" charset="0"/>
                      </a:endParaRPr>
                    </a:p>
                  </a:txBody>
                  <a:tcPr marL="0" marR="54864" marT="18288" marB="18288" anchor="ctr">
                    <a:lnL w="0" cap="flat" cmpd="sng" algn="ctr">
                      <a:noFill/>
                    </a:lnL>
                    <a:lnR w="0" cap="flat" cmpd="sng" algn="ctr">
                      <a:noFill/>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indent="0" marL="0">
                        <a:buNone/>
                      </a:pPr>
                      <a:r>
                        <a:rPr lang="en-US" sz="1000" dirty="0">
                          <a:solidFill>
                            <a:srgbClr val="3A4353"/>
                          </a:solidFill>
                          <a:latin typeface="Calibri" pitchFamily="34" charset="0"/>
                          <a:ea typeface="Calibri" pitchFamily="34" charset="-122"/>
                          <a:cs typeface="Calibri" pitchFamily="34" charset="-120"/>
                        </a:rPr>
                        <a:t>control</a:t>
                      </a:r>
                      <a:endParaRPr lang="en-US" sz="1000" dirty="0">
                        <a:latin typeface="Calibri" charset="0"/>
                        <a:ea typeface="Calibri" charset="0"/>
                        <a:cs typeface="Calibri" charset="0"/>
                      </a:endParaRPr>
                    </a:p>
                  </a:txBody>
                  <a:tcPr marL="0" marR="54864" marT="18288" marB="18288" anchor="ctr">
                    <a:lnL w="0" cap="flat" cmpd="sng" algn="ctr">
                      <a:noFill/>
                    </a:lnL>
                    <a:lnR w="0" cap="flat" cmpd="sng" algn="ctr">
                      <a:noFill/>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indent="0" marL="0">
                        <a:buNone/>
                      </a:pPr>
                      <a:r>
                        <a:rPr lang="en-US" sz="1000" dirty="0">
                          <a:solidFill>
                            <a:srgbClr val="3A4353"/>
                          </a:solidFill>
                          <a:latin typeface="Calibri" pitchFamily="34" charset="0"/>
                          <a:ea typeface="Calibri" pitchFamily="34" charset="-122"/>
                          <a:cs typeface="Calibri" pitchFamily="34" charset="-120"/>
                        </a:rPr>
                        <a:t>phone</a:t>
                      </a:r>
                      <a:endParaRPr lang="en-US" sz="1000" dirty="0">
                        <a:latin typeface="Calibri" charset="0"/>
                        <a:ea typeface="Calibri" charset="0"/>
                        <a:cs typeface="Calibri" charset="0"/>
                      </a:endParaRPr>
                    </a:p>
                  </a:txBody>
                  <a:tcPr marL="0" marR="54864" marT="18288" marB="18288" anchor="ctr">
                    <a:lnL w="0" cap="flat" cmpd="sng" algn="ctr">
                      <a:noFill/>
                    </a:lnL>
                    <a:lnR w="0" cap="flat" cmpd="sng" algn="ctr">
                      <a:noFill/>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r" indent="0" marL="0">
                        <a:buNone/>
                      </a:pPr>
                      <a:r>
                        <a:rPr lang="en-US" sz="1000" dirty="0">
                          <a:solidFill>
                            <a:srgbClr val="3A4353"/>
                          </a:solidFill>
                          <a:latin typeface="Calibri" pitchFamily="34" charset="0"/>
                          <a:ea typeface="Calibri" pitchFamily="34" charset="-122"/>
                          <a:cs typeface="Calibri" pitchFamily="34" charset="-120"/>
                        </a:rPr>
                        <a:t>+1.47</a:t>
                      </a:r>
                      <a:endParaRPr lang="en-US" sz="1000" dirty="0">
                        <a:latin typeface="Calibri" charset="0"/>
                        <a:ea typeface="Calibri" charset="0"/>
                        <a:cs typeface="Calibri" charset="0"/>
                      </a:endParaRPr>
                    </a:p>
                  </a:txBody>
                  <a:tcPr marL="0" marR="54864" marT="18288" marB="18288" anchor="ctr">
                    <a:lnL w="0" cap="flat" cmpd="sng" algn="ctr">
                      <a:noFill/>
                    </a:lnL>
                    <a:lnR w="0" cap="flat" cmpd="sng" algn="ctr">
                      <a:noFill/>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indent="0" marL="0">
                        <a:buNone/>
                      </a:pPr>
                      <a:r>
                        <a:rPr lang="en-US" sz="1000" dirty="0">
                          <a:solidFill>
                            <a:srgbClr val="3A4353"/>
                          </a:solidFill>
                          <a:latin typeface="Calibri" pitchFamily="34" charset="0"/>
                          <a:ea typeface="Calibri" pitchFamily="34" charset="-122"/>
                          <a:cs typeface="Calibri" pitchFamily="34" charset="-120"/>
                        </a:rPr>
                        <a:t>Screen-sharing app running</a:t>
                      </a:r>
                      <a:endParaRPr lang="en-US" sz="1000" dirty="0">
                        <a:latin typeface="Calibri" charset="0"/>
                        <a:ea typeface="Calibri" charset="0"/>
                        <a:cs typeface="Calibri" charset="0"/>
                      </a:endParaRPr>
                    </a:p>
                  </a:txBody>
                  <a:tcPr marL="0" marR="54864" marT="18288" marB="18288" anchor="ctr">
                    <a:lnL w="0" cap="flat" cmpd="sng" algn="ctr">
                      <a:noFill/>
                    </a:lnL>
                    <a:lnR w="0" cap="flat" cmpd="sng" algn="ctr">
                      <a:noFill/>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r>
              <a:tr h="393192">
                <a:tc>
                  <a:txBody>
                    <a:bodyPr/>
                    <a:lstStyle/>
                    <a:p>
                      <a:pPr indent="0" marL="0">
                        <a:buNone/>
                      </a:pPr>
                      <a:r>
                        <a:rPr lang="en-US" sz="950" dirty="0">
                          <a:solidFill>
                            <a:srgbClr val="1B2433"/>
                          </a:solidFill>
                          <a:latin typeface="Courier New" pitchFamily="34" charset="0"/>
                          <a:ea typeface="Courier New" pitchFamily="34" charset="-122"/>
                          <a:cs typeface="Courier New" pitchFamily="34" charset="-120"/>
                        </a:rPr>
                        <a:t>sideload_24h</a:t>
                      </a:r>
                      <a:endParaRPr lang="en-US" sz="950" dirty="0">
                        <a:latin typeface="Courier New" charset="0"/>
                        <a:ea typeface="Courier New" charset="0"/>
                        <a:cs typeface="Courier New" charset="0"/>
                      </a:endParaRPr>
                    </a:p>
                  </a:txBody>
                  <a:tcPr marL="0" marR="54864" marT="18288" marB="18288" anchor="ctr">
                    <a:lnL w="0" cap="flat" cmpd="sng" algn="ctr">
                      <a:noFill/>
                    </a:lnL>
                    <a:lnR w="0" cap="flat" cmpd="sng" algn="ctr">
                      <a:noFill/>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indent="0" marL="0">
                        <a:buNone/>
                      </a:pPr>
                      <a:r>
                        <a:rPr lang="en-US" sz="1000" dirty="0">
                          <a:solidFill>
                            <a:srgbClr val="3A4353"/>
                          </a:solidFill>
                          <a:latin typeface="Calibri" pitchFamily="34" charset="0"/>
                          <a:ea typeface="Calibri" pitchFamily="34" charset="-122"/>
                          <a:cs typeface="Calibri" pitchFamily="34" charset="-120"/>
                        </a:rPr>
                        <a:t>control</a:t>
                      </a:r>
                      <a:endParaRPr lang="en-US" sz="1000" dirty="0">
                        <a:latin typeface="Calibri" charset="0"/>
                        <a:ea typeface="Calibri" charset="0"/>
                        <a:cs typeface="Calibri" charset="0"/>
                      </a:endParaRPr>
                    </a:p>
                  </a:txBody>
                  <a:tcPr marL="0" marR="54864" marT="18288" marB="18288" anchor="ctr">
                    <a:lnL w="0" cap="flat" cmpd="sng" algn="ctr">
                      <a:noFill/>
                    </a:lnL>
                    <a:lnR w="0" cap="flat" cmpd="sng" algn="ctr">
                      <a:noFill/>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indent="0" marL="0">
                        <a:buNone/>
                      </a:pPr>
                      <a:r>
                        <a:rPr lang="en-US" sz="1000" dirty="0">
                          <a:solidFill>
                            <a:srgbClr val="3A4353"/>
                          </a:solidFill>
                          <a:latin typeface="Calibri" pitchFamily="34" charset="0"/>
                          <a:ea typeface="Calibri" pitchFamily="34" charset="-122"/>
                          <a:cs typeface="Calibri" pitchFamily="34" charset="-120"/>
                        </a:rPr>
                        <a:t>phone</a:t>
                      </a:r>
                      <a:endParaRPr lang="en-US" sz="1000" dirty="0">
                        <a:latin typeface="Calibri" charset="0"/>
                        <a:ea typeface="Calibri" charset="0"/>
                        <a:cs typeface="Calibri" charset="0"/>
                      </a:endParaRPr>
                    </a:p>
                  </a:txBody>
                  <a:tcPr marL="0" marR="54864" marT="18288" marB="18288" anchor="ctr">
                    <a:lnL w="0" cap="flat" cmpd="sng" algn="ctr">
                      <a:noFill/>
                    </a:lnL>
                    <a:lnR w="0" cap="flat" cmpd="sng" algn="ctr">
                      <a:noFill/>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r" indent="0" marL="0">
                        <a:buNone/>
                      </a:pPr>
                      <a:r>
                        <a:rPr lang="en-US" sz="1000" dirty="0">
                          <a:solidFill>
                            <a:srgbClr val="3A4353"/>
                          </a:solidFill>
                          <a:latin typeface="Calibri" pitchFamily="34" charset="0"/>
                          <a:ea typeface="Calibri" pitchFamily="34" charset="-122"/>
                          <a:cs typeface="Calibri" pitchFamily="34" charset="-120"/>
                        </a:rPr>
                        <a:t>+2.32</a:t>
                      </a:r>
                      <a:endParaRPr lang="en-US" sz="1000" dirty="0">
                        <a:latin typeface="Calibri" charset="0"/>
                        <a:ea typeface="Calibri" charset="0"/>
                        <a:cs typeface="Calibri" charset="0"/>
                      </a:endParaRPr>
                    </a:p>
                  </a:txBody>
                  <a:tcPr marL="0" marR="54864" marT="18288" marB="18288" anchor="ctr">
                    <a:lnL w="0" cap="flat" cmpd="sng" algn="ctr">
                      <a:noFill/>
                    </a:lnL>
                    <a:lnR w="0" cap="flat" cmpd="sng" algn="ctr">
                      <a:noFill/>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indent="0" marL="0">
                        <a:buNone/>
                      </a:pPr>
                      <a:r>
                        <a:rPr lang="en-US" sz="1000" dirty="0">
                          <a:solidFill>
                            <a:srgbClr val="3A4353"/>
                          </a:solidFill>
                          <a:latin typeface="Calibri" pitchFamily="34" charset="0"/>
                          <a:ea typeface="Calibri" pitchFamily="34" charset="-122"/>
                          <a:cs typeface="Calibri" pitchFamily="34" charset="-120"/>
                        </a:rPr>
                        <a:t>App installed outside Play Store, last 24 h</a:t>
                      </a:r>
                      <a:endParaRPr lang="en-US" sz="1000" dirty="0">
                        <a:latin typeface="Calibri" charset="0"/>
                        <a:ea typeface="Calibri" charset="0"/>
                        <a:cs typeface="Calibri" charset="0"/>
                      </a:endParaRPr>
                    </a:p>
                  </a:txBody>
                  <a:tcPr marL="0" marR="54864" marT="18288" marB="18288" anchor="ctr">
                    <a:lnL w="0" cap="flat" cmpd="sng" algn="ctr">
                      <a:noFill/>
                    </a:lnL>
                    <a:lnR w="0" cap="flat" cmpd="sng" algn="ctr">
                      <a:noFill/>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r>
              <a:tr h="393192">
                <a:tc>
                  <a:txBody>
                    <a:bodyPr/>
                    <a:lstStyle/>
                    <a:p>
                      <a:pPr indent="0" marL="0">
                        <a:buNone/>
                      </a:pPr>
                      <a:r>
                        <a:rPr lang="en-US" sz="950" dirty="0">
                          <a:solidFill>
                            <a:srgbClr val="1B2433"/>
                          </a:solidFill>
                          <a:latin typeface="Courier New" pitchFamily="34" charset="0"/>
                          <a:ea typeface="Courier New" pitchFamily="34" charset="-122"/>
                          <a:cs typeface="Courier New" pitchFamily="34" charset="-120"/>
                        </a:rPr>
                        <a:t>accessibility_overlay</a:t>
                      </a:r>
                      <a:endParaRPr lang="en-US" sz="950" dirty="0">
                        <a:latin typeface="Courier New" charset="0"/>
                        <a:ea typeface="Courier New" charset="0"/>
                        <a:cs typeface="Courier New" charset="0"/>
                      </a:endParaRPr>
                    </a:p>
                  </a:txBody>
                  <a:tcPr marL="0" marR="54864" marT="18288" marB="18288" anchor="ctr">
                    <a:lnL w="0" cap="flat" cmpd="sng" algn="ctr">
                      <a:noFill/>
                    </a:lnL>
                    <a:lnR w="0" cap="flat" cmpd="sng" algn="ctr">
                      <a:noFill/>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indent="0" marL="0">
                        <a:buNone/>
                      </a:pPr>
                      <a:r>
                        <a:rPr lang="en-US" sz="1000" dirty="0">
                          <a:solidFill>
                            <a:srgbClr val="3A4353"/>
                          </a:solidFill>
                          <a:latin typeface="Calibri" pitchFamily="34" charset="0"/>
                          <a:ea typeface="Calibri" pitchFamily="34" charset="-122"/>
                          <a:cs typeface="Calibri" pitchFamily="34" charset="-120"/>
                        </a:rPr>
                        <a:t>control</a:t>
                      </a:r>
                      <a:endParaRPr lang="en-US" sz="1000" dirty="0">
                        <a:latin typeface="Calibri" charset="0"/>
                        <a:ea typeface="Calibri" charset="0"/>
                        <a:cs typeface="Calibri" charset="0"/>
                      </a:endParaRPr>
                    </a:p>
                  </a:txBody>
                  <a:tcPr marL="0" marR="54864" marT="18288" marB="18288" anchor="ctr">
                    <a:lnL w="0" cap="flat" cmpd="sng" algn="ctr">
                      <a:noFill/>
                    </a:lnL>
                    <a:lnR w="0" cap="flat" cmpd="sng" algn="ctr">
                      <a:noFill/>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indent="0" marL="0">
                        <a:buNone/>
                      </a:pPr>
                      <a:r>
                        <a:rPr lang="en-US" sz="1000" dirty="0">
                          <a:solidFill>
                            <a:srgbClr val="3A4353"/>
                          </a:solidFill>
                          <a:latin typeface="Calibri" pitchFamily="34" charset="0"/>
                          <a:ea typeface="Calibri" pitchFamily="34" charset="-122"/>
                          <a:cs typeface="Calibri" pitchFamily="34" charset="-120"/>
                        </a:rPr>
                        <a:t>phone</a:t>
                      </a:r>
                      <a:endParaRPr lang="en-US" sz="1000" dirty="0">
                        <a:latin typeface="Calibri" charset="0"/>
                        <a:ea typeface="Calibri" charset="0"/>
                        <a:cs typeface="Calibri" charset="0"/>
                      </a:endParaRPr>
                    </a:p>
                  </a:txBody>
                  <a:tcPr marL="0" marR="54864" marT="18288" marB="18288" anchor="ctr">
                    <a:lnL w="0" cap="flat" cmpd="sng" algn="ctr">
                      <a:noFill/>
                    </a:lnL>
                    <a:lnR w="0" cap="flat" cmpd="sng" algn="ctr">
                      <a:noFill/>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r" indent="0" marL="0">
                        <a:buNone/>
                      </a:pPr>
                      <a:r>
                        <a:rPr lang="en-US" sz="1000" dirty="0">
                          <a:solidFill>
                            <a:srgbClr val="3A4353"/>
                          </a:solidFill>
                          <a:latin typeface="Calibri" pitchFamily="34" charset="0"/>
                          <a:ea typeface="Calibri" pitchFamily="34" charset="-122"/>
                          <a:cs typeface="Calibri" pitchFamily="34" charset="-120"/>
                        </a:rPr>
                        <a:t>+1.34</a:t>
                      </a:r>
                      <a:endParaRPr lang="en-US" sz="1000" dirty="0">
                        <a:latin typeface="Calibri" charset="0"/>
                        <a:ea typeface="Calibri" charset="0"/>
                        <a:cs typeface="Calibri" charset="0"/>
                      </a:endParaRPr>
                    </a:p>
                  </a:txBody>
                  <a:tcPr marL="0" marR="54864" marT="18288" marB="18288" anchor="ctr">
                    <a:lnL w="0" cap="flat" cmpd="sng" algn="ctr">
                      <a:noFill/>
                    </a:lnL>
                    <a:lnR w="0" cap="flat" cmpd="sng" algn="ctr">
                      <a:noFill/>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indent="0" marL="0">
                        <a:buNone/>
                      </a:pPr>
                      <a:r>
                        <a:rPr lang="en-US" sz="1000" dirty="0">
                          <a:solidFill>
                            <a:srgbClr val="3A4353"/>
                          </a:solidFill>
                          <a:latin typeface="Calibri" pitchFamily="34" charset="0"/>
                          <a:ea typeface="Calibri" pitchFamily="34" charset="-122"/>
                          <a:cs typeface="Calibri" pitchFamily="34" charset="-120"/>
                        </a:rPr>
                        <a:t>App can read and draw over the screen</a:t>
                      </a:r>
                      <a:endParaRPr lang="en-US" sz="1000" dirty="0">
                        <a:latin typeface="Calibri" charset="0"/>
                        <a:ea typeface="Calibri" charset="0"/>
                        <a:cs typeface="Calibri" charset="0"/>
                      </a:endParaRPr>
                    </a:p>
                  </a:txBody>
                  <a:tcPr marL="0" marR="54864" marT="18288" marB="18288" anchor="ctr">
                    <a:lnL w="0" cap="flat" cmpd="sng" algn="ctr">
                      <a:noFill/>
                    </a:lnL>
                    <a:lnR w="0" cap="flat" cmpd="sng" algn="ctr">
                      <a:noFill/>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r>
              <a:tr h="393192">
                <a:tc>
                  <a:txBody>
                    <a:bodyPr/>
                    <a:lstStyle/>
                    <a:p>
                      <a:pPr indent="0" marL="0">
                        <a:buNone/>
                      </a:pPr>
                      <a:r>
                        <a:rPr lang="en-US" sz="950" dirty="0">
                          <a:solidFill>
                            <a:srgbClr val="1B2433"/>
                          </a:solidFill>
                          <a:latin typeface="Courier New" pitchFamily="34" charset="0"/>
                          <a:ea typeface="Courier New" pitchFamily="34" charset="-122"/>
                          <a:cs typeface="Courier New" pitchFamily="34" charset="-120"/>
                        </a:rPr>
                        <a:t>otp_read_in_call</a:t>
                      </a:r>
                      <a:endParaRPr lang="en-US" sz="950" dirty="0">
                        <a:latin typeface="Courier New" charset="0"/>
                        <a:ea typeface="Courier New" charset="0"/>
                        <a:cs typeface="Courier New" charset="0"/>
                      </a:endParaRPr>
                    </a:p>
                  </a:txBody>
                  <a:tcPr marL="0" marR="54864" marT="18288" marB="18288" anchor="ctr">
                    <a:lnL w="0" cap="flat" cmpd="sng" algn="ctr">
                      <a:noFill/>
                    </a:lnL>
                    <a:lnR w="0" cap="flat" cmpd="sng" algn="ctr">
                      <a:noFill/>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indent="0" marL="0">
                        <a:buNone/>
                      </a:pPr>
                      <a:r>
                        <a:rPr lang="en-US" sz="1000" dirty="0">
                          <a:solidFill>
                            <a:srgbClr val="3A4353"/>
                          </a:solidFill>
                          <a:latin typeface="Calibri" pitchFamily="34" charset="0"/>
                          <a:ea typeface="Calibri" pitchFamily="34" charset="-122"/>
                          <a:cs typeface="Calibri" pitchFamily="34" charset="-120"/>
                        </a:rPr>
                        <a:t>control</a:t>
                      </a:r>
                      <a:endParaRPr lang="en-US" sz="1000" dirty="0">
                        <a:latin typeface="Calibri" charset="0"/>
                        <a:ea typeface="Calibri" charset="0"/>
                        <a:cs typeface="Calibri" charset="0"/>
                      </a:endParaRPr>
                    </a:p>
                  </a:txBody>
                  <a:tcPr marL="0" marR="54864" marT="18288" marB="18288" anchor="ctr">
                    <a:lnL w="0" cap="flat" cmpd="sng" algn="ctr">
                      <a:noFill/>
                    </a:lnL>
                    <a:lnR w="0" cap="flat" cmpd="sng" algn="ctr">
                      <a:noFill/>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indent="0" marL="0">
                        <a:buNone/>
                      </a:pPr>
                      <a:r>
                        <a:rPr lang="en-US" sz="1000" dirty="0">
                          <a:solidFill>
                            <a:srgbClr val="3A4353"/>
                          </a:solidFill>
                          <a:latin typeface="Calibri" pitchFamily="34" charset="0"/>
                          <a:ea typeface="Calibri" pitchFamily="34" charset="-122"/>
                          <a:cs typeface="Calibri" pitchFamily="34" charset="-120"/>
                        </a:rPr>
                        <a:t>phone</a:t>
                      </a:r>
                      <a:endParaRPr lang="en-US" sz="1000" dirty="0">
                        <a:latin typeface="Calibri" charset="0"/>
                        <a:ea typeface="Calibri" charset="0"/>
                        <a:cs typeface="Calibri" charset="0"/>
                      </a:endParaRPr>
                    </a:p>
                  </a:txBody>
                  <a:tcPr marL="0" marR="54864" marT="18288" marB="18288" anchor="ctr">
                    <a:lnL w="0" cap="flat" cmpd="sng" algn="ctr">
                      <a:noFill/>
                    </a:lnL>
                    <a:lnR w="0" cap="flat" cmpd="sng" algn="ctr">
                      <a:noFill/>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r" indent="0" marL="0">
                        <a:buNone/>
                      </a:pPr>
                      <a:r>
                        <a:rPr lang="en-US" sz="1000" dirty="0">
                          <a:solidFill>
                            <a:srgbClr val="3A4353"/>
                          </a:solidFill>
                          <a:latin typeface="Calibri" pitchFamily="34" charset="0"/>
                          <a:ea typeface="Calibri" pitchFamily="34" charset="-122"/>
                          <a:cs typeface="Calibri" pitchFamily="34" charset="-120"/>
                        </a:rPr>
                        <a:t>+1.31</a:t>
                      </a:r>
                      <a:endParaRPr lang="en-US" sz="1000" dirty="0">
                        <a:latin typeface="Calibri" charset="0"/>
                        <a:ea typeface="Calibri" charset="0"/>
                        <a:cs typeface="Calibri" charset="0"/>
                      </a:endParaRPr>
                    </a:p>
                  </a:txBody>
                  <a:tcPr marL="0" marR="54864" marT="18288" marB="18288" anchor="ctr">
                    <a:lnL w="0" cap="flat" cmpd="sng" algn="ctr">
                      <a:noFill/>
                    </a:lnL>
                    <a:lnR w="0" cap="flat" cmpd="sng" algn="ctr">
                      <a:noFill/>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indent="0" marL="0">
                        <a:buNone/>
                      </a:pPr>
                      <a:r>
                        <a:rPr lang="en-US" sz="1000" dirty="0">
                          <a:solidFill>
                            <a:srgbClr val="3A4353"/>
                          </a:solidFill>
                          <a:latin typeface="Calibri" pitchFamily="34" charset="0"/>
                          <a:ea typeface="Calibri" pitchFamily="34" charset="-122"/>
                          <a:cs typeface="Calibri" pitchFamily="34" charset="-120"/>
                        </a:rPr>
                        <a:t>OTP opened during the unknown call</a:t>
                      </a:r>
                      <a:endParaRPr lang="en-US" sz="1000" dirty="0">
                        <a:latin typeface="Calibri" charset="0"/>
                        <a:ea typeface="Calibri" charset="0"/>
                        <a:cs typeface="Calibri" charset="0"/>
                      </a:endParaRPr>
                    </a:p>
                  </a:txBody>
                  <a:tcPr marL="0" marR="54864" marT="18288" marB="18288" anchor="ctr">
                    <a:lnL w="0" cap="flat" cmpd="sng" algn="ctr">
                      <a:noFill/>
                    </a:lnL>
                    <a:lnR w="0" cap="flat" cmpd="sng" algn="ctr">
                      <a:noFill/>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r>
              <a:tr h="393192">
                <a:tc>
                  <a:txBody>
                    <a:bodyPr/>
                    <a:lstStyle/>
                    <a:p>
                      <a:pPr indent="0" marL="0">
                        <a:buNone/>
                      </a:pPr>
                      <a:r>
                        <a:rPr lang="en-US" sz="950" dirty="0">
                          <a:solidFill>
                            <a:srgbClr val="1B2433"/>
                          </a:solidFill>
                          <a:latin typeface="Courier New" pitchFamily="34" charset="0"/>
                          <a:ea typeface="Courier New" pitchFamily="34" charset="-122"/>
                          <a:cs typeface="Courier New" pitchFamily="34" charset="-120"/>
                        </a:rPr>
                        <a:t>first_time_payee</a:t>
                      </a:r>
                      <a:endParaRPr lang="en-US" sz="950" dirty="0">
                        <a:latin typeface="Courier New" charset="0"/>
                        <a:ea typeface="Courier New" charset="0"/>
                        <a:cs typeface="Courier New" charset="0"/>
                      </a:endParaRPr>
                    </a:p>
                  </a:txBody>
                  <a:tcPr marL="0" marR="54864" marT="18288" marB="18288" anchor="ctr">
                    <a:lnL w="0" cap="flat" cmpd="sng" algn="ctr">
                      <a:noFill/>
                    </a:lnL>
                    <a:lnR w="0" cap="flat" cmpd="sng" algn="ctr">
                      <a:noFill/>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indent="0" marL="0">
                        <a:buNone/>
                      </a:pPr>
                      <a:r>
                        <a:rPr lang="en-US" sz="1000" dirty="0">
                          <a:solidFill>
                            <a:srgbClr val="3A4353"/>
                          </a:solidFill>
                          <a:latin typeface="Calibri" pitchFamily="34" charset="0"/>
                          <a:ea typeface="Calibri" pitchFamily="34" charset="-122"/>
                          <a:cs typeface="Calibri" pitchFamily="34" charset="-120"/>
                        </a:rPr>
                        <a:t>extraction</a:t>
                      </a:r>
                      <a:endParaRPr lang="en-US" sz="1000" dirty="0">
                        <a:latin typeface="Calibri" charset="0"/>
                        <a:ea typeface="Calibri" charset="0"/>
                        <a:cs typeface="Calibri" charset="0"/>
                      </a:endParaRPr>
                    </a:p>
                  </a:txBody>
                  <a:tcPr marL="0" marR="54864" marT="18288" marB="18288" anchor="ctr">
                    <a:lnL w="0" cap="flat" cmpd="sng" algn="ctr">
                      <a:noFill/>
                    </a:lnL>
                    <a:lnR w="0" cap="flat" cmpd="sng" algn="ctr">
                      <a:noFill/>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indent="0" marL="0">
                        <a:buNone/>
                      </a:pPr>
                      <a:r>
                        <a:rPr lang="en-US" sz="1000" dirty="0">
                          <a:solidFill>
                            <a:srgbClr val="3A4353"/>
                          </a:solidFill>
                          <a:latin typeface="Calibri" pitchFamily="34" charset="0"/>
                          <a:ea typeface="Calibri" pitchFamily="34" charset="-122"/>
                          <a:cs typeface="Calibri" pitchFamily="34" charset="-120"/>
                        </a:rPr>
                        <a:t>bank</a:t>
                      </a:r>
                      <a:endParaRPr lang="en-US" sz="1000" dirty="0">
                        <a:latin typeface="Calibri" charset="0"/>
                        <a:ea typeface="Calibri" charset="0"/>
                        <a:cs typeface="Calibri" charset="0"/>
                      </a:endParaRPr>
                    </a:p>
                  </a:txBody>
                  <a:tcPr marL="0" marR="54864" marT="18288" marB="18288" anchor="ctr">
                    <a:lnL w="0" cap="flat" cmpd="sng" algn="ctr">
                      <a:noFill/>
                    </a:lnL>
                    <a:lnR w="0" cap="flat" cmpd="sng" algn="ctr">
                      <a:noFill/>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r" indent="0" marL="0">
                        <a:buNone/>
                      </a:pPr>
                      <a:r>
                        <a:rPr lang="en-US" sz="1000" dirty="0">
                          <a:solidFill>
                            <a:srgbClr val="3A4353"/>
                          </a:solidFill>
                          <a:latin typeface="Calibri" pitchFamily="34" charset="0"/>
                          <a:ea typeface="Calibri" pitchFamily="34" charset="-122"/>
                          <a:cs typeface="Calibri" pitchFamily="34" charset="-120"/>
                        </a:rPr>
                        <a:t>+2.73</a:t>
                      </a:r>
                      <a:endParaRPr lang="en-US" sz="1000" dirty="0">
                        <a:latin typeface="Calibri" charset="0"/>
                        <a:ea typeface="Calibri" charset="0"/>
                        <a:cs typeface="Calibri" charset="0"/>
                      </a:endParaRPr>
                    </a:p>
                  </a:txBody>
                  <a:tcPr marL="0" marR="54864" marT="18288" marB="18288" anchor="ctr">
                    <a:lnL w="0" cap="flat" cmpd="sng" algn="ctr">
                      <a:noFill/>
                    </a:lnL>
                    <a:lnR w="0" cap="flat" cmpd="sng" algn="ctr">
                      <a:noFill/>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indent="0" marL="0">
                        <a:buNone/>
                      </a:pPr>
                      <a:r>
                        <a:rPr lang="en-US" sz="1000" dirty="0">
                          <a:solidFill>
                            <a:srgbClr val="3A4353"/>
                          </a:solidFill>
                          <a:latin typeface="Calibri" pitchFamily="34" charset="0"/>
                          <a:ea typeface="Calibri" pitchFamily="34" charset="-122"/>
                          <a:cs typeface="Calibri" pitchFamily="34" charset="-120"/>
                        </a:rPr>
                        <a:t>Never paid this account before</a:t>
                      </a:r>
                      <a:endParaRPr lang="en-US" sz="1000" dirty="0">
                        <a:latin typeface="Calibri" charset="0"/>
                        <a:ea typeface="Calibri" charset="0"/>
                        <a:cs typeface="Calibri" charset="0"/>
                      </a:endParaRPr>
                    </a:p>
                  </a:txBody>
                  <a:tcPr marL="0" marR="54864" marT="18288" marB="18288" anchor="ctr">
                    <a:lnL w="0" cap="flat" cmpd="sng" algn="ctr">
                      <a:noFill/>
                    </a:lnL>
                    <a:lnR w="0" cap="flat" cmpd="sng" algn="ctr">
                      <a:noFill/>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r>
            </a:tbl>
          </a:graphicData>
        </a:graphic>
      </p:graphicFrame>
      <p:graphicFrame>
        <p:nvGraphicFramePr>
          <p:cNvPr id="33" name="Table 1"/>
          <p:cNvGraphicFramePr>
            <a:graphicFrameLocks noGrp="1"/>
          </p:cNvGraphicFramePr>
          <p:nvPr>
            <p:extLst>
              <p:ext uri="{D42A27DB-BD31-4B8C-83A1-F6EECF244321}">
                <p14:modId xmlns:p14="http://schemas.microsoft.com/office/powerpoint/2010/main" val="1579011935"/>
              </p:ext>
            </p:extLst>
          </p:nvPr>
        </p:nvGraphicFramePr>
        <p:xfrm>
          <a:off x="6172200" y="1325880"/>
          <a:ext cx="5486400" cy="914400"/>
        </p:xfrm>
        <a:graphic>
          <a:graphicData uri="http://schemas.openxmlformats.org/drawingml/2006/table">
            <a:tbl>
              <a:tblPr/>
              <a:tblGrid>
                <a:gridCol w="1783080"/>
                <a:gridCol w="685800"/>
                <a:gridCol w="822960"/>
                <a:gridCol w="502920"/>
                <a:gridCol w="1691640"/>
              </a:tblGrid>
              <a:tr h="393192">
                <a:tc>
                  <a:txBody>
                    <a:bodyPr/>
                    <a:lstStyle/>
                    <a:p>
                      <a:pPr indent="0" marL="0">
                        <a:buNone/>
                      </a:pPr>
                      <a:r>
                        <a:rPr lang="en-US" sz="1000" b="1" dirty="0">
                          <a:solidFill>
                            <a:srgbClr val="3A4353"/>
                          </a:solidFill>
                          <a:latin typeface="Calibri" pitchFamily="34" charset="0"/>
                          <a:ea typeface="Calibri" pitchFamily="34" charset="-122"/>
                          <a:cs typeface="Calibri" pitchFamily="34" charset="-120"/>
                        </a:rPr>
                        <a:t>Signal</a:t>
                      </a:r>
                      <a:endParaRPr lang="en-US" sz="1000" dirty="0">
                        <a:latin typeface="Calibri" charset="0"/>
                        <a:ea typeface="Calibri" charset="0"/>
                        <a:cs typeface="Calibri" charset="0"/>
                      </a:endParaRPr>
                    </a:p>
                  </a:txBody>
                  <a:tcPr marL="0" marR="54864" marT="18288" marB="18288" anchor="ctr">
                    <a:lnL w="0" cap="flat" cmpd="sng" algn="ctr">
                      <a:noFill/>
                    </a:lnL>
                    <a:lnR w="0" cap="flat" cmpd="sng" algn="ctr">
                      <a:noFill/>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indent="0" marL="0">
                        <a:buNone/>
                      </a:pPr>
                      <a:r>
                        <a:rPr lang="en-US" sz="1000" b="1" dirty="0">
                          <a:solidFill>
                            <a:srgbClr val="3A4353"/>
                          </a:solidFill>
                          <a:latin typeface="Calibri" pitchFamily="34" charset="0"/>
                          <a:ea typeface="Calibri" pitchFamily="34" charset="-122"/>
                          <a:cs typeface="Calibri" pitchFamily="34" charset="-120"/>
                        </a:rPr>
                        <a:t>Stage</a:t>
                      </a:r>
                      <a:endParaRPr lang="en-US" sz="1000" dirty="0">
                        <a:latin typeface="Calibri" charset="0"/>
                        <a:ea typeface="Calibri" charset="0"/>
                        <a:cs typeface="Calibri" charset="0"/>
                      </a:endParaRPr>
                    </a:p>
                  </a:txBody>
                  <a:tcPr marL="0" marR="54864" marT="18288" marB="18288" anchor="ctr">
                    <a:lnL w="0" cap="flat" cmpd="sng" algn="ctr">
                      <a:noFill/>
                    </a:lnL>
                    <a:lnR w="0" cap="flat" cmpd="sng" algn="ctr">
                      <a:noFill/>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indent="0" marL="0">
                        <a:buNone/>
                      </a:pPr>
                      <a:r>
                        <a:rPr lang="en-US" sz="1000" b="1" dirty="0">
                          <a:solidFill>
                            <a:srgbClr val="3A4353"/>
                          </a:solidFill>
                          <a:latin typeface="Calibri" pitchFamily="34" charset="0"/>
                          <a:ea typeface="Calibri" pitchFamily="34" charset="-122"/>
                          <a:cs typeface="Calibri" pitchFamily="34" charset="-120"/>
                        </a:rPr>
                        <a:t>Source</a:t>
                      </a:r>
                      <a:endParaRPr lang="en-US" sz="1000" dirty="0">
                        <a:latin typeface="Calibri" charset="0"/>
                        <a:ea typeface="Calibri" charset="0"/>
                        <a:cs typeface="Calibri" charset="0"/>
                      </a:endParaRPr>
                    </a:p>
                  </a:txBody>
                  <a:tcPr marL="0" marR="54864" marT="18288" marB="18288" anchor="ctr">
                    <a:lnL w="0" cap="flat" cmpd="sng" algn="ctr">
                      <a:noFill/>
                    </a:lnL>
                    <a:lnR w="0" cap="flat" cmpd="sng" algn="ctr">
                      <a:noFill/>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indent="0" marL="0">
                        <a:buNone/>
                      </a:pPr>
                      <a:r>
                        <a:rPr lang="en-US" sz="1000" b="1" dirty="0">
                          <a:solidFill>
                            <a:srgbClr val="3A4353"/>
                          </a:solidFill>
                          <a:latin typeface="Calibri" pitchFamily="34" charset="0"/>
                          <a:ea typeface="Calibri" pitchFamily="34" charset="-122"/>
                          <a:cs typeface="Calibri" pitchFamily="34" charset="-120"/>
                        </a:rPr>
                        <a:t>Weight</a:t>
                      </a:r>
                      <a:endParaRPr lang="en-US" sz="1000" dirty="0">
                        <a:latin typeface="Calibri" charset="0"/>
                        <a:ea typeface="Calibri" charset="0"/>
                        <a:cs typeface="Calibri" charset="0"/>
                      </a:endParaRPr>
                    </a:p>
                  </a:txBody>
                  <a:tcPr marL="0" marR="54864" marT="18288" marB="18288" anchor="ctr">
                    <a:lnL w="0" cap="flat" cmpd="sng" algn="ctr">
                      <a:noFill/>
                    </a:lnL>
                    <a:lnR w="0" cap="flat" cmpd="sng" algn="ctr">
                      <a:noFill/>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indent="0" marL="0">
                        <a:buNone/>
                      </a:pPr>
                      <a:r>
                        <a:rPr lang="en-US" sz="1000" b="1" dirty="0">
                          <a:solidFill>
                            <a:srgbClr val="3A4353"/>
                          </a:solidFill>
                          <a:latin typeface="Calibri" pitchFamily="34" charset="0"/>
                          <a:ea typeface="Calibri" pitchFamily="34" charset="-122"/>
                          <a:cs typeface="Calibri" pitchFamily="34" charset="-120"/>
                        </a:rPr>
                        <a:t>Meaning</a:t>
                      </a:r>
                      <a:endParaRPr lang="en-US" sz="1000" dirty="0">
                        <a:latin typeface="Calibri" charset="0"/>
                        <a:ea typeface="Calibri" charset="0"/>
                        <a:cs typeface="Calibri" charset="0"/>
                      </a:endParaRPr>
                    </a:p>
                  </a:txBody>
                  <a:tcPr marL="0" marR="54864" marT="18288" marB="18288" anchor="ctr">
                    <a:lnL w="0" cap="flat" cmpd="sng" algn="ctr">
                      <a:noFill/>
                    </a:lnL>
                    <a:lnR w="0" cap="flat" cmpd="sng" algn="ctr">
                      <a:noFill/>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r>
              <a:tr h="393192">
                <a:tc>
                  <a:txBody>
                    <a:bodyPr/>
                    <a:lstStyle/>
                    <a:p>
                      <a:pPr indent="0" marL="0">
                        <a:buNone/>
                      </a:pPr>
                      <a:r>
                        <a:rPr lang="en-US" sz="950" dirty="0">
                          <a:solidFill>
                            <a:srgbClr val="1B2433"/>
                          </a:solidFill>
                          <a:latin typeface="Courier New" pitchFamily="34" charset="0"/>
                          <a:ea typeface="Courier New" pitchFamily="34" charset="-122"/>
                          <a:cs typeface="Courier New" pitchFamily="34" charset="-120"/>
                        </a:rPr>
                        <a:t>amount_high</a:t>
                      </a:r>
                      <a:endParaRPr lang="en-US" sz="950" dirty="0">
                        <a:latin typeface="Courier New" charset="0"/>
                        <a:ea typeface="Courier New" charset="0"/>
                        <a:cs typeface="Courier New" charset="0"/>
                      </a:endParaRPr>
                    </a:p>
                  </a:txBody>
                  <a:tcPr marL="0" marR="54864" marT="18288" marB="18288" anchor="ctr">
                    <a:lnL w="0" cap="flat" cmpd="sng" algn="ctr">
                      <a:noFill/>
                    </a:lnL>
                    <a:lnR w="0" cap="flat" cmpd="sng" algn="ctr">
                      <a:noFill/>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indent="0" marL="0">
                        <a:buNone/>
                      </a:pPr>
                      <a:r>
                        <a:rPr lang="en-US" sz="1000" dirty="0">
                          <a:solidFill>
                            <a:srgbClr val="3A4353"/>
                          </a:solidFill>
                          <a:latin typeface="Calibri" pitchFamily="34" charset="0"/>
                          <a:ea typeface="Calibri" pitchFamily="34" charset="-122"/>
                          <a:cs typeface="Calibri" pitchFamily="34" charset="-120"/>
                        </a:rPr>
                        <a:t>extraction</a:t>
                      </a:r>
                      <a:endParaRPr lang="en-US" sz="1000" dirty="0">
                        <a:latin typeface="Calibri" charset="0"/>
                        <a:ea typeface="Calibri" charset="0"/>
                        <a:cs typeface="Calibri" charset="0"/>
                      </a:endParaRPr>
                    </a:p>
                  </a:txBody>
                  <a:tcPr marL="0" marR="54864" marT="18288" marB="18288" anchor="ctr">
                    <a:lnL w="0" cap="flat" cmpd="sng" algn="ctr">
                      <a:noFill/>
                    </a:lnL>
                    <a:lnR w="0" cap="flat" cmpd="sng" algn="ctr">
                      <a:noFill/>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indent="0" marL="0">
                        <a:buNone/>
                      </a:pPr>
                      <a:r>
                        <a:rPr lang="en-US" sz="1000" dirty="0">
                          <a:solidFill>
                            <a:srgbClr val="3A4353"/>
                          </a:solidFill>
                          <a:latin typeface="Calibri" pitchFamily="34" charset="0"/>
                          <a:ea typeface="Calibri" pitchFamily="34" charset="-122"/>
                          <a:cs typeface="Calibri" pitchFamily="34" charset="-120"/>
                        </a:rPr>
                        <a:t>bank</a:t>
                      </a:r>
                      <a:endParaRPr lang="en-US" sz="1000" dirty="0">
                        <a:latin typeface="Calibri" charset="0"/>
                        <a:ea typeface="Calibri" charset="0"/>
                        <a:cs typeface="Calibri" charset="0"/>
                      </a:endParaRPr>
                    </a:p>
                  </a:txBody>
                  <a:tcPr marL="0" marR="54864" marT="18288" marB="18288" anchor="ctr">
                    <a:lnL w="0" cap="flat" cmpd="sng" algn="ctr">
                      <a:noFill/>
                    </a:lnL>
                    <a:lnR w="0" cap="flat" cmpd="sng" algn="ctr">
                      <a:noFill/>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r" indent="0" marL="0">
                        <a:buNone/>
                      </a:pPr>
                      <a:r>
                        <a:rPr lang="en-US" sz="1000" dirty="0">
                          <a:solidFill>
                            <a:srgbClr val="3A4353"/>
                          </a:solidFill>
                          <a:latin typeface="Calibri" pitchFamily="34" charset="0"/>
                          <a:ea typeface="Calibri" pitchFamily="34" charset="-122"/>
                          <a:cs typeface="Calibri" pitchFamily="34" charset="-120"/>
                        </a:rPr>
                        <a:t>+1.71</a:t>
                      </a:r>
                      <a:endParaRPr lang="en-US" sz="1000" dirty="0">
                        <a:latin typeface="Calibri" charset="0"/>
                        <a:ea typeface="Calibri" charset="0"/>
                        <a:cs typeface="Calibri" charset="0"/>
                      </a:endParaRPr>
                    </a:p>
                  </a:txBody>
                  <a:tcPr marL="0" marR="54864" marT="18288" marB="18288" anchor="ctr">
                    <a:lnL w="0" cap="flat" cmpd="sng" algn="ctr">
                      <a:noFill/>
                    </a:lnL>
                    <a:lnR w="0" cap="flat" cmpd="sng" algn="ctr">
                      <a:noFill/>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indent="0" marL="0">
                        <a:buNone/>
                      </a:pPr>
                      <a:r>
                        <a:rPr lang="en-US" sz="1000" dirty="0">
                          <a:solidFill>
                            <a:srgbClr val="3A4353"/>
                          </a:solidFill>
                          <a:latin typeface="Calibri" pitchFamily="34" charset="0"/>
                          <a:ea typeface="Calibri" pitchFamily="34" charset="-122"/>
                          <a:cs typeface="Calibri" pitchFamily="34" charset="-120"/>
                        </a:rPr>
                        <a:t>Amount far above usual</a:t>
                      </a:r>
                      <a:endParaRPr lang="en-US" sz="1000" dirty="0">
                        <a:latin typeface="Calibri" charset="0"/>
                        <a:ea typeface="Calibri" charset="0"/>
                        <a:cs typeface="Calibri" charset="0"/>
                      </a:endParaRPr>
                    </a:p>
                  </a:txBody>
                  <a:tcPr marL="0" marR="54864" marT="18288" marB="18288" anchor="ctr">
                    <a:lnL w="0" cap="flat" cmpd="sng" algn="ctr">
                      <a:noFill/>
                    </a:lnL>
                    <a:lnR w="0" cap="flat" cmpd="sng" algn="ctr">
                      <a:noFill/>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r>
              <a:tr h="393192">
                <a:tc>
                  <a:txBody>
                    <a:bodyPr/>
                    <a:lstStyle/>
                    <a:p>
                      <a:pPr indent="0" marL="0">
                        <a:buNone/>
                      </a:pPr>
                      <a:r>
                        <a:rPr lang="en-US" sz="950" dirty="0">
                          <a:solidFill>
                            <a:srgbClr val="1B2433"/>
                          </a:solidFill>
                          <a:latin typeface="Courier New" pitchFamily="34" charset="0"/>
                          <a:ea typeface="Courier New" pitchFamily="34" charset="-122"/>
                          <a:cs typeface="Courier New" pitchFamily="34" charset="-120"/>
                        </a:rPr>
                        <a:t>amount_very_high</a:t>
                      </a:r>
                      <a:endParaRPr lang="en-US" sz="950" dirty="0">
                        <a:latin typeface="Courier New" charset="0"/>
                        <a:ea typeface="Courier New" charset="0"/>
                        <a:cs typeface="Courier New" charset="0"/>
                      </a:endParaRPr>
                    </a:p>
                  </a:txBody>
                  <a:tcPr marL="0" marR="54864" marT="18288" marB="18288" anchor="ctr">
                    <a:lnL w="0" cap="flat" cmpd="sng" algn="ctr">
                      <a:noFill/>
                    </a:lnL>
                    <a:lnR w="0" cap="flat" cmpd="sng" algn="ctr">
                      <a:noFill/>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indent="0" marL="0">
                        <a:buNone/>
                      </a:pPr>
                      <a:r>
                        <a:rPr lang="en-US" sz="1000" dirty="0">
                          <a:solidFill>
                            <a:srgbClr val="3A4353"/>
                          </a:solidFill>
                          <a:latin typeface="Calibri" pitchFamily="34" charset="0"/>
                          <a:ea typeface="Calibri" pitchFamily="34" charset="-122"/>
                          <a:cs typeface="Calibri" pitchFamily="34" charset="-120"/>
                        </a:rPr>
                        <a:t>extraction</a:t>
                      </a:r>
                      <a:endParaRPr lang="en-US" sz="1000" dirty="0">
                        <a:latin typeface="Calibri" charset="0"/>
                        <a:ea typeface="Calibri" charset="0"/>
                        <a:cs typeface="Calibri" charset="0"/>
                      </a:endParaRPr>
                    </a:p>
                  </a:txBody>
                  <a:tcPr marL="0" marR="54864" marT="18288" marB="18288" anchor="ctr">
                    <a:lnL w="0" cap="flat" cmpd="sng" algn="ctr">
                      <a:noFill/>
                    </a:lnL>
                    <a:lnR w="0" cap="flat" cmpd="sng" algn="ctr">
                      <a:noFill/>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indent="0" marL="0">
                        <a:buNone/>
                      </a:pPr>
                      <a:r>
                        <a:rPr lang="en-US" sz="1000" dirty="0">
                          <a:solidFill>
                            <a:srgbClr val="3A4353"/>
                          </a:solidFill>
                          <a:latin typeface="Calibri" pitchFamily="34" charset="0"/>
                          <a:ea typeface="Calibri" pitchFamily="34" charset="-122"/>
                          <a:cs typeface="Calibri" pitchFamily="34" charset="-120"/>
                        </a:rPr>
                        <a:t>bank</a:t>
                      </a:r>
                      <a:endParaRPr lang="en-US" sz="1000" dirty="0">
                        <a:latin typeface="Calibri" charset="0"/>
                        <a:ea typeface="Calibri" charset="0"/>
                        <a:cs typeface="Calibri" charset="0"/>
                      </a:endParaRPr>
                    </a:p>
                  </a:txBody>
                  <a:tcPr marL="0" marR="54864" marT="18288" marB="18288" anchor="ctr">
                    <a:lnL w="0" cap="flat" cmpd="sng" algn="ctr">
                      <a:noFill/>
                    </a:lnL>
                    <a:lnR w="0" cap="flat" cmpd="sng" algn="ctr">
                      <a:noFill/>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r" indent="0" marL="0">
                        <a:buNone/>
                      </a:pPr>
                      <a:r>
                        <a:rPr lang="en-US" sz="1000" dirty="0">
                          <a:solidFill>
                            <a:srgbClr val="3A4353"/>
                          </a:solidFill>
                          <a:latin typeface="Calibri" pitchFamily="34" charset="0"/>
                          <a:ea typeface="Calibri" pitchFamily="34" charset="-122"/>
                          <a:cs typeface="Calibri" pitchFamily="34" charset="-120"/>
                        </a:rPr>
                        <a:t>+0.51</a:t>
                      </a:r>
                      <a:endParaRPr lang="en-US" sz="1000" dirty="0">
                        <a:latin typeface="Calibri" charset="0"/>
                        <a:ea typeface="Calibri" charset="0"/>
                        <a:cs typeface="Calibri" charset="0"/>
                      </a:endParaRPr>
                    </a:p>
                  </a:txBody>
                  <a:tcPr marL="0" marR="54864" marT="18288" marB="18288" anchor="ctr">
                    <a:lnL w="0" cap="flat" cmpd="sng" algn="ctr">
                      <a:noFill/>
                    </a:lnL>
                    <a:lnR w="0" cap="flat" cmpd="sng" algn="ctr">
                      <a:noFill/>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indent="0" marL="0">
                        <a:buNone/>
                      </a:pPr>
                      <a:r>
                        <a:rPr lang="en-US" sz="1000" dirty="0">
                          <a:solidFill>
                            <a:srgbClr val="3A4353"/>
                          </a:solidFill>
                          <a:latin typeface="Calibri" pitchFamily="34" charset="0"/>
                          <a:ea typeface="Calibri" pitchFamily="34" charset="-122"/>
                          <a:cs typeface="Calibri" pitchFamily="34" charset="-120"/>
                        </a:rPr>
                        <a:t>Top 0.1% of the customer’s history</a:t>
                      </a:r>
                      <a:endParaRPr lang="en-US" sz="1000" dirty="0">
                        <a:latin typeface="Calibri" charset="0"/>
                        <a:ea typeface="Calibri" charset="0"/>
                        <a:cs typeface="Calibri" charset="0"/>
                      </a:endParaRPr>
                    </a:p>
                  </a:txBody>
                  <a:tcPr marL="0" marR="54864" marT="18288" marB="18288" anchor="ctr">
                    <a:lnL w="0" cap="flat" cmpd="sng" algn="ctr">
                      <a:noFill/>
                    </a:lnL>
                    <a:lnR w="0" cap="flat" cmpd="sng" algn="ctr">
                      <a:noFill/>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r>
              <a:tr h="393192">
                <a:tc>
                  <a:txBody>
                    <a:bodyPr/>
                    <a:lstStyle/>
                    <a:p>
                      <a:pPr indent="0" marL="0">
                        <a:buNone/>
                      </a:pPr>
                      <a:r>
                        <a:rPr lang="en-US" sz="950" dirty="0">
                          <a:solidFill>
                            <a:srgbClr val="1B2433"/>
                          </a:solidFill>
                          <a:latin typeface="Courier New" pitchFamily="34" charset="0"/>
                          <a:ea typeface="Courier New" pitchFamily="34" charset="-122"/>
                          <a:cs typeface="Courier New" pitchFamily="34" charset="-120"/>
                        </a:rPr>
                        <a:t>balance_drain</a:t>
                      </a:r>
                      <a:endParaRPr lang="en-US" sz="950" dirty="0">
                        <a:latin typeface="Courier New" charset="0"/>
                        <a:ea typeface="Courier New" charset="0"/>
                        <a:cs typeface="Courier New" charset="0"/>
                      </a:endParaRPr>
                    </a:p>
                  </a:txBody>
                  <a:tcPr marL="0" marR="54864" marT="18288" marB="18288" anchor="ctr">
                    <a:lnL w="0" cap="flat" cmpd="sng" algn="ctr">
                      <a:noFill/>
                    </a:lnL>
                    <a:lnR w="0" cap="flat" cmpd="sng" algn="ctr">
                      <a:noFill/>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indent="0" marL="0">
                        <a:buNone/>
                      </a:pPr>
                      <a:r>
                        <a:rPr lang="en-US" sz="1000" dirty="0">
                          <a:solidFill>
                            <a:srgbClr val="3A4353"/>
                          </a:solidFill>
                          <a:latin typeface="Calibri" pitchFamily="34" charset="0"/>
                          <a:ea typeface="Calibri" pitchFamily="34" charset="-122"/>
                          <a:cs typeface="Calibri" pitchFamily="34" charset="-120"/>
                        </a:rPr>
                        <a:t>extraction</a:t>
                      </a:r>
                      <a:endParaRPr lang="en-US" sz="1000" dirty="0">
                        <a:latin typeface="Calibri" charset="0"/>
                        <a:ea typeface="Calibri" charset="0"/>
                        <a:cs typeface="Calibri" charset="0"/>
                      </a:endParaRPr>
                    </a:p>
                  </a:txBody>
                  <a:tcPr marL="0" marR="54864" marT="18288" marB="18288" anchor="ctr">
                    <a:lnL w="0" cap="flat" cmpd="sng" algn="ctr">
                      <a:noFill/>
                    </a:lnL>
                    <a:lnR w="0" cap="flat" cmpd="sng" algn="ctr">
                      <a:noFill/>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indent="0" marL="0">
                        <a:buNone/>
                      </a:pPr>
                      <a:r>
                        <a:rPr lang="en-US" sz="1000" dirty="0">
                          <a:solidFill>
                            <a:srgbClr val="3A4353"/>
                          </a:solidFill>
                          <a:latin typeface="Calibri" pitchFamily="34" charset="0"/>
                          <a:ea typeface="Calibri" pitchFamily="34" charset="-122"/>
                          <a:cs typeface="Calibri" pitchFamily="34" charset="-120"/>
                        </a:rPr>
                        <a:t>bank</a:t>
                      </a:r>
                      <a:endParaRPr lang="en-US" sz="1000" dirty="0">
                        <a:latin typeface="Calibri" charset="0"/>
                        <a:ea typeface="Calibri" charset="0"/>
                        <a:cs typeface="Calibri" charset="0"/>
                      </a:endParaRPr>
                    </a:p>
                  </a:txBody>
                  <a:tcPr marL="0" marR="54864" marT="18288" marB="18288" anchor="ctr">
                    <a:lnL w="0" cap="flat" cmpd="sng" algn="ctr">
                      <a:noFill/>
                    </a:lnL>
                    <a:lnR w="0" cap="flat" cmpd="sng" algn="ctr">
                      <a:noFill/>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r" indent="0" marL="0">
                        <a:buNone/>
                      </a:pPr>
                      <a:r>
                        <a:rPr lang="en-US" sz="1000" dirty="0">
                          <a:solidFill>
                            <a:srgbClr val="3A4353"/>
                          </a:solidFill>
                          <a:latin typeface="Calibri" pitchFamily="34" charset="0"/>
                          <a:ea typeface="Calibri" pitchFamily="34" charset="-122"/>
                          <a:cs typeface="Calibri" pitchFamily="34" charset="-120"/>
                        </a:rPr>
                        <a:t>+2.41</a:t>
                      </a:r>
                      <a:endParaRPr lang="en-US" sz="1000" dirty="0">
                        <a:latin typeface="Calibri" charset="0"/>
                        <a:ea typeface="Calibri" charset="0"/>
                        <a:cs typeface="Calibri" charset="0"/>
                      </a:endParaRPr>
                    </a:p>
                  </a:txBody>
                  <a:tcPr marL="0" marR="54864" marT="18288" marB="18288" anchor="ctr">
                    <a:lnL w="0" cap="flat" cmpd="sng" algn="ctr">
                      <a:noFill/>
                    </a:lnL>
                    <a:lnR w="0" cap="flat" cmpd="sng" algn="ctr">
                      <a:noFill/>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indent="0" marL="0">
                        <a:buNone/>
                      </a:pPr>
                      <a:r>
                        <a:rPr lang="en-US" sz="1000" dirty="0">
                          <a:solidFill>
                            <a:srgbClr val="3A4353"/>
                          </a:solidFill>
                          <a:latin typeface="Calibri" pitchFamily="34" charset="0"/>
                          <a:ea typeface="Calibri" pitchFamily="34" charset="-122"/>
                          <a:cs typeface="Calibri" pitchFamily="34" charset="-120"/>
                        </a:rPr>
                        <a:t>More than 70% of the balance</a:t>
                      </a:r>
                      <a:endParaRPr lang="en-US" sz="1000" dirty="0">
                        <a:latin typeface="Calibri" charset="0"/>
                        <a:ea typeface="Calibri" charset="0"/>
                        <a:cs typeface="Calibri" charset="0"/>
                      </a:endParaRPr>
                    </a:p>
                  </a:txBody>
                  <a:tcPr marL="0" marR="54864" marT="18288" marB="18288" anchor="ctr">
                    <a:lnL w="0" cap="flat" cmpd="sng" algn="ctr">
                      <a:noFill/>
                    </a:lnL>
                    <a:lnR w="0" cap="flat" cmpd="sng" algn="ctr">
                      <a:noFill/>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r>
              <a:tr h="393192">
                <a:tc>
                  <a:txBody>
                    <a:bodyPr/>
                    <a:lstStyle/>
                    <a:p>
                      <a:pPr indent="0" marL="0">
                        <a:buNone/>
                      </a:pPr>
                      <a:r>
                        <a:rPr lang="en-US" sz="950" dirty="0">
                          <a:solidFill>
                            <a:srgbClr val="1B2433"/>
                          </a:solidFill>
                          <a:latin typeface="Courier New" pitchFamily="34" charset="0"/>
                          <a:ea typeface="Courier New" pitchFamily="34" charset="-122"/>
                          <a:cs typeface="Courier New" pitchFamily="34" charset="-120"/>
                        </a:rPr>
                        <a:t>staircase</a:t>
                      </a:r>
                      <a:endParaRPr lang="en-US" sz="950" dirty="0">
                        <a:latin typeface="Courier New" charset="0"/>
                        <a:ea typeface="Courier New" charset="0"/>
                        <a:cs typeface="Courier New" charset="0"/>
                      </a:endParaRPr>
                    </a:p>
                  </a:txBody>
                  <a:tcPr marL="0" marR="54864" marT="18288" marB="18288" anchor="ctr">
                    <a:lnL w="0" cap="flat" cmpd="sng" algn="ctr">
                      <a:noFill/>
                    </a:lnL>
                    <a:lnR w="0" cap="flat" cmpd="sng" algn="ctr">
                      <a:noFill/>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indent="0" marL="0">
                        <a:buNone/>
                      </a:pPr>
                      <a:r>
                        <a:rPr lang="en-US" sz="1000" dirty="0">
                          <a:solidFill>
                            <a:srgbClr val="3A4353"/>
                          </a:solidFill>
                          <a:latin typeface="Calibri" pitchFamily="34" charset="0"/>
                          <a:ea typeface="Calibri" pitchFamily="34" charset="-122"/>
                          <a:cs typeface="Calibri" pitchFamily="34" charset="-120"/>
                        </a:rPr>
                        <a:t>extraction</a:t>
                      </a:r>
                      <a:endParaRPr lang="en-US" sz="1000" dirty="0">
                        <a:latin typeface="Calibri" charset="0"/>
                        <a:ea typeface="Calibri" charset="0"/>
                        <a:cs typeface="Calibri" charset="0"/>
                      </a:endParaRPr>
                    </a:p>
                  </a:txBody>
                  <a:tcPr marL="0" marR="54864" marT="18288" marB="18288" anchor="ctr">
                    <a:lnL w="0" cap="flat" cmpd="sng" algn="ctr">
                      <a:noFill/>
                    </a:lnL>
                    <a:lnR w="0" cap="flat" cmpd="sng" algn="ctr">
                      <a:noFill/>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indent="0" marL="0">
                        <a:buNone/>
                      </a:pPr>
                      <a:r>
                        <a:rPr lang="en-US" sz="1000" dirty="0">
                          <a:solidFill>
                            <a:srgbClr val="3A4353"/>
                          </a:solidFill>
                          <a:latin typeface="Calibri" pitchFamily="34" charset="0"/>
                          <a:ea typeface="Calibri" pitchFamily="34" charset="-122"/>
                          <a:cs typeface="Calibri" pitchFamily="34" charset="-120"/>
                        </a:rPr>
                        <a:t>bank</a:t>
                      </a:r>
                      <a:endParaRPr lang="en-US" sz="1000" dirty="0">
                        <a:latin typeface="Calibri" charset="0"/>
                        <a:ea typeface="Calibri" charset="0"/>
                        <a:cs typeface="Calibri" charset="0"/>
                      </a:endParaRPr>
                    </a:p>
                  </a:txBody>
                  <a:tcPr marL="0" marR="54864" marT="18288" marB="18288" anchor="ctr">
                    <a:lnL w="0" cap="flat" cmpd="sng" algn="ctr">
                      <a:noFill/>
                    </a:lnL>
                    <a:lnR w="0" cap="flat" cmpd="sng" algn="ctr">
                      <a:noFill/>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r" indent="0" marL="0">
                        <a:buNone/>
                      </a:pPr>
                      <a:r>
                        <a:rPr lang="en-US" sz="1000" dirty="0">
                          <a:solidFill>
                            <a:srgbClr val="3A4353"/>
                          </a:solidFill>
                          <a:latin typeface="Calibri" pitchFamily="34" charset="0"/>
                          <a:ea typeface="Calibri" pitchFamily="34" charset="-122"/>
                          <a:cs typeface="Calibri" pitchFamily="34" charset="-120"/>
                        </a:rPr>
                        <a:t>+1.19</a:t>
                      </a:r>
                      <a:endParaRPr lang="en-US" sz="1000" dirty="0">
                        <a:latin typeface="Calibri" charset="0"/>
                        <a:ea typeface="Calibri" charset="0"/>
                        <a:cs typeface="Calibri" charset="0"/>
                      </a:endParaRPr>
                    </a:p>
                  </a:txBody>
                  <a:tcPr marL="0" marR="54864" marT="18288" marB="18288" anchor="ctr">
                    <a:lnL w="0" cap="flat" cmpd="sng" algn="ctr">
                      <a:noFill/>
                    </a:lnL>
                    <a:lnR w="0" cap="flat" cmpd="sng" algn="ctr">
                      <a:noFill/>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indent="0" marL="0">
                        <a:buNone/>
                      </a:pPr>
                      <a:r>
                        <a:rPr lang="en-US" sz="1000" dirty="0">
                          <a:solidFill>
                            <a:srgbClr val="3A4353"/>
                          </a:solidFill>
                          <a:latin typeface="Calibri" pitchFamily="34" charset="0"/>
                          <a:ea typeface="Calibri" pitchFamily="34" charset="-122"/>
                          <a:cs typeface="Calibri" pitchFamily="34" charset="-120"/>
                        </a:rPr>
                        <a:t>Several new-payee payments in 60 min</a:t>
                      </a:r>
                      <a:endParaRPr lang="en-US" sz="1000" dirty="0">
                        <a:latin typeface="Calibri" charset="0"/>
                        <a:ea typeface="Calibri" charset="0"/>
                        <a:cs typeface="Calibri" charset="0"/>
                      </a:endParaRPr>
                    </a:p>
                  </a:txBody>
                  <a:tcPr marL="0" marR="54864" marT="18288" marB="18288" anchor="ctr">
                    <a:lnL w="0" cap="flat" cmpd="sng" algn="ctr">
                      <a:noFill/>
                    </a:lnL>
                    <a:lnR w="0" cap="flat" cmpd="sng" algn="ctr">
                      <a:noFill/>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r>
              <a:tr h="393192">
                <a:tc>
                  <a:txBody>
                    <a:bodyPr/>
                    <a:lstStyle/>
                    <a:p>
                      <a:pPr indent="0" marL="0">
                        <a:buNone/>
                      </a:pPr>
                      <a:r>
                        <a:rPr lang="en-US" sz="950" dirty="0">
                          <a:solidFill>
                            <a:srgbClr val="1B2433"/>
                          </a:solidFill>
                          <a:latin typeface="Courier New" pitchFamily="34" charset="0"/>
                          <a:ea typeface="Courier New" pitchFamily="34" charset="-122"/>
                          <a:cs typeface="Courier New" pitchFamily="34" charset="-120"/>
                        </a:rPr>
                        <a:t>fd_broken_24h</a:t>
                      </a:r>
                      <a:endParaRPr lang="en-US" sz="950" dirty="0">
                        <a:latin typeface="Courier New" charset="0"/>
                        <a:ea typeface="Courier New" charset="0"/>
                        <a:cs typeface="Courier New" charset="0"/>
                      </a:endParaRPr>
                    </a:p>
                  </a:txBody>
                  <a:tcPr marL="0" marR="54864" marT="18288" marB="18288" anchor="ctr">
                    <a:lnL w="0" cap="flat" cmpd="sng" algn="ctr">
                      <a:noFill/>
                    </a:lnL>
                    <a:lnR w="0" cap="flat" cmpd="sng" algn="ctr">
                      <a:noFill/>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indent="0" marL="0">
                        <a:buNone/>
                      </a:pPr>
                      <a:r>
                        <a:rPr lang="en-US" sz="1000" dirty="0">
                          <a:solidFill>
                            <a:srgbClr val="3A4353"/>
                          </a:solidFill>
                          <a:latin typeface="Calibri" pitchFamily="34" charset="0"/>
                          <a:ea typeface="Calibri" pitchFamily="34" charset="-122"/>
                          <a:cs typeface="Calibri" pitchFamily="34" charset="-120"/>
                        </a:rPr>
                        <a:t>extraction</a:t>
                      </a:r>
                      <a:endParaRPr lang="en-US" sz="1000" dirty="0">
                        <a:latin typeface="Calibri" charset="0"/>
                        <a:ea typeface="Calibri" charset="0"/>
                        <a:cs typeface="Calibri" charset="0"/>
                      </a:endParaRPr>
                    </a:p>
                  </a:txBody>
                  <a:tcPr marL="0" marR="54864" marT="18288" marB="18288" anchor="ctr">
                    <a:lnL w="0" cap="flat" cmpd="sng" algn="ctr">
                      <a:noFill/>
                    </a:lnL>
                    <a:lnR w="0" cap="flat" cmpd="sng" algn="ctr">
                      <a:noFill/>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indent="0" marL="0">
                        <a:buNone/>
                      </a:pPr>
                      <a:r>
                        <a:rPr lang="en-US" sz="1000" dirty="0">
                          <a:solidFill>
                            <a:srgbClr val="3A4353"/>
                          </a:solidFill>
                          <a:latin typeface="Calibri" pitchFamily="34" charset="0"/>
                          <a:ea typeface="Calibri" pitchFamily="34" charset="-122"/>
                          <a:cs typeface="Calibri" pitchFamily="34" charset="-120"/>
                        </a:rPr>
                        <a:t>bank</a:t>
                      </a:r>
                      <a:endParaRPr lang="en-US" sz="1000" dirty="0">
                        <a:latin typeface="Calibri" charset="0"/>
                        <a:ea typeface="Calibri" charset="0"/>
                        <a:cs typeface="Calibri" charset="0"/>
                      </a:endParaRPr>
                    </a:p>
                  </a:txBody>
                  <a:tcPr marL="0" marR="54864" marT="18288" marB="18288" anchor="ctr">
                    <a:lnL w="0" cap="flat" cmpd="sng" algn="ctr">
                      <a:noFill/>
                    </a:lnL>
                    <a:lnR w="0" cap="flat" cmpd="sng" algn="ctr">
                      <a:noFill/>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r" indent="0" marL="0">
                        <a:buNone/>
                      </a:pPr>
                      <a:r>
                        <a:rPr lang="en-US" sz="1000" dirty="0">
                          <a:solidFill>
                            <a:srgbClr val="3A4353"/>
                          </a:solidFill>
                          <a:latin typeface="Calibri" pitchFamily="34" charset="0"/>
                          <a:ea typeface="Calibri" pitchFamily="34" charset="-122"/>
                          <a:cs typeface="Calibri" pitchFamily="34" charset="-120"/>
                        </a:rPr>
                        <a:t>+1.93</a:t>
                      </a:r>
                      <a:endParaRPr lang="en-US" sz="1000" dirty="0">
                        <a:latin typeface="Calibri" charset="0"/>
                        <a:ea typeface="Calibri" charset="0"/>
                        <a:cs typeface="Calibri" charset="0"/>
                      </a:endParaRPr>
                    </a:p>
                  </a:txBody>
                  <a:tcPr marL="0" marR="54864" marT="18288" marB="18288" anchor="ctr">
                    <a:lnL w="0" cap="flat" cmpd="sng" algn="ctr">
                      <a:noFill/>
                    </a:lnL>
                    <a:lnR w="0" cap="flat" cmpd="sng" algn="ctr">
                      <a:noFill/>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indent="0" marL="0">
                        <a:buNone/>
                      </a:pPr>
                      <a:r>
                        <a:rPr lang="en-US" sz="1000" dirty="0">
                          <a:solidFill>
                            <a:srgbClr val="3A4353"/>
                          </a:solidFill>
                          <a:latin typeface="Calibri" pitchFamily="34" charset="0"/>
                          <a:ea typeface="Calibri" pitchFamily="34" charset="-122"/>
                          <a:cs typeface="Calibri" pitchFamily="34" charset="-120"/>
                        </a:rPr>
                        <a:t>Fixed deposit broken or loan taken, last 24 h</a:t>
                      </a:r>
                      <a:endParaRPr lang="en-US" sz="1000" dirty="0">
                        <a:latin typeface="Calibri" charset="0"/>
                        <a:ea typeface="Calibri" charset="0"/>
                        <a:cs typeface="Calibri" charset="0"/>
                      </a:endParaRPr>
                    </a:p>
                  </a:txBody>
                  <a:tcPr marL="0" marR="54864" marT="18288" marB="18288" anchor="ctr">
                    <a:lnL w="0" cap="flat" cmpd="sng" algn="ctr">
                      <a:noFill/>
                    </a:lnL>
                    <a:lnR w="0" cap="flat" cmpd="sng" algn="ctr">
                      <a:noFill/>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r>
              <a:tr h="393192">
                <a:tc>
                  <a:txBody>
                    <a:bodyPr/>
                    <a:lstStyle/>
                    <a:p>
                      <a:pPr indent="0" marL="0">
                        <a:buNone/>
                      </a:pPr>
                      <a:r>
                        <a:rPr lang="en-US" sz="950" dirty="0">
                          <a:solidFill>
                            <a:srgbClr val="1B2433"/>
                          </a:solidFill>
                          <a:latin typeface="Courier New" pitchFamily="34" charset="0"/>
                          <a:ea typeface="Courier New" pitchFamily="34" charset="-122"/>
                          <a:cs typeface="Courier New" pitchFamily="34" charset="-120"/>
                        </a:rPr>
                        <a:t>vpa_typed</a:t>
                      </a:r>
                      <a:endParaRPr lang="en-US" sz="950" dirty="0">
                        <a:latin typeface="Courier New" charset="0"/>
                        <a:ea typeface="Courier New" charset="0"/>
                        <a:cs typeface="Courier New" charset="0"/>
                      </a:endParaRPr>
                    </a:p>
                  </a:txBody>
                  <a:tcPr marL="0" marR="54864" marT="18288" marB="18288" anchor="ctr">
                    <a:lnL w="0" cap="flat" cmpd="sng" algn="ctr">
                      <a:noFill/>
                    </a:lnL>
                    <a:lnR w="0" cap="flat" cmpd="sng" algn="ctr">
                      <a:noFill/>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indent="0" marL="0">
                        <a:buNone/>
                      </a:pPr>
                      <a:r>
                        <a:rPr lang="en-US" sz="1000" dirty="0">
                          <a:solidFill>
                            <a:srgbClr val="3A4353"/>
                          </a:solidFill>
                          <a:latin typeface="Calibri" pitchFamily="34" charset="0"/>
                          <a:ea typeface="Calibri" pitchFamily="34" charset="-122"/>
                          <a:cs typeface="Calibri" pitchFamily="34" charset="-120"/>
                        </a:rPr>
                        <a:t>extraction</a:t>
                      </a:r>
                      <a:endParaRPr lang="en-US" sz="1000" dirty="0">
                        <a:latin typeface="Calibri" charset="0"/>
                        <a:ea typeface="Calibri" charset="0"/>
                        <a:cs typeface="Calibri" charset="0"/>
                      </a:endParaRPr>
                    </a:p>
                  </a:txBody>
                  <a:tcPr marL="0" marR="54864" marT="18288" marB="18288" anchor="ctr">
                    <a:lnL w="0" cap="flat" cmpd="sng" algn="ctr">
                      <a:noFill/>
                    </a:lnL>
                    <a:lnR w="0" cap="flat" cmpd="sng" algn="ctr">
                      <a:noFill/>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indent="0" marL="0">
                        <a:buNone/>
                      </a:pPr>
                      <a:r>
                        <a:rPr lang="en-US" sz="1000" dirty="0">
                          <a:solidFill>
                            <a:srgbClr val="3A4353"/>
                          </a:solidFill>
                          <a:latin typeface="Calibri" pitchFamily="34" charset="0"/>
                          <a:ea typeface="Calibri" pitchFamily="34" charset="-122"/>
                          <a:cs typeface="Calibri" pitchFamily="34" charset="-120"/>
                        </a:rPr>
                        <a:t>phone</a:t>
                      </a:r>
                      <a:endParaRPr lang="en-US" sz="1000" dirty="0">
                        <a:latin typeface="Calibri" charset="0"/>
                        <a:ea typeface="Calibri" charset="0"/>
                        <a:cs typeface="Calibri" charset="0"/>
                      </a:endParaRPr>
                    </a:p>
                  </a:txBody>
                  <a:tcPr marL="0" marR="54864" marT="18288" marB="18288" anchor="ctr">
                    <a:lnL w="0" cap="flat" cmpd="sng" algn="ctr">
                      <a:noFill/>
                    </a:lnL>
                    <a:lnR w="0" cap="flat" cmpd="sng" algn="ctr">
                      <a:noFill/>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r" indent="0" marL="0">
                        <a:buNone/>
                      </a:pPr>
                      <a:r>
                        <a:rPr lang="en-US" sz="1000" dirty="0">
                          <a:solidFill>
                            <a:srgbClr val="3A4353"/>
                          </a:solidFill>
                          <a:latin typeface="Calibri" pitchFamily="34" charset="0"/>
                          <a:ea typeface="Calibri" pitchFamily="34" charset="-122"/>
                          <a:cs typeface="Calibri" pitchFamily="34" charset="-120"/>
                        </a:rPr>
                        <a:t>+2.08</a:t>
                      </a:r>
                      <a:endParaRPr lang="en-US" sz="1000" dirty="0">
                        <a:latin typeface="Calibri" charset="0"/>
                        <a:ea typeface="Calibri" charset="0"/>
                        <a:cs typeface="Calibri" charset="0"/>
                      </a:endParaRPr>
                    </a:p>
                  </a:txBody>
                  <a:tcPr marL="0" marR="54864" marT="18288" marB="18288" anchor="ctr">
                    <a:lnL w="0" cap="flat" cmpd="sng" algn="ctr">
                      <a:noFill/>
                    </a:lnL>
                    <a:lnR w="0" cap="flat" cmpd="sng" algn="ctr">
                      <a:noFill/>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indent="0" marL="0">
                        <a:buNone/>
                      </a:pPr>
                      <a:r>
                        <a:rPr lang="en-US" sz="1000" dirty="0">
                          <a:solidFill>
                            <a:srgbClr val="3A4353"/>
                          </a:solidFill>
                          <a:latin typeface="Calibri" pitchFamily="34" charset="0"/>
                          <a:ea typeface="Calibri" pitchFamily="34" charset="-122"/>
                          <a:cs typeface="Calibri" pitchFamily="34" charset="-120"/>
                        </a:rPr>
                        <a:t>Payee typed instead of scanned or picked</a:t>
                      </a:r>
                      <a:endParaRPr lang="en-US" sz="1000" dirty="0">
                        <a:latin typeface="Calibri" charset="0"/>
                        <a:ea typeface="Calibri" charset="0"/>
                        <a:cs typeface="Calibri" charset="0"/>
                      </a:endParaRPr>
                    </a:p>
                  </a:txBody>
                  <a:tcPr marL="0" marR="54864" marT="18288" marB="18288" anchor="ctr">
                    <a:lnL w="0" cap="flat" cmpd="sng" algn="ctr">
                      <a:noFill/>
                    </a:lnL>
                    <a:lnR w="0" cap="flat" cmpd="sng" algn="ctr">
                      <a:noFill/>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r>
              <a:tr h="393192">
                <a:tc>
                  <a:txBody>
                    <a:bodyPr/>
                    <a:lstStyle/>
                    <a:p>
                      <a:pPr indent="0" marL="0">
                        <a:buNone/>
                      </a:pPr>
                      <a:r>
                        <a:rPr lang="en-US" sz="950" dirty="0">
                          <a:solidFill>
                            <a:srgbClr val="1B2433"/>
                          </a:solidFill>
                          <a:latin typeface="Courier New" pitchFamily="34" charset="0"/>
                          <a:ea typeface="Courier New" pitchFamily="34" charset="-122"/>
                          <a:cs typeface="Courier New" pitchFamily="34" charset="-120"/>
                        </a:rPr>
                        <a:t>collect_from_p2p</a:t>
                      </a:r>
                      <a:endParaRPr lang="en-US" sz="950" dirty="0">
                        <a:latin typeface="Courier New" charset="0"/>
                        <a:ea typeface="Courier New" charset="0"/>
                        <a:cs typeface="Courier New" charset="0"/>
                      </a:endParaRPr>
                    </a:p>
                  </a:txBody>
                  <a:tcPr marL="0" marR="54864" marT="18288" marB="18288" anchor="ctr">
                    <a:lnL w="0" cap="flat" cmpd="sng" algn="ctr">
                      <a:noFill/>
                    </a:lnL>
                    <a:lnR w="0" cap="flat" cmpd="sng" algn="ctr">
                      <a:noFill/>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indent="0" marL="0">
                        <a:buNone/>
                      </a:pPr>
                      <a:r>
                        <a:rPr lang="en-US" sz="1000" dirty="0">
                          <a:solidFill>
                            <a:srgbClr val="3A4353"/>
                          </a:solidFill>
                          <a:latin typeface="Calibri" pitchFamily="34" charset="0"/>
                          <a:ea typeface="Calibri" pitchFamily="34" charset="-122"/>
                          <a:cs typeface="Calibri" pitchFamily="34" charset="-120"/>
                        </a:rPr>
                        <a:t>extraction</a:t>
                      </a:r>
                      <a:endParaRPr lang="en-US" sz="1000" dirty="0">
                        <a:latin typeface="Calibri" charset="0"/>
                        <a:ea typeface="Calibri" charset="0"/>
                        <a:cs typeface="Calibri" charset="0"/>
                      </a:endParaRPr>
                    </a:p>
                  </a:txBody>
                  <a:tcPr marL="0" marR="54864" marT="18288" marB="18288" anchor="ctr">
                    <a:lnL w="0" cap="flat" cmpd="sng" algn="ctr">
                      <a:noFill/>
                    </a:lnL>
                    <a:lnR w="0" cap="flat" cmpd="sng" algn="ctr">
                      <a:noFill/>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indent="0" marL="0">
                        <a:buNone/>
                      </a:pPr>
                      <a:r>
                        <a:rPr lang="en-US" sz="1000" dirty="0">
                          <a:solidFill>
                            <a:srgbClr val="3A4353"/>
                          </a:solidFill>
                          <a:latin typeface="Calibri" pitchFamily="34" charset="0"/>
                          <a:ea typeface="Calibri" pitchFamily="34" charset="-122"/>
                          <a:cs typeface="Calibri" pitchFamily="34" charset="-120"/>
                        </a:rPr>
                        <a:t>receiving acct.</a:t>
                      </a:r>
                      <a:endParaRPr lang="en-US" sz="1000" dirty="0">
                        <a:latin typeface="Calibri" charset="0"/>
                        <a:ea typeface="Calibri" charset="0"/>
                        <a:cs typeface="Calibri" charset="0"/>
                      </a:endParaRPr>
                    </a:p>
                  </a:txBody>
                  <a:tcPr marL="0" marR="54864" marT="18288" marB="18288" anchor="ctr">
                    <a:lnL w="0" cap="flat" cmpd="sng" algn="ctr">
                      <a:noFill/>
                    </a:lnL>
                    <a:lnR w="0" cap="flat" cmpd="sng" algn="ctr">
                      <a:noFill/>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r" indent="0" marL="0">
                        <a:buNone/>
                      </a:pPr>
                      <a:r>
                        <a:rPr lang="en-US" sz="1000" dirty="0">
                          <a:solidFill>
                            <a:srgbClr val="3A4353"/>
                          </a:solidFill>
                          <a:latin typeface="Calibri" pitchFamily="34" charset="0"/>
                          <a:ea typeface="Calibri" pitchFamily="34" charset="-122"/>
                          <a:cs typeface="Calibri" pitchFamily="34" charset="-120"/>
                        </a:rPr>
                        <a:t>+4.66</a:t>
                      </a:r>
                      <a:endParaRPr lang="en-US" sz="1000" dirty="0">
                        <a:latin typeface="Calibri" charset="0"/>
                        <a:ea typeface="Calibri" charset="0"/>
                        <a:cs typeface="Calibri" charset="0"/>
                      </a:endParaRPr>
                    </a:p>
                  </a:txBody>
                  <a:tcPr marL="0" marR="54864" marT="18288" marB="18288" anchor="ctr">
                    <a:lnL w="0" cap="flat" cmpd="sng" algn="ctr">
                      <a:noFill/>
                    </a:lnL>
                    <a:lnR w="0" cap="flat" cmpd="sng" algn="ctr">
                      <a:noFill/>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indent="0" marL="0">
                        <a:buNone/>
                      </a:pPr>
                      <a:r>
                        <a:rPr lang="en-US" sz="1000" dirty="0">
                          <a:solidFill>
                            <a:srgbClr val="3A4353"/>
                          </a:solidFill>
                          <a:latin typeface="Calibri" pitchFamily="34" charset="0"/>
                          <a:ea typeface="Calibri" pitchFamily="34" charset="-122"/>
                          <a:cs typeface="Calibri" pitchFamily="34" charset="-120"/>
                        </a:rPr>
                        <a:t>Collect request from an individual</a:t>
                      </a:r>
                      <a:endParaRPr lang="en-US" sz="1000" dirty="0">
                        <a:latin typeface="Calibri" charset="0"/>
                        <a:ea typeface="Calibri" charset="0"/>
                        <a:cs typeface="Calibri" charset="0"/>
                      </a:endParaRPr>
                    </a:p>
                  </a:txBody>
                  <a:tcPr marL="0" marR="54864" marT="18288" marB="18288" anchor="ctr">
                    <a:lnL w="0" cap="flat" cmpd="sng" algn="ctr">
                      <a:noFill/>
                    </a:lnL>
                    <a:lnR w="0" cap="flat" cmpd="sng" algn="ctr">
                      <a:noFill/>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r>
              <a:tr h="393192">
                <a:tc>
                  <a:txBody>
                    <a:bodyPr/>
                    <a:lstStyle/>
                    <a:p>
                      <a:pPr indent="0" marL="0">
                        <a:buNone/>
                      </a:pPr>
                      <a:r>
                        <a:rPr lang="en-US" sz="950" dirty="0">
                          <a:solidFill>
                            <a:srgbClr val="1B2433"/>
                          </a:solidFill>
                          <a:latin typeface="Courier New" pitchFamily="34" charset="0"/>
                          <a:ea typeface="Courier New" pitchFamily="34" charset="-122"/>
                          <a:cs typeface="Courier New" pitchFamily="34" charset="-120"/>
                        </a:rPr>
                        <a:t>payee_mule_high</a:t>
                      </a:r>
                      <a:endParaRPr lang="en-US" sz="950" dirty="0">
                        <a:latin typeface="Courier New" charset="0"/>
                        <a:ea typeface="Courier New" charset="0"/>
                        <a:cs typeface="Courier New" charset="0"/>
                      </a:endParaRPr>
                    </a:p>
                  </a:txBody>
                  <a:tcPr marL="0" marR="54864" marT="18288" marB="18288" anchor="ctr">
                    <a:lnL w="0" cap="flat" cmpd="sng" algn="ctr">
                      <a:noFill/>
                    </a:lnL>
                    <a:lnR w="0" cap="flat" cmpd="sng" algn="ctr">
                      <a:noFill/>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indent="0" marL="0">
                        <a:buNone/>
                      </a:pPr>
                      <a:r>
                        <a:rPr lang="en-US" sz="1000" dirty="0">
                          <a:solidFill>
                            <a:srgbClr val="3A4353"/>
                          </a:solidFill>
                          <a:latin typeface="Calibri" pitchFamily="34" charset="0"/>
                          <a:ea typeface="Calibri" pitchFamily="34" charset="-122"/>
                          <a:cs typeface="Calibri" pitchFamily="34" charset="-120"/>
                        </a:rPr>
                        <a:t>cash-out</a:t>
                      </a:r>
                      <a:endParaRPr lang="en-US" sz="1000" dirty="0">
                        <a:latin typeface="Calibri" charset="0"/>
                        <a:ea typeface="Calibri" charset="0"/>
                        <a:cs typeface="Calibri" charset="0"/>
                      </a:endParaRPr>
                    </a:p>
                  </a:txBody>
                  <a:tcPr marL="0" marR="54864" marT="18288" marB="18288" anchor="ctr">
                    <a:lnL w="0" cap="flat" cmpd="sng" algn="ctr">
                      <a:noFill/>
                    </a:lnL>
                    <a:lnR w="0" cap="flat" cmpd="sng" algn="ctr">
                      <a:noFill/>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indent="0" marL="0">
                        <a:buNone/>
                      </a:pPr>
                      <a:r>
                        <a:rPr lang="en-US" sz="1000" dirty="0">
                          <a:solidFill>
                            <a:srgbClr val="3A4353"/>
                          </a:solidFill>
                          <a:latin typeface="Calibri" pitchFamily="34" charset="0"/>
                          <a:ea typeface="Calibri" pitchFamily="34" charset="-122"/>
                          <a:cs typeface="Calibri" pitchFamily="34" charset="-120"/>
                        </a:rPr>
                        <a:t>receiving acct.</a:t>
                      </a:r>
                      <a:endParaRPr lang="en-US" sz="1000" dirty="0">
                        <a:latin typeface="Calibri" charset="0"/>
                        <a:ea typeface="Calibri" charset="0"/>
                        <a:cs typeface="Calibri" charset="0"/>
                      </a:endParaRPr>
                    </a:p>
                  </a:txBody>
                  <a:tcPr marL="0" marR="54864" marT="18288" marB="18288" anchor="ctr">
                    <a:lnL w="0" cap="flat" cmpd="sng" algn="ctr">
                      <a:noFill/>
                    </a:lnL>
                    <a:lnR w="0" cap="flat" cmpd="sng" algn="ctr">
                      <a:noFill/>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r" indent="0" marL="0">
                        <a:buNone/>
                      </a:pPr>
                      <a:r>
                        <a:rPr lang="en-US" sz="1000" dirty="0">
                          <a:solidFill>
                            <a:srgbClr val="3A4353"/>
                          </a:solidFill>
                          <a:latin typeface="Calibri" pitchFamily="34" charset="0"/>
                          <a:ea typeface="Calibri" pitchFamily="34" charset="-122"/>
                          <a:cs typeface="Calibri" pitchFamily="34" charset="-120"/>
                        </a:rPr>
                        <a:t>+5.74</a:t>
                      </a:r>
                      <a:endParaRPr lang="en-US" sz="1000" dirty="0">
                        <a:latin typeface="Calibri" charset="0"/>
                        <a:ea typeface="Calibri" charset="0"/>
                        <a:cs typeface="Calibri" charset="0"/>
                      </a:endParaRPr>
                    </a:p>
                  </a:txBody>
                  <a:tcPr marL="0" marR="54864" marT="18288" marB="18288" anchor="ctr">
                    <a:lnL w="0" cap="flat" cmpd="sng" algn="ctr">
                      <a:noFill/>
                    </a:lnL>
                    <a:lnR w="0" cap="flat" cmpd="sng" algn="ctr">
                      <a:noFill/>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indent="0" marL="0">
                        <a:buNone/>
                      </a:pPr>
                      <a:r>
                        <a:rPr lang="en-US" sz="1000" dirty="0">
                          <a:solidFill>
                            <a:srgbClr val="3A4353"/>
                          </a:solidFill>
                          <a:latin typeface="Calibri" pitchFamily="34" charset="0"/>
                          <a:ea typeface="Calibri" pitchFamily="34" charset="-122"/>
                          <a:cs typeface="Calibri" pitchFamily="34" charset="-120"/>
                        </a:rPr>
                        <a:t>Account behaves like a mule</a:t>
                      </a:r>
                      <a:endParaRPr lang="en-US" sz="1000" dirty="0">
                        <a:latin typeface="Calibri" charset="0"/>
                        <a:ea typeface="Calibri" charset="0"/>
                        <a:cs typeface="Calibri" charset="0"/>
                      </a:endParaRPr>
                    </a:p>
                  </a:txBody>
                  <a:tcPr marL="0" marR="54864" marT="18288" marB="18288" anchor="ctr">
                    <a:lnL w="0" cap="flat" cmpd="sng" algn="ctr">
                      <a:noFill/>
                    </a:lnL>
                    <a:lnR w="0" cap="flat" cmpd="sng" algn="ctr">
                      <a:noFill/>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r>
              <a:tr h="393192">
                <a:tc>
                  <a:txBody>
                    <a:bodyPr/>
                    <a:lstStyle/>
                    <a:p>
                      <a:pPr indent="0" marL="0">
                        <a:buNone/>
                      </a:pPr>
                      <a:r>
                        <a:rPr lang="en-US" sz="950" dirty="0">
                          <a:solidFill>
                            <a:srgbClr val="1B2433"/>
                          </a:solidFill>
                          <a:latin typeface="Courier New" pitchFamily="34" charset="0"/>
                          <a:ea typeface="Courier New" pitchFamily="34" charset="-122"/>
                          <a:cs typeface="Courier New" pitchFamily="34" charset="-120"/>
                        </a:rPr>
                        <a:t>payee_new_account</a:t>
                      </a:r>
                      <a:endParaRPr lang="en-US" sz="950" dirty="0">
                        <a:latin typeface="Courier New" charset="0"/>
                        <a:ea typeface="Courier New" charset="0"/>
                        <a:cs typeface="Courier New" charset="0"/>
                      </a:endParaRPr>
                    </a:p>
                  </a:txBody>
                  <a:tcPr marL="0" marR="54864" marT="18288" marB="18288" anchor="ctr">
                    <a:lnL w="0" cap="flat" cmpd="sng" algn="ctr">
                      <a:noFill/>
                    </a:lnL>
                    <a:lnR w="0" cap="flat" cmpd="sng" algn="ctr">
                      <a:noFill/>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indent="0" marL="0">
                        <a:buNone/>
                      </a:pPr>
                      <a:r>
                        <a:rPr lang="en-US" sz="1000" dirty="0">
                          <a:solidFill>
                            <a:srgbClr val="3A4353"/>
                          </a:solidFill>
                          <a:latin typeface="Calibri" pitchFamily="34" charset="0"/>
                          <a:ea typeface="Calibri" pitchFamily="34" charset="-122"/>
                          <a:cs typeface="Calibri" pitchFamily="34" charset="-120"/>
                        </a:rPr>
                        <a:t>cash-out</a:t>
                      </a:r>
                      <a:endParaRPr lang="en-US" sz="1000" dirty="0">
                        <a:latin typeface="Calibri" charset="0"/>
                        <a:ea typeface="Calibri" charset="0"/>
                        <a:cs typeface="Calibri" charset="0"/>
                      </a:endParaRPr>
                    </a:p>
                  </a:txBody>
                  <a:tcPr marL="0" marR="54864" marT="18288" marB="18288" anchor="ctr">
                    <a:lnL w="0" cap="flat" cmpd="sng" algn="ctr">
                      <a:noFill/>
                    </a:lnL>
                    <a:lnR w="0" cap="flat" cmpd="sng" algn="ctr">
                      <a:noFill/>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indent="0" marL="0">
                        <a:buNone/>
                      </a:pPr>
                      <a:r>
                        <a:rPr lang="en-US" sz="1000" dirty="0">
                          <a:solidFill>
                            <a:srgbClr val="3A4353"/>
                          </a:solidFill>
                          <a:latin typeface="Calibri" pitchFamily="34" charset="0"/>
                          <a:ea typeface="Calibri" pitchFamily="34" charset="-122"/>
                          <a:cs typeface="Calibri" pitchFamily="34" charset="-120"/>
                        </a:rPr>
                        <a:t>receiving acct.</a:t>
                      </a:r>
                      <a:endParaRPr lang="en-US" sz="1000" dirty="0">
                        <a:latin typeface="Calibri" charset="0"/>
                        <a:ea typeface="Calibri" charset="0"/>
                        <a:cs typeface="Calibri" charset="0"/>
                      </a:endParaRPr>
                    </a:p>
                  </a:txBody>
                  <a:tcPr marL="0" marR="54864" marT="18288" marB="18288" anchor="ctr">
                    <a:lnL w="0" cap="flat" cmpd="sng" algn="ctr">
                      <a:noFill/>
                    </a:lnL>
                    <a:lnR w="0" cap="flat" cmpd="sng" algn="ctr">
                      <a:noFill/>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r" indent="0" marL="0">
                        <a:buNone/>
                      </a:pPr>
                      <a:r>
                        <a:rPr lang="en-US" sz="1000" dirty="0">
                          <a:solidFill>
                            <a:srgbClr val="3A4353"/>
                          </a:solidFill>
                          <a:latin typeface="Calibri" pitchFamily="34" charset="0"/>
                          <a:ea typeface="Calibri" pitchFamily="34" charset="-122"/>
                          <a:cs typeface="Calibri" pitchFamily="34" charset="-120"/>
                        </a:rPr>
                        <a:t>+1.00</a:t>
                      </a:r>
                      <a:endParaRPr lang="en-US" sz="1000" dirty="0">
                        <a:latin typeface="Calibri" charset="0"/>
                        <a:ea typeface="Calibri" charset="0"/>
                        <a:cs typeface="Calibri" charset="0"/>
                      </a:endParaRPr>
                    </a:p>
                  </a:txBody>
                  <a:tcPr marL="0" marR="54864" marT="18288" marB="18288" anchor="ctr">
                    <a:lnL w="0" cap="flat" cmpd="sng" algn="ctr">
                      <a:noFill/>
                    </a:lnL>
                    <a:lnR w="0" cap="flat" cmpd="sng" algn="ctr">
                      <a:noFill/>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indent="0" marL="0">
                        <a:buNone/>
                      </a:pPr>
                      <a:r>
                        <a:rPr lang="en-US" sz="1000" dirty="0">
                          <a:solidFill>
                            <a:srgbClr val="3A4353"/>
                          </a:solidFill>
                          <a:latin typeface="Calibri" pitchFamily="34" charset="0"/>
                          <a:ea typeface="Calibri" pitchFamily="34" charset="-122"/>
                          <a:cs typeface="Calibri" pitchFamily="34" charset="-120"/>
                        </a:rPr>
                        <a:t>Account less than 30 days old</a:t>
                      </a:r>
                      <a:endParaRPr lang="en-US" sz="1000" dirty="0">
                        <a:latin typeface="Calibri" charset="0"/>
                        <a:ea typeface="Calibri" charset="0"/>
                        <a:cs typeface="Calibri" charset="0"/>
                      </a:endParaRPr>
                    </a:p>
                  </a:txBody>
                  <a:tcPr marL="0" marR="54864" marT="18288" marB="18288" anchor="ctr">
                    <a:lnL w="0" cap="flat" cmpd="sng" algn="ctr">
                      <a:noFill/>
                    </a:lnL>
                    <a:lnR w="0" cap="flat" cmpd="sng" algn="ctr">
                      <a:noFill/>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r>
              <a:tr h="393192">
                <a:tc>
                  <a:txBody>
                    <a:bodyPr/>
                    <a:lstStyle/>
                    <a:p>
                      <a:pPr indent="0" marL="0">
                        <a:buNone/>
                      </a:pPr>
                      <a:r>
                        <a:rPr lang="en-US" sz="950" dirty="0">
                          <a:solidFill>
                            <a:srgbClr val="1B2433"/>
                          </a:solidFill>
                          <a:latin typeface="Courier New" pitchFamily="34" charset="0"/>
                          <a:ea typeface="Courier New" pitchFamily="34" charset="-122"/>
                          <a:cs typeface="Courier New" pitchFamily="34" charset="-120"/>
                        </a:rPr>
                        <a:t>payee_registry_hit</a:t>
                      </a:r>
                      <a:endParaRPr lang="en-US" sz="950" dirty="0">
                        <a:latin typeface="Courier New" charset="0"/>
                        <a:ea typeface="Courier New" charset="0"/>
                        <a:cs typeface="Courier New" charset="0"/>
                      </a:endParaRPr>
                    </a:p>
                  </a:txBody>
                  <a:tcPr marL="0" marR="54864" marT="18288" marB="18288" anchor="ctr">
                    <a:lnL w="0" cap="flat" cmpd="sng" algn="ctr">
                      <a:noFill/>
                    </a:lnL>
                    <a:lnR w="0" cap="flat" cmpd="sng" algn="ctr">
                      <a:noFill/>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indent="0" marL="0">
                        <a:buNone/>
                      </a:pPr>
                      <a:r>
                        <a:rPr lang="en-US" sz="1000" dirty="0">
                          <a:solidFill>
                            <a:srgbClr val="3A4353"/>
                          </a:solidFill>
                          <a:latin typeface="Calibri" pitchFamily="34" charset="0"/>
                          <a:ea typeface="Calibri" pitchFamily="34" charset="-122"/>
                          <a:cs typeface="Calibri" pitchFamily="34" charset="-120"/>
                        </a:rPr>
                        <a:t>cash-out</a:t>
                      </a:r>
                      <a:endParaRPr lang="en-US" sz="1000" dirty="0">
                        <a:latin typeface="Calibri" charset="0"/>
                        <a:ea typeface="Calibri" charset="0"/>
                        <a:cs typeface="Calibri" charset="0"/>
                      </a:endParaRPr>
                    </a:p>
                  </a:txBody>
                  <a:tcPr marL="0" marR="54864" marT="18288" marB="18288" anchor="ctr">
                    <a:lnL w="0" cap="flat" cmpd="sng" algn="ctr">
                      <a:noFill/>
                    </a:lnL>
                    <a:lnR w="0" cap="flat" cmpd="sng" algn="ctr">
                      <a:noFill/>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indent="0" marL="0">
                        <a:buNone/>
                      </a:pPr>
                      <a:r>
                        <a:rPr lang="en-US" sz="1000" dirty="0">
                          <a:solidFill>
                            <a:srgbClr val="3A4353"/>
                          </a:solidFill>
                          <a:latin typeface="Calibri" pitchFamily="34" charset="0"/>
                          <a:ea typeface="Calibri" pitchFamily="34" charset="-122"/>
                          <a:cs typeface="Calibri" pitchFamily="34" charset="-120"/>
                        </a:rPr>
                        <a:t>receiving acct.</a:t>
                      </a:r>
                      <a:endParaRPr lang="en-US" sz="1000" dirty="0">
                        <a:latin typeface="Calibri" charset="0"/>
                        <a:ea typeface="Calibri" charset="0"/>
                        <a:cs typeface="Calibri" charset="0"/>
                      </a:endParaRPr>
                    </a:p>
                  </a:txBody>
                  <a:tcPr marL="0" marR="54864" marT="18288" marB="18288" anchor="ctr">
                    <a:lnL w="0" cap="flat" cmpd="sng" algn="ctr">
                      <a:noFill/>
                    </a:lnL>
                    <a:lnR w="0" cap="flat" cmpd="sng" algn="ctr">
                      <a:noFill/>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r" indent="0" marL="0">
                        <a:buNone/>
                      </a:pPr>
                      <a:r>
                        <a:rPr lang="en-US" sz="1000" dirty="0">
                          <a:solidFill>
                            <a:srgbClr val="3A4353"/>
                          </a:solidFill>
                          <a:latin typeface="Calibri" pitchFamily="34" charset="0"/>
                          <a:ea typeface="Calibri" pitchFamily="34" charset="-122"/>
                          <a:cs typeface="Calibri" pitchFamily="34" charset="-120"/>
                        </a:rPr>
                        <a:t>+3.43</a:t>
                      </a:r>
                      <a:endParaRPr lang="en-US" sz="1000" dirty="0">
                        <a:latin typeface="Calibri" charset="0"/>
                        <a:ea typeface="Calibri" charset="0"/>
                        <a:cs typeface="Calibri" charset="0"/>
                      </a:endParaRPr>
                    </a:p>
                  </a:txBody>
                  <a:tcPr marL="0" marR="54864" marT="18288" marB="18288" anchor="ctr">
                    <a:lnL w="0" cap="flat" cmpd="sng" algn="ctr">
                      <a:noFill/>
                    </a:lnL>
                    <a:lnR w="0" cap="flat" cmpd="sng" algn="ctr">
                      <a:noFill/>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indent="0" marL="0">
                        <a:buNone/>
                      </a:pPr>
                      <a:r>
                        <a:rPr lang="en-US" sz="1000" dirty="0">
                          <a:solidFill>
                            <a:srgbClr val="3A4353"/>
                          </a:solidFill>
                          <a:latin typeface="Calibri" pitchFamily="34" charset="0"/>
                          <a:ea typeface="Calibri" pitchFamily="34" charset="-122"/>
                          <a:cs typeface="Calibri" pitchFamily="34" charset="-120"/>
                        </a:rPr>
                        <a:t>Account on a suspect list</a:t>
                      </a:r>
                      <a:endParaRPr lang="en-US" sz="1000" dirty="0">
                        <a:latin typeface="Calibri" charset="0"/>
                        <a:ea typeface="Calibri" charset="0"/>
                        <a:cs typeface="Calibri" charset="0"/>
                      </a:endParaRPr>
                    </a:p>
                  </a:txBody>
                  <a:tcPr marL="0" marR="54864" marT="18288" marB="18288" anchor="ctr">
                    <a:lnL w="0" cap="flat" cmpd="sng" algn="ctr">
                      <a:noFill/>
                    </a:lnL>
                    <a:lnR w="0" cap="flat" cmpd="sng" algn="ctr">
                      <a:noFill/>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r>
            </a:tbl>
          </a:graphicData>
        </a:graphic>
      </p:graphicFrame>
      <p:sp>
        <p:nvSpPr>
          <p:cNvPr id="8" name="Text 4"/>
          <p:cNvSpPr txBox="1"/>
          <p:nvPr/>
        </p:nvSpPr>
        <p:spPr>
          <a:xfrm>
            <a:off x="548640" y="5806440"/>
            <a:ext cx="10972800" cy="502920"/>
          </a:xfrm>
          <a:prstGeom prst="rect">
            <a:avLst/>
          </a:prstGeom>
          <a:noFill/>
          <a:ln/>
        </p:spPr>
        <p:txBody>
          <a:bodyPr wrap="square" lIns="0" tIns="0" rIns="0" bIns="0" rtlCol="0" anchor="t"/>
          <a:lstStyle/>
          <a:p>
            <a:pPr indent="0" marL="0">
              <a:spcAft>
                <a:spcPts val="400"/>
              </a:spcAft>
              <a:buNone/>
            </a:pPr>
            <a:r>
              <a:rPr lang="en-US" sz="1100" dirty="0">
                <a:solidFill>
                  <a:srgbClr val="6E747E"/>
                </a:solidFill>
                <a:latin typeface="Calibri" pitchFamily="34" charset="0"/>
                <a:ea typeface="Calibri" pitchFamily="34" charset="-122"/>
                <a:cs typeface="Calibri" pitchFamily="34" charset="-120"/>
              </a:rPr>
              <a:t>Weights from logistic regression (L2, C = 0.3) on synthetic dataset 7, kept at zero or above. Stage caps 5 / 5 / 6 / 6; a stage is active at 1.5 or more. Full methods, confidence intervals and assumptions are in the written submission PDF.</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Chakravyuh — RAKSHAM Round 1</dc:title>
  <dc:subject>PptxGenJS Presentation</dc:subject>
  <dc:creator>Mathews V Manoj</dc:creator>
  <cp:lastModifiedBy>Mathews V Manoj</cp:lastModifiedBy>
  <cp:revision>1</cp:revision>
  <dcterms:created xsi:type="dcterms:W3CDTF">2026-09-29T12:56:56Z</dcterms:created>
  <dcterms:modified xsi:type="dcterms:W3CDTF">2026-09-29T12:56:56Z</dcterms:modified>
</cp:coreProperties>
</file>